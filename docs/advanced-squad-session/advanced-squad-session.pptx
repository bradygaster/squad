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this is the 'how do we scale?' session, not another hello world. Audience already ran squad init. Today is about what to do when you have many agents, long histories, multiple machines, and multiple squads.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three questions explicitly. The four patterns coming up are the answers.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for the memory pattern. Anchor: 'agents getting fuller, not dumber.'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‘what actually happens when an agent decides to remember something?’. Top to bottom: agent invokes an MCP tool (squad_memory_write); the tool calls into the SDK’s LocalMemoryStore; the store runs the SAME classify() gate covered earlier; if allowed, content + classification go to every provider whose supportedClasses match; the provider writes via the storage backend (which is where two-layer comes in). The next slide zooms the Provider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audience BEFORE they see `squad memory provider` CLI output. Anchor: ‘provider’ = storage backend implementing a small interface (status/write/search/delete). Today local is the only one with real content; the hostInjectedCopilotAdapter slot exists so a host (VS Code, Codespaces) can bridge to Copilot Memory if they have an SDK; real provider=copilot fails closed because no callable Copilot Memory API is published yet. Squad refuses to fake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`squad memory &lt;op&gt;` command maps 1:1 to a method on LocalMemoryStore. The next slides use these tools in real CLI output — audience now knows their signatures.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order matches the code: FORBIDDEN scan first (catches secrets AND CI/PR/build status), then heuristics in actual order. Anchor the audience on the honest finding: the same regex is in BOTH FORBIDDEN_PATTERNS and the TRANSIENT heuristic. FORBIDDEN wins because it runs first, so CI status content classifies as FORBIDDEN, not TRANSIENT. The TRANSIENT heuristic is effectively dead code for those inputs today — it only fires when callers pass --class TRANSIENT explicitly. This is the kind of architectural rough edge you call out honestly, not hide. (Verified by harnessing classify() against "CI build failed at 14:32" and seeing the FORBIDDEN result with reason='transient CI/PR status'.)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flow. Stress: search() classifies the QUERY first; FORBIDDEN search returns []. The result carries loadGuidance so the caller can pin (ALWAYS), surface (ON-DEMAND), or exclude (ARCHIVE/NEVER). Default class → guidance map: POLICY/DECISION=ALWAYS, LOCAL/COPILOT_MEMORY=ON-DEMAND, TRANSIENT/FORBIDDEN=NEVER.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opener for state backends. Use Tamir Part 7/7b essay analogy.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analogy hard: same library (same .git folder), different bindings. Orphan = no shared history with main, you can't merge it — it's a parallel filesystem. Notes = peeled onto specific pages, invisible in git 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SWITCH TO TERMINAL NOW — run `squad upgrade --state-backend two-layer` before advancing. Output should match the slide closely (file counts may differ). If it fails, fall back to narrating the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SWITCH TO TERMINAL NOW — run the two commands shown on the left, then `git show squad-state:decisions.md` for the right panel. Three real commands; all return real content because two-layer is enabled on this repo.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when the audience asks ‘what does that look like for a real session?’. main = 1 clean commit (the published book chapter). squad-state = 7 commits (the diary entries from the team's work). refs/notes/squad = the snapshot of what the team knew at that commit. If you check out e406cf7 with notes enabled, you get the full team context back without walking squad-state history.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is the deepest visual of the architecture in the deck. LEFT is what reviewers see. RIGHT is what the team remembers. They never merge — the orphan branch has no common ancestor with main. Notes are the only thing that bridges them, and only by attaching to specific main commits.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timeline top to bottom. Notice the rhythm: every squad-state commit (▣) is followed within seconds by a notes refresh (⧚). The feature branch (✦) gets exactly ONE commit. Each color in the LAYER column maps to the topology slide before this one. Total task time: 2m22s; PR contribution: 1 commit / 28 lines.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the architecture pays off. PR is clean; team didn’t lose any context. The bottom callout is the punchline: any future session/agent can recover the full team brain by pinning to one main commit.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rationale top to bottom. The first four are about KEEPING TEAMMATES IN SYNC — squad-state is useless if it only lives on your machine. The last two (pre-commit + post-commit) are the steady-state safety net: pre-commit STOPS leaks, post-commit AUTO-SYNCS. Without all six, two-layer would be theoretically clean but operationally noisy.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audience moment. The user who triggered this whole series saw it after `git commit -am`. Hammer the WHY: state files reappear because not every write path goes through StateBackend yet. The hook is intentional defense-in-depth, not a bug.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motivation: power users with multiple checkouts / branch-heavy workflows kept getting bitten by .squad/ files appearing in git status on every switch. Externalize moves the noise out of the repo entirely by relocating mutable state to an OS-specific app-data directory and leaving only a marker file in .squad/. Crucial framing: this is a single-user / single-machine convenience. If you want teammates to share state, you want two-layer (shared via squad-state branch). The two features solve different problems.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 #939 + #1005 added monorepo subfolder support. The pain it solves: 'squad init' used to want git init, place workflows next to .squad/, and otherwise act like the subfolder was its own world. None of that works in a real monorepo.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invariants. The test at init-scaffolding.test.ts:260-274 enforces every one: no nested .git, .squad/ in subfolder, agent file at root, no workflow files in subfolder, and a warnings entry explaining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audience scenario: Opus 4.7 throttling → needs to fail over to Opus 4.8 cleanly. Persistent config is the lever — set defaultModel once, override Scribe/Ralph to haiku to preserve quota. Anchor: 'each layer has a different scope (cross-session → session → charter → task) — that's the architectural insight, not the cascade itself.'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Scribe and Ralph do mechanical work — they should NEVER be on a premium model. Lead and Designer get bumped because their output gates merge / requires vision. The variant-string design means adding 4.8-high / 4.8-1m later is a single-line config edit.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climax of the talk. After 5 isolated patterns, the next 8 slides show a single sentence (“Always run the SDK tests before merging.”) trace through every layer we built. Don’t rush this section — it’s the payoff.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these on the deck repo. Each one returns real content because two-layer is enabled. Branch links to share live: github.com/.../tree/squad-state and github.com/.../tree/squad/advanced-squad-session-slides.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landing the talk was missing. Slide 02 asked three questions; this slide answers them in plain human language, not git-log terms. Lead in by reminding the audience of the opening questions, then walk the three cards. Land on the bottom callout: 'your team doesn’t lose context to keep the repo clean — it gets both.' This is the line that makes the architecture feel like relief, not just mechanism.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1463040"/>
            <a:ext cx="182880" cy="39319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17320"/>
            <a:ext cx="10515600" cy="457200"/>
          </a:xfrm>
          <a:prstGeom prst="rect">
            <a:avLst/>
          </a:prstGeom>
          <a:noFill/>
        </p:spPr>
        <p:txBody>
          <a:bodyPr wrap="square" lIns="36576" rIns="36576" tIns="18288" bIns="18288">
            <a:spAutoFit/>
          </a:bodyPr>
          <a:lstStyle/>
          <a:p>
            <a:r>
              <a:rPr sz="1600" b="1">
                <a:solidFill>
                  <a:srgbClr val="38BDF8"/>
                </a:solidFill>
                <a:latin typeface="Segoe UI Semibold"/>
              </a:rPr>
              <a:t>ADVANCED SQUAD PATTERNS</a:t>
            </a:r>
          </a:p>
        </p:txBody>
      </p:sp>
      <p:sp>
        <p:nvSpPr>
          <p:cNvPr id="5" name="TextBox 4"/>
          <p:cNvSpPr txBox="1"/>
          <p:nvPr/>
        </p:nvSpPr>
        <p:spPr>
          <a:xfrm>
            <a:off x="914400" y="1920240"/>
            <a:ext cx="10515600" cy="1828800"/>
          </a:xfrm>
          <a:prstGeom prst="rect">
            <a:avLst/>
          </a:prstGeom>
          <a:noFill/>
        </p:spPr>
        <p:txBody>
          <a:bodyPr wrap="square" lIns="36576" rIns="36576" tIns="18288" bIns="18288">
            <a:spAutoFit/>
          </a:bodyPr>
          <a:lstStyle/>
          <a:p>
            <a:r>
              <a:rPr sz="4400" b="1">
                <a:solidFill>
                  <a:srgbClr val="F8FAFC"/>
                </a:solidFill>
                <a:latin typeface="Segoe UI"/>
              </a:rPr>
              <a:t>Memory • State • Spawning • Cross-squad • Monorepo</a:t>
            </a:r>
          </a:p>
        </p:txBody>
      </p:sp>
      <p:sp>
        <p:nvSpPr>
          <p:cNvPr id="6" name="TextBox 5"/>
          <p:cNvSpPr txBox="1"/>
          <p:nvPr/>
        </p:nvSpPr>
        <p:spPr>
          <a:xfrm>
            <a:off x="914400" y="3794760"/>
            <a:ext cx="10515600" cy="548640"/>
          </a:xfrm>
          <a:prstGeom prst="rect">
            <a:avLst/>
          </a:prstGeom>
          <a:noFill/>
        </p:spPr>
        <p:txBody>
          <a:bodyPr wrap="square" lIns="36576" rIns="36576" tIns="18288" bIns="18288">
            <a:spAutoFit/>
          </a:bodyPr>
          <a:lstStyle/>
          <a:p>
            <a:r>
              <a:rPr sz="2000" b="0">
                <a:solidFill>
                  <a:srgbClr val="CBD5E1"/>
                </a:solidFill>
                <a:latin typeface="Segoe UI"/>
              </a:rPr>
              <a:t>Once your AI Squad team is running, scale becomes an architecture problem.</a:t>
            </a:r>
          </a:p>
        </p:txBody>
      </p:sp>
      <p:sp>
        <p:nvSpPr>
          <p:cNvPr id="7" name="Rounded Rectangle 6"/>
          <p:cNvSpPr/>
          <p:nvPr/>
        </p:nvSpPr>
        <p:spPr>
          <a:xfrm>
            <a:off x="914400" y="4572000"/>
            <a:ext cx="6858000" cy="1188720"/>
          </a:xfrm>
          <a:prstGeom prst="roundRect">
            <a:avLst/>
          </a:prstGeom>
          <a:solidFill>
            <a:srgbClr val="0A182A"/>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617720"/>
            <a:ext cx="6583680" cy="320040"/>
          </a:xfrm>
          <a:prstGeom prst="rect">
            <a:avLst/>
          </a:prstGeom>
          <a:noFill/>
        </p:spPr>
        <p:txBody>
          <a:bodyPr wrap="square" lIns="36576" rIns="36576" tIns="18288" bIns="18288">
            <a:spAutoFit/>
          </a:bodyPr>
          <a:lstStyle/>
          <a:p>
            <a:r>
              <a:rPr sz="1100" b="1">
                <a:solidFill>
                  <a:srgbClr val="38BDF8"/>
                </a:solidFill>
                <a:latin typeface="Segoe UI Semibold"/>
              </a:rPr>
              <a:t>start here</a:t>
            </a:r>
          </a:p>
        </p:txBody>
      </p:sp>
      <p:sp>
        <p:nvSpPr>
          <p:cNvPr id="9" name="TextBox 8"/>
          <p:cNvSpPr txBox="1"/>
          <p:nvPr/>
        </p:nvSpPr>
        <p:spPr>
          <a:xfrm>
            <a:off x="1051560" y="4864608"/>
            <a:ext cx="6583680" cy="868680"/>
          </a:xfrm>
          <a:prstGeom prst="rect">
            <a:avLst/>
          </a:prstGeom>
          <a:noFill/>
        </p:spPr>
        <p:txBody>
          <a:bodyPr wrap="square">
            <a:spAutoFit/>
          </a:bodyPr>
          <a:lstStyle/>
          <a:p>
            <a:r>
              <a:rPr sz="1300">
                <a:solidFill>
                  <a:srgbClr val="F8FAFC"/>
                </a:solidFill>
                <a:latin typeface="Consolas"/>
              </a:rPr>
              <a:t>npm i -g @bradygaster/squad-cli</a:t>
            </a:r>
          </a:p>
          <a:p>
            <a:r>
              <a:rPr sz="1300">
                <a:solidFill>
                  <a:srgbClr val="F8FAFC"/>
                </a:solidFill>
                <a:latin typeface="Consolas"/>
              </a:rPr>
              <a:t>squad --version   # 0.10.0</a:t>
            </a:r>
          </a:p>
          <a:p>
            <a:r>
              <a:rPr sz="1300">
                <a:solidFill>
                  <a:srgbClr val="F8FAFC"/>
                </a:solidFill>
                <a:latin typeface="Consolas"/>
              </a:rPr>
              <a:t>copilot --agent squad</a:t>
            </a:r>
          </a:p>
        </p:txBody>
      </p:sp>
      <p:sp>
        <p:nvSpPr>
          <p:cNvPr id="10" name="Rounded Rectangle 9"/>
          <p:cNvSpPr/>
          <p:nvPr/>
        </p:nvSpPr>
        <p:spPr>
          <a:xfrm>
            <a:off x="8046720" y="4572000"/>
            <a:ext cx="3474720" cy="11887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4617720"/>
            <a:ext cx="3200400" cy="457200"/>
          </a:xfrm>
          <a:prstGeom prst="rect">
            <a:avLst/>
          </a:prstGeom>
          <a:noFill/>
        </p:spPr>
        <p:txBody>
          <a:bodyPr wrap="square" lIns="36576" rIns="36576" tIns="18288" bIns="18288">
            <a:spAutoFit/>
          </a:bodyPr>
          <a:lstStyle/>
          <a:p>
            <a:r>
              <a:rPr sz="1800" b="1">
                <a:solidFill>
                  <a:srgbClr val="F8FAFC"/>
                </a:solidFill>
                <a:latin typeface="Segoe UI"/>
              </a:rPr>
              <a:t>Tamir Dresher</a:t>
            </a:r>
          </a:p>
        </p:txBody>
      </p:sp>
      <p:sp>
        <p:nvSpPr>
          <p:cNvPr id="12" name="TextBox 11"/>
          <p:cNvSpPr txBox="1"/>
          <p:nvPr/>
        </p:nvSpPr>
        <p:spPr>
          <a:xfrm>
            <a:off x="8183879" y="4983480"/>
            <a:ext cx="3200400" cy="320040"/>
          </a:xfrm>
          <a:prstGeom prst="rect">
            <a:avLst/>
          </a:prstGeom>
          <a:noFill/>
        </p:spPr>
        <p:txBody>
          <a:bodyPr wrap="square" lIns="36576" rIns="36576" tIns="18288" bIns="18288">
            <a:spAutoFit/>
          </a:bodyPr>
          <a:lstStyle/>
          <a:p>
            <a:r>
              <a:rPr sz="1100" b="0">
                <a:solidFill>
                  <a:srgbClr val="CBD5E1"/>
                </a:solidFill>
                <a:latin typeface="Segoe UI"/>
              </a:rPr>
              <a:t>• Contributor &amp; maintainer</a:t>
            </a:r>
          </a:p>
        </p:txBody>
      </p:sp>
      <p:sp>
        <p:nvSpPr>
          <p:cNvPr id="13" name="TextBox 12"/>
          <p:cNvSpPr txBox="1"/>
          <p:nvPr/>
        </p:nvSpPr>
        <p:spPr>
          <a:xfrm>
            <a:off x="8183879" y="5212080"/>
            <a:ext cx="3200400" cy="320040"/>
          </a:xfrm>
          <a:prstGeom prst="rect">
            <a:avLst/>
          </a:prstGeom>
          <a:noFill/>
        </p:spPr>
        <p:txBody>
          <a:bodyPr wrap="square" lIns="36576" rIns="36576" tIns="18288" bIns="18288">
            <a:spAutoFit/>
          </a:bodyPr>
          <a:lstStyle/>
          <a:p>
            <a:r>
              <a:rPr sz="1100" b="0">
                <a:solidFill>
                  <a:srgbClr val="CBD5E1"/>
                </a:solidFill>
                <a:latin typeface="Segoe UI"/>
              </a:rPr>
              <a:t>• Principal Software Engineer</a:t>
            </a:r>
          </a:p>
        </p:txBody>
      </p:sp>
      <p:sp>
        <p:nvSpPr>
          <p:cNvPr id="14" name="TextBox 13"/>
          <p:cNvSpPr txBox="1"/>
          <p:nvPr/>
        </p:nvSpPr>
        <p:spPr>
          <a:xfrm>
            <a:off x="8183879" y="5440680"/>
            <a:ext cx="3200400" cy="320040"/>
          </a:xfrm>
          <a:prstGeom prst="rect">
            <a:avLst/>
          </a:prstGeom>
          <a:noFill/>
        </p:spPr>
        <p:txBody>
          <a:bodyPr wrap="square" lIns="36576" rIns="36576" tIns="18288" bIns="18288">
            <a:spAutoFit/>
          </a:bodyPr>
          <a:lstStyle/>
          <a:p>
            <a:r>
              <a:rPr sz="1100" b="0">
                <a:solidFill>
                  <a:srgbClr val="38BDF8"/>
                </a:solidFill>
                <a:latin typeface="Segoe UI"/>
              </a:rPr>
              <a:t>• tamirdresher.com</a:t>
            </a:r>
          </a:p>
        </p:txBody>
      </p:sp>
      <p:sp>
        <p:nvSpPr>
          <p:cNvPr id="15" name="TextBox 14"/>
          <p:cNvSpPr txBox="1"/>
          <p:nvPr/>
        </p:nvSpPr>
        <p:spPr>
          <a:xfrm>
            <a:off x="502920" y="6446520"/>
            <a:ext cx="11247120" cy="274320"/>
          </a:xfrm>
          <a:prstGeom prst="rect">
            <a:avLst/>
          </a:prstGeom>
          <a:noFill/>
        </p:spPr>
        <p:txBody>
          <a:bodyPr wrap="square" lIns="36576" rIns="36576" tIns="18288" bIns="18288">
            <a:spAutoFit/>
          </a:bodyPr>
          <a:lstStyle/>
          <a:p>
            <a:r>
              <a:rPr sz="1000" b="0">
                <a:solidFill>
                  <a:srgbClr val="94A3B8"/>
                </a:solidFill>
                <a:latin typeface="Consolas"/>
              </a:rPr>
              <a:t>Source: package.json:3  •  CHANGELOG.md:7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01</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SESSION PROMISE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real questions start after init</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This is the 'how do we scale?' session — not another hello world.</a:t>
            </a:r>
          </a:p>
        </p:txBody>
      </p:sp>
      <p:sp>
        <p:nvSpPr>
          <p:cNvPr id="8" name="Rounded Rectangle 7"/>
          <p:cNvSpPr/>
          <p:nvPr/>
        </p:nvSpPr>
        <p:spPr>
          <a:xfrm>
            <a:off x="548640" y="1874519"/>
            <a:ext cx="3576218"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3576218"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③</a:t>
            </a:r>
          </a:p>
        </p:txBody>
      </p:sp>
      <p:sp>
        <p:nvSpPr>
          <p:cNvPr id="11" name="TextBox 10"/>
          <p:cNvSpPr txBox="1"/>
          <p:nvPr/>
        </p:nvSpPr>
        <p:spPr>
          <a:xfrm>
            <a:off x="1234440" y="203911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How does it remember?</a:t>
            </a:r>
          </a:p>
        </p:txBody>
      </p:sp>
      <p:sp>
        <p:nvSpPr>
          <p:cNvPr id="12" name="TextBox 11"/>
          <p:cNvSpPr txBox="1"/>
          <p:nvPr/>
        </p:nvSpPr>
        <p:spPr>
          <a:xfrm>
            <a:off x="713232" y="2560320"/>
            <a:ext cx="3301898" cy="288036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Durable team learnings</a:t>
            </a:r>
          </a:p>
          <a:p>
            <a:pPr>
              <a:spcAft>
                <a:spcPts val="300"/>
              </a:spcAft>
            </a:pPr>
            <a:r>
              <a:rPr sz="1200" b="1">
                <a:solidFill>
                  <a:srgbClr val="38BDF8"/>
                </a:solidFill>
                <a:latin typeface="Segoe UI"/>
              </a:rPr>
              <a:t>•  </a:t>
            </a:r>
            <a:r>
              <a:rPr sz="1200">
                <a:solidFill>
                  <a:srgbClr val="CBD5E1"/>
                </a:solidFill>
                <a:latin typeface="Segoe UI"/>
              </a:rPr>
              <a:t>Shared decisions</a:t>
            </a:r>
          </a:p>
          <a:p>
            <a:pPr>
              <a:spcAft>
                <a:spcPts val="300"/>
              </a:spcAft>
            </a:pPr>
            <a:r>
              <a:rPr sz="1200" b="1">
                <a:solidFill>
                  <a:srgbClr val="38BDF8"/>
                </a:solidFill>
                <a:latin typeface="Segoe UI"/>
              </a:rPr>
              <a:t>•  </a:t>
            </a:r>
            <a:r>
              <a:rPr sz="1200">
                <a:solidFill>
                  <a:srgbClr val="CBD5E1"/>
                </a:solidFill>
                <a:latin typeface="Segoe UI"/>
              </a:rPr>
              <a:t>Governed memory layers</a:t>
            </a:r>
          </a:p>
          <a:p>
            <a:pPr>
              <a:spcAft>
                <a:spcPts val="300"/>
              </a:spcAft>
            </a:pPr>
            <a:r>
              <a:rPr sz="1200" b="1">
                <a:solidFill>
                  <a:srgbClr val="38BDF8"/>
                </a:solidFill>
                <a:latin typeface="Segoe UI"/>
              </a:rPr>
              <a:t>•  </a:t>
            </a:r>
            <a:r>
              <a:rPr sz="1200">
                <a:solidFill>
                  <a:srgbClr val="CBD5E1"/>
                </a:solidFill>
                <a:latin typeface="Segoe UI"/>
              </a:rPr>
              <a:t>Context recovery</a:t>
            </a:r>
          </a:p>
        </p:txBody>
      </p:sp>
      <p:sp>
        <p:nvSpPr>
          <p:cNvPr id="13" name="Rounded Rectangle 12"/>
          <p:cNvSpPr/>
          <p:nvPr/>
        </p:nvSpPr>
        <p:spPr>
          <a:xfrm>
            <a:off x="4307738" y="1874519"/>
            <a:ext cx="3576218"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874519"/>
            <a:ext cx="3576218"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2330"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②</a:t>
            </a:r>
          </a:p>
        </p:txBody>
      </p:sp>
      <p:sp>
        <p:nvSpPr>
          <p:cNvPr id="16" name="TextBox 15"/>
          <p:cNvSpPr txBox="1"/>
          <p:nvPr/>
        </p:nvSpPr>
        <p:spPr>
          <a:xfrm>
            <a:off x="4993538" y="203911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How do we change team shape?</a:t>
            </a:r>
          </a:p>
        </p:txBody>
      </p:sp>
      <p:sp>
        <p:nvSpPr>
          <p:cNvPr id="17" name="TextBox 16"/>
          <p:cNvSpPr txBox="1"/>
          <p:nvPr/>
        </p:nvSpPr>
        <p:spPr>
          <a:xfrm>
            <a:off x="4472330" y="2560320"/>
            <a:ext cx="3301898" cy="28803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Presets</a:t>
            </a:r>
          </a:p>
          <a:p>
            <a:pPr>
              <a:spcAft>
                <a:spcPts val="300"/>
              </a:spcAft>
            </a:pPr>
            <a:r>
              <a:rPr sz="1200" b="1">
                <a:solidFill>
                  <a:srgbClr val="34D399"/>
                </a:solidFill>
                <a:latin typeface="Segoe UI"/>
              </a:rPr>
              <a:t>•  </a:t>
            </a:r>
            <a:r>
              <a:rPr sz="1200">
                <a:solidFill>
                  <a:srgbClr val="CBD5E1"/>
                </a:solidFill>
                <a:latin typeface="Segoe UI"/>
              </a:rPr>
              <a:t>SubSquads</a:t>
            </a:r>
          </a:p>
          <a:p>
            <a:pPr>
              <a:spcAft>
                <a:spcPts val="300"/>
              </a:spcAft>
            </a:pPr>
            <a:r>
              <a:rPr sz="1200" b="1">
                <a:solidFill>
                  <a:srgbClr val="34D399"/>
                </a:solidFill>
                <a:latin typeface="Segoe UI"/>
              </a:rPr>
              <a:t>•  </a:t>
            </a:r>
            <a:r>
              <a:rPr sz="1200">
                <a:solidFill>
                  <a:srgbClr val="CBD5E1"/>
                </a:solidFill>
                <a:latin typeface="Segoe UI"/>
              </a:rPr>
              <a:t>Mission-scoped child squads</a:t>
            </a:r>
          </a:p>
        </p:txBody>
      </p:sp>
      <p:sp>
        <p:nvSpPr>
          <p:cNvPr id="18" name="Rounded Rectangle 17"/>
          <p:cNvSpPr/>
          <p:nvPr/>
        </p:nvSpPr>
        <p:spPr>
          <a:xfrm>
            <a:off x="8066836" y="1874519"/>
            <a:ext cx="3576218"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6836" y="1874519"/>
            <a:ext cx="3576218"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1428"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①</a:t>
            </a:r>
          </a:p>
        </p:txBody>
      </p:sp>
      <p:sp>
        <p:nvSpPr>
          <p:cNvPr id="21" name="TextBox 20"/>
          <p:cNvSpPr txBox="1"/>
          <p:nvPr/>
        </p:nvSpPr>
        <p:spPr>
          <a:xfrm>
            <a:off x="8752636" y="203911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How do squads talk?</a:t>
            </a:r>
          </a:p>
        </p:txBody>
      </p:sp>
      <p:sp>
        <p:nvSpPr>
          <p:cNvPr id="22" name="TextBox 21"/>
          <p:cNvSpPr txBox="1"/>
          <p:nvPr/>
        </p:nvSpPr>
        <p:spPr>
          <a:xfrm>
            <a:off x="8231428" y="2560320"/>
            <a:ext cx="3301898" cy="288036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Manifest discovery</a:t>
            </a:r>
          </a:p>
          <a:p>
            <a:pPr>
              <a:spcAft>
                <a:spcPts val="300"/>
              </a:spcAft>
            </a:pPr>
            <a:r>
              <a:rPr sz="1200" b="1">
                <a:solidFill>
                  <a:srgbClr val="FBBF24"/>
                </a:solidFill>
                <a:latin typeface="Segoe UI"/>
              </a:rPr>
              <a:t>•  </a:t>
            </a:r>
            <a:r>
              <a:rPr sz="1200">
                <a:solidFill>
                  <a:srgbClr val="CBD5E1"/>
                </a:solidFill>
                <a:latin typeface="Segoe UI"/>
              </a:rPr>
              <a:t>Delegated work as issues</a:t>
            </a:r>
          </a:p>
          <a:p>
            <a:pPr>
              <a:spcAft>
                <a:spcPts val="300"/>
              </a:spcAft>
            </a:pPr>
            <a:r>
              <a:rPr sz="1200" b="1">
                <a:solidFill>
                  <a:srgbClr val="FBBF24"/>
                </a:solidFill>
                <a:latin typeface="Segoe UI"/>
              </a:rPr>
              <a:t>•  </a:t>
            </a:r>
            <a:r>
              <a:rPr sz="1200">
                <a:solidFill>
                  <a:srgbClr val="CBD5E1"/>
                </a:solidFill>
                <a:latin typeface="Segoe UI"/>
              </a:rPr>
              <a:t>Distributed mesh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ROADMAP</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Five patterns, one operating model</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Compress setup, isolate work, preserve context, share contracts — then a closing end-to-end trace.</a:t>
            </a:r>
          </a:p>
        </p:txBody>
      </p:sp>
      <p:sp>
        <p:nvSpPr>
          <p:cNvPr id="8" name="Rounded Rectangle 7"/>
          <p:cNvSpPr/>
          <p:nvPr/>
        </p:nvSpPr>
        <p:spPr>
          <a:xfrm>
            <a:off x="548640" y="1874519"/>
            <a:ext cx="208720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1</a:t>
            </a:r>
          </a:p>
        </p:txBody>
      </p:sp>
      <p:sp>
        <p:nvSpPr>
          <p:cNvPr id="11" name="TextBox 10"/>
          <p:cNvSpPr txBox="1"/>
          <p:nvPr/>
        </p:nvSpPr>
        <p:spPr>
          <a:xfrm>
            <a:off x="1234440" y="2039112"/>
            <a:ext cx="1309969" cy="411480"/>
          </a:xfrm>
          <a:prstGeom prst="rect">
            <a:avLst/>
          </a:prstGeom>
          <a:noFill/>
        </p:spPr>
        <p:txBody>
          <a:bodyPr wrap="square" lIns="36576" rIns="36576" tIns="18288" bIns="18288" anchor="ctr">
            <a:spAutoFit/>
          </a:bodyPr>
          <a:lstStyle/>
          <a:p>
            <a:r>
              <a:rPr sz="1500" b="1">
                <a:solidFill>
                  <a:srgbClr val="F8FAFC"/>
                </a:solidFill>
                <a:latin typeface="Segoe UI"/>
              </a:rPr>
              <a:t>Pattern 1 — Memory model</a:t>
            </a:r>
          </a:p>
        </p:txBody>
      </p:sp>
      <p:sp>
        <p:nvSpPr>
          <p:cNvPr id="12" name="TextBox 11"/>
          <p:cNvSpPr txBox="1"/>
          <p:nvPr/>
        </p:nvSpPr>
        <p:spPr>
          <a:xfrm>
            <a:off x="713232" y="2560320"/>
            <a:ext cx="1812889" cy="288036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What persists</a:t>
            </a:r>
          </a:p>
          <a:p>
            <a:pPr>
              <a:spcAft>
                <a:spcPts val="300"/>
              </a:spcAft>
            </a:pPr>
            <a:r>
              <a:rPr sz="1200" b="1">
                <a:solidFill>
                  <a:srgbClr val="38BDF8"/>
                </a:solidFill>
                <a:latin typeface="Segoe UI"/>
              </a:rPr>
              <a:t>•  </a:t>
            </a:r>
            <a:r>
              <a:rPr sz="1200">
                <a:solidFill>
                  <a:srgbClr val="CBD5E1"/>
                </a:solidFill>
                <a:latin typeface="Segoe UI"/>
              </a:rPr>
              <a:t>Who reads it</a:t>
            </a:r>
          </a:p>
          <a:p>
            <a:pPr>
              <a:spcAft>
                <a:spcPts val="300"/>
              </a:spcAft>
            </a:pPr>
            <a:r>
              <a:rPr sz="1200" b="1">
                <a:solidFill>
                  <a:srgbClr val="38BDF8"/>
                </a:solidFill>
                <a:latin typeface="Segoe UI"/>
              </a:rPr>
              <a:t>•  </a:t>
            </a:r>
            <a:r>
              <a:rPr sz="1200">
                <a:solidFill>
                  <a:srgbClr val="CBD5E1"/>
                </a:solidFill>
                <a:latin typeface="Segoe UI"/>
              </a:rPr>
              <a:t>Class → load guidance</a:t>
            </a:r>
          </a:p>
          <a:p>
            <a:pPr>
              <a:spcAft>
                <a:spcPts val="300"/>
              </a:spcAft>
            </a:pPr>
            <a:r>
              <a:rPr sz="1200" b="1">
                <a:solidFill>
                  <a:srgbClr val="38BDF8"/>
                </a:solidFill>
                <a:latin typeface="Segoe UI"/>
              </a:rPr>
              <a:t>•  </a:t>
            </a:r>
            <a:r>
              <a:rPr sz="1200">
                <a:solidFill>
                  <a:srgbClr val="CBD5E1"/>
                </a:solidFill>
                <a:latin typeface="Segoe UI"/>
              </a:rPr>
              <a:t>Retrieval uses both</a:t>
            </a:r>
          </a:p>
        </p:txBody>
      </p:sp>
      <p:sp>
        <p:nvSpPr>
          <p:cNvPr id="13" name="Rounded Rectangle 12"/>
          <p:cNvSpPr/>
          <p:nvPr/>
        </p:nvSpPr>
        <p:spPr>
          <a:xfrm>
            <a:off x="2800441" y="1874519"/>
            <a:ext cx="208720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0441" y="1874519"/>
            <a:ext cx="208720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65033"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2</a:t>
            </a:r>
          </a:p>
        </p:txBody>
      </p:sp>
      <p:sp>
        <p:nvSpPr>
          <p:cNvPr id="16" name="TextBox 15"/>
          <p:cNvSpPr txBox="1"/>
          <p:nvPr/>
        </p:nvSpPr>
        <p:spPr>
          <a:xfrm>
            <a:off x="3486241" y="2039112"/>
            <a:ext cx="1309969" cy="411480"/>
          </a:xfrm>
          <a:prstGeom prst="rect">
            <a:avLst/>
          </a:prstGeom>
          <a:noFill/>
        </p:spPr>
        <p:txBody>
          <a:bodyPr wrap="square" lIns="36576" rIns="36576" tIns="18288" bIns="18288" anchor="ctr">
            <a:spAutoFit/>
          </a:bodyPr>
          <a:lstStyle/>
          <a:p>
            <a:r>
              <a:rPr sz="1500" b="1">
                <a:solidFill>
                  <a:srgbClr val="F8FAFC"/>
                </a:solidFill>
                <a:latin typeface="Segoe UI"/>
              </a:rPr>
              <a:t>Pattern 2 — State backends</a:t>
            </a:r>
          </a:p>
        </p:txBody>
      </p:sp>
      <p:sp>
        <p:nvSpPr>
          <p:cNvPr id="17" name="TextBox 16"/>
          <p:cNvSpPr txBox="1"/>
          <p:nvPr/>
        </p:nvSpPr>
        <p:spPr>
          <a:xfrm>
            <a:off x="2965033" y="2560320"/>
            <a:ext cx="1812889" cy="288036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local / orphan / two-layer</a:t>
            </a:r>
          </a:p>
          <a:p>
            <a:pPr>
              <a:spcAft>
                <a:spcPts val="300"/>
              </a:spcAft>
            </a:pPr>
            <a:r>
              <a:rPr sz="1200" b="1">
                <a:solidFill>
                  <a:srgbClr val="A78BFA"/>
                </a:solidFill>
                <a:latin typeface="Segoe UI"/>
              </a:rPr>
              <a:t>•  </a:t>
            </a:r>
            <a:r>
              <a:rPr sz="1200">
                <a:solidFill>
                  <a:srgbClr val="CBD5E1"/>
                </a:solidFill>
                <a:latin typeface="Segoe UI"/>
              </a:rPr>
              <a:t>Clean PRs by construction</a:t>
            </a:r>
          </a:p>
          <a:p>
            <a:pPr>
              <a:spcAft>
                <a:spcPts val="300"/>
              </a:spcAft>
            </a:pPr>
            <a:r>
              <a:rPr sz="1200" b="1">
                <a:solidFill>
                  <a:srgbClr val="A78BFA"/>
                </a:solidFill>
                <a:latin typeface="Segoe UI"/>
              </a:rPr>
              <a:t>•  </a:t>
            </a:r>
            <a:r>
              <a:rPr sz="1200">
                <a:solidFill>
                  <a:srgbClr val="CBD5E1"/>
                </a:solidFill>
                <a:latin typeface="Segoe UI"/>
              </a:rPr>
              <a:t>Live upgrade on this deck</a:t>
            </a:r>
          </a:p>
        </p:txBody>
      </p:sp>
      <p:sp>
        <p:nvSpPr>
          <p:cNvPr id="18" name="Rounded Rectangle 17"/>
          <p:cNvSpPr/>
          <p:nvPr/>
        </p:nvSpPr>
        <p:spPr>
          <a:xfrm>
            <a:off x="5052242" y="1874519"/>
            <a:ext cx="208720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2242" y="1874519"/>
            <a:ext cx="208720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6834"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3</a:t>
            </a:r>
          </a:p>
        </p:txBody>
      </p:sp>
      <p:sp>
        <p:nvSpPr>
          <p:cNvPr id="21" name="TextBox 20"/>
          <p:cNvSpPr txBox="1"/>
          <p:nvPr/>
        </p:nvSpPr>
        <p:spPr>
          <a:xfrm>
            <a:off x="5738042" y="2039112"/>
            <a:ext cx="1309969" cy="411480"/>
          </a:xfrm>
          <a:prstGeom prst="rect">
            <a:avLst/>
          </a:prstGeom>
          <a:noFill/>
        </p:spPr>
        <p:txBody>
          <a:bodyPr wrap="square" lIns="36576" rIns="36576" tIns="18288" bIns="18288" anchor="ctr">
            <a:spAutoFit/>
          </a:bodyPr>
          <a:lstStyle/>
          <a:p>
            <a:r>
              <a:rPr sz="1500" b="1">
                <a:solidFill>
                  <a:srgbClr val="F8FAFC"/>
                </a:solidFill>
                <a:latin typeface="Segoe UI"/>
              </a:rPr>
              <a:t>Pattern 3 — Squad spawning</a:t>
            </a:r>
          </a:p>
        </p:txBody>
      </p:sp>
      <p:sp>
        <p:nvSpPr>
          <p:cNvPr id="22" name="TextBox 21"/>
          <p:cNvSpPr txBox="1"/>
          <p:nvPr/>
        </p:nvSpPr>
        <p:spPr>
          <a:xfrm>
            <a:off x="5216834" y="2560320"/>
            <a:ext cx="1812889" cy="28803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Presets bootstrap shape</a:t>
            </a:r>
          </a:p>
          <a:p>
            <a:pPr>
              <a:spcAft>
                <a:spcPts val="300"/>
              </a:spcAft>
            </a:pPr>
            <a:r>
              <a:rPr sz="1200" b="1">
                <a:solidFill>
                  <a:srgbClr val="34D399"/>
                </a:solidFill>
                <a:latin typeface="Segoe UI"/>
              </a:rPr>
              <a:t>•  </a:t>
            </a:r>
            <a:r>
              <a:rPr sz="1200">
                <a:solidFill>
                  <a:srgbClr val="CBD5E1"/>
                </a:solidFill>
                <a:latin typeface="Segoe UI"/>
              </a:rPr>
              <a:t>Worktrees isolate work</a:t>
            </a:r>
          </a:p>
          <a:p>
            <a:pPr>
              <a:spcAft>
                <a:spcPts val="300"/>
              </a:spcAft>
            </a:pPr>
            <a:r>
              <a:rPr sz="1200" b="1">
                <a:solidFill>
                  <a:srgbClr val="34D399"/>
                </a:solidFill>
                <a:latin typeface="Segoe UI"/>
              </a:rPr>
              <a:t>•  </a:t>
            </a:r>
            <a:r>
              <a:rPr sz="1200">
                <a:solidFill>
                  <a:srgbClr val="CBD5E1"/>
                </a:solidFill>
                <a:latin typeface="Segoe UI"/>
              </a:rPr>
              <a:t>HQ + child mission briefs</a:t>
            </a:r>
          </a:p>
        </p:txBody>
      </p:sp>
      <p:sp>
        <p:nvSpPr>
          <p:cNvPr id="23" name="Rounded Rectangle 22"/>
          <p:cNvSpPr/>
          <p:nvPr/>
        </p:nvSpPr>
        <p:spPr>
          <a:xfrm>
            <a:off x="7304044" y="1874519"/>
            <a:ext cx="208720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04044" y="1874519"/>
            <a:ext cx="2087209"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68636"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4</a:t>
            </a:r>
          </a:p>
        </p:txBody>
      </p:sp>
      <p:sp>
        <p:nvSpPr>
          <p:cNvPr id="26" name="TextBox 25"/>
          <p:cNvSpPr txBox="1"/>
          <p:nvPr/>
        </p:nvSpPr>
        <p:spPr>
          <a:xfrm>
            <a:off x="7989844" y="2039112"/>
            <a:ext cx="1309969" cy="411480"/>
          </a:xfrm>
          <a:prstGeom prst="rect">
            <a:avLst/>
          </a:prstGeom>
          <a:noFill/>
        </p:spPr>
        <p:txBody>
          <a:bodyPr wrap="square" lIns="36576" rIns="36576" tIns="18288" bIns="18288" anchor="ctr">
            <a:spAutoFit/>
          </a:bodyPr>
          <a:lstStyle/>
          <a:p>
            <a:r>
              <a:rPr sz="1500" b="1">
                <a:solidFill>
                  <a:srgbClr val="F8FAFC"/>
                </a:solidFill>
                <a:latin typeface="Segoe UI"/>
              </a:rPr>
              <a:t>Pattern 4 — Cross-squad</a:t>
            </a:r>
          </a:p>
        </p:txBody>
      </p:sp>
      <p:sp>
        <p:nvSpPr>
          <p:cNvPr id="27" name="TextBox 26"/>
          <p:cNvSpPr txBox="1"/>
          <p:nvPr/>
        </p:nvSpPr>
        <p:spPr>
          <a:xfrm>
            <a:off x="7468636" y="2560320"/>
            <a:ext cx="1812889" cy="288036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Manifest discovery</a:t>
            </a:r>
          </a:p>
          <a:p>
            <a:pPr>
              <a:spcAft>
                <a:spcPts val="300"/>
              </a:spcAft>
            </a:pPr>
            <a:r>
              <a:rPr sz="1200" b="1">
                <a:solidFill>
                  <a:srgbClr val="FBBF24"/>
                </a:solidFill>
                <a:latin typeface="Segoe UI"/>
              </a:rPr>
              <a:t>•  </a:t>
            </a:r>
            <a:r>
              <a:rPr sz="1200">
                <a:solidFill>
                  <a:srgbClr val="CBD5E1"/>
                </a:solidFill>
                <a:latin typeface="Segoe UI"/>
              </a:rPr>
              <a:t>Issue-based delegation</a:t>
            </a:r>
          </a:p>
          <a:p>
            <a:pPr>
              <a:spcAft>
                <a:spcPts val="300"/>
              </a:spcAft>
            </a:pPr>
            <a:r>
              <a:rPr sz="1200" b="1">
                <a:solidFill>
                  <a:srgbClr val="FBBF24"/>
                </a:solidFill>
                <a:latin typeface="Segoe UI"/>
              </a:rPr>
              <a:t>•  </a:t>
            </a:r>
            <a:r>
              <a:rPr sz="1200">
                <a:solidFill>
                  <a:srgbClr val="CBD5E1"/>
                </a:solidFill>
                <a:latin typeface="Segoe UI"/>
              </a:rPr>
              <a:t>Distributed mesh</a:t>
            </a:r>
          </a:p>
        </p:txBody>
      </p:sp>
      <p:sp>
        <p:nvSpPr>
          <p:cNvPr id="28" name="Rounded Rectangle 27"/>
          <p:cNvSpPr/>
          <p:nvPr/>
        </p:nvSpPr>
        <p:spPr>
          <a:xfrm>
            <a:off x="9555845" y="1874519"/>
            <a:ext cx="208720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55845" y="1874519"/>
            <a:ext cx="208720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0437"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5</a:t>
            </a:r>
          </a:p>
        </p:txBody>
      </p:sp>
      <p:sp>
        <p:nvSpPr>
          <p:cNvPr id="31" name="TextBox 30"/>
          <p:cNvSpPr txBox="1"/>
          <p:nvPr/>
        </p:nvSpPr>
        <p:spPr>
          <a:xfrm>
            <a:off x="10241645" y="2039112"/>
            <a:ext cx="1309969" cy="411480"/>
          </a:xfrm>
          <a:prstGeom prst="rect">
            <a:avLst/>
          </a:prstGeom>
          <a:noFill/>
        </p:spPr>
        <p:txBody>
          <a:bodyPr wrap="square" lIns="36576" rIns="36576" tIns="18288" bIns="18288" anchor="ctr">
            <a:spAutoFit/>
          </a:bodyPr>
          <a:lstStyle/>
          <a:p>
            <a:r>
              <a:rPr sz="1500" b="1">
                <a:solidFill>
                  <a:srgbClr val="F8FAFC"/>
                </a:solidFill>
                <a:latin typeface="Segoe UI"/>
              </a:rPr>
              <a:t>Pattern 5 — Monorepo</a:t>
            </a:r>
          </a:p>
        </p:txBody>
      </p:sp>
      <p:sp>
        <p:nvSpPr>
          <p:cNvPr id="32" name="TextBox 31"/>
          <p:cNvSpPr txBox="1"/>
          <p:nvPr/>
        </p:nvSpPr>
        <p:spPr>
          <a:xfrm>
            <a:off x="9720437" y="2560320"/>
            <a:ext cx="1812889" cy="288036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Subfolder mode</a:t>
            </a:r>
          </a:p>
          <a:p>
            <a:pPr>
              <a:spcAft>
                <a:spcPts val="300"/>
              </a:spcAft>
            </a:pPr>
            <a:r>
              <a:rPr sz="1200" b="1">
                <a:solidFill>
                  <a:srgbClr val="A78BFA"/>
                </a:solidFill>
                <a:latin typeface="Segoe UI"/>
              </a:rPr>
              <a:t>•  </a:t>
            </a:r>
            <a:r>
              <a:rPr sz="1200">
                <a:solidFill>
                  <a:srgbClr val="CBD5E1"/>
                </a:solidFill>
                <a:latin typeface="Segoe UI"/>
              </a:rPr>
              <a:t>agentFileRoot vs teamRoot</a:t>
            </a:r>
          </a:p>
          <a:p>
            <a:pPr>
              <a:spcAft>
                <a:spcPts val="300"/>
              </a:spcAft>
            </a:pPr>
            <a:r>
              <a:rPr sz="1200" b="1">
                <a:solidFill>
                  <a:srgbClr val="A78BFA"/>
                </a:solidFill>
                <a:latin typeface="Segoe UI"/>
              </a:rPr>
              <a:t>•  </a:t>
            </a:r>
            <a:r>
              <a:rPr sz="1200">
                <a:solidFill>
                  <a:srgbClr val="CBD5E1"/>
                </a:solidFill>
                <a:latin typeface="Segoe UI"/>
              </a:rPr>
              <a:t>Workflows at git root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RELEASE SNAPSHOT</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Squad 0.10.0: what changed for this talk</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0.10.0 shipped June 7, 2026 — 97 changesets across CLI and SDK (50 SDK + 71 CLI, deduplicated).</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CHANGELOG.md:7-66</a:t>
            </a:r>
          </a:p>
        </p:txBody>
      </p:sp>
      <p:sp>
        <p:nvSpPr>
          <p:cNvPr id="9" name="Rounded Rectangle 8"/>
          <p:cNvSpPr/>
          <p:nvPr/>
        </p:nvSpPr>
        <p:spPr>
          <a:xfrm>
            <a:off x="548640"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234440"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Cross-squad orchestration</a:t>
            </a:r>
          </a:p>
        </p:txBody>
      </p:sp>
      <p:sp>
        <p:nvSpPr>
          <p:cNvPr id="13" name="TextBox 12"/>
          <p:cNvSpPr txBox="1"/>
          <p:nvPr/>
        </p:nvSpPr>
        <p:spPr>
          <a:xfrm>
            <a:off x="713232" y="2560320"/>
            <a:ext cx="1812889" cy="242316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squad discover</a:t>
            </a:r>
          </a:p>
          <a:p>
            <a:pPr>
              <a:spcAft>
                <a:spcPts val="300"/>
              </a:spcAft>
            </a:pPr>
            <a:r>
              <a:rPr sz="1200" b="1">
                <a:solidFill>
                  <a:srgbClr val="38BDF8"/>
                </a:solidFill>
                <a:latin typeface="Segoe UI"/>
              </a:rPr>
              <a:t>•  </a:t>
            </a:r>
            <a:r>
              <a:rPr sz="1200">
                <a:solidFill>
                  <a:srgbClr val="CBD5E1"/>
                </a:solidFill>
                <a:latin typeface="Segoe UI"/>
              </a:rPr>
              <a:t>squad delegate</a:t>
            </a:r>
          </a:p>
          <a:p>
            <a:pPr>
              <a:spcAft>
                <a:spcPts val="300"/>
              </a:spcAft>
            </a:pPr>
            <a:r>
              <a:rPr sz="1200" b="1">
                <a:solidFill>
                  <a:srgbClr val="38BDF8"/>
                </a:solidFill>
                <a:latin typeface="Segoe UI"/>
              </a:rPr>
              <a:t>•  </a:t>
            </a:r>
            <a:r>
              <a:rPr sz="1200">
                <a:solidFill>
                  <a:srgbClr val="CBD5E1"/>
                </a:solidFill>
                <a:latin typeface="Segoe UI"/>
              </a:rPr>
              <a:t>manifest schema</a:t>
            </a:r>
          </a:p>
        </p:txBody>
      </p:sp>
      <p:sp>
        <p:nvSpPr>
          <p:cNvPr id="14" name="Rounded Rectangle 13"/>
          <p:cNvSpPr/>
          <p:nvPr/>
        </p:nvSpPr>
        <p:spPr>
          <a:xfrm>
            <a:off x="2800441"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00441" y="1874519"/>
            <a:ext cx="208720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5033"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7" name="TextBox 16"/>
          <p:cNvSpPr txBox="1"/>
          <p:nvPr/>
        </p:nvSpPr>
        <p:spPr>
          <a:xfrm>
            <a:off x="3486241"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State + memory hardening</a:t>
            </a:r>
          </a:p>
        </p:txBody>
      </p:sp>
      <p:sp>
        <p:nvSpPr>
          <p:cNvPr id="18" name="TextBox 17"/>
          <p:cNvSpPr txBox="1"/>
          <p:nvPr/>
        </p:nvSpPr>
        <p:spPr>
          <a:xfrm>
            <a:off x="2965033" y="2560320"/>
            <a:ext cx="1812889" cy="242316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state backends</a:t>
            </a:r>
          </a:p>
          <a:p>
            <a:pPr>
              <a:spcAft>
                <a:spcPts val="300"/>
              </a:spcAft>
            </a:pPr>
            <a:r>
              <a:rPr sz="1200" b="1">
                <a:solidFill>
                  <a:srgbClr val="A78BFA"/>
                </a:solidFill>
                <a:latin typeface="Segoe UI"/>
              </a:rPr>
              <a:t>•  </a:t>
            </a:r>
            <a:r>
              <a:rPr sz="1200">
                <a:solidFill>
                  <a:srgbClr val="CBD5E1"/>
                </a:solidFill>
                <a:latin typeface="Segoe UI"/>
              </a:rPr>
              <a:t>runtime state tools</a:t>
            </a:r>
          </a:p>
          <a:p>
            <a:pPr>
              <a:spcAft>
                <a:spcPts val="300"/>
              </a:spcAft>
            </a:pPr>
            <a:r>
              <a:rPr sz="1200" b="1">
                <a:solidFill>
                  <a:srgbClr val="A78BFA"/>
                </a:solidFill>
                <a:latin typeface="Segoe UI"/>
              </a:rPr>
              <a:t>•  </a:t>
            </a:r>
            <a:r>
              <a:rPr sz="1200">
                <a:solidFill>
                  <a:srgbClr val="CBD5E1"/>
                </a:solidFill>
                <a:latin typeface="Segoe UI"/>
              </a:rPr>
              <a:t>governed memory model</a:t>
            </a:r>
          </a:p>
        </p:txBody>
      </p:sp>
      <p:sp>
        <p:nvSpPr>
          <p:cNvPr id="19" name="Rounded Rectangle 18"/>
          <p:cNvSpPr/>
          <p:nvPr/>
        </p:nvSpPr>
        <p:spPr>
          <a:xfrm>
            <a:off x="5052242"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52242" y="1874519"/>
            <a:ext cx="208720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6834"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2" name="TextBox 21"/>
          <p:cNvSpPr txBox="1"/>
          <p:nvPr/>
        </p:nvSpPr>
        <p:spPr>
          <a:xfrm>
            <a:off x="5738042"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Preset system</a:t>
            </a:r>
          </a:p>
        </p:txBody>
      </p:sp>
      <p:sp>
        <p:nvSpPr>
          <p:cNvPr id="23" name="TextBox 22"/>
          <p:cNvSpPr txBox="1"/>
          <p:nvPr/>
        </p:nvSpPr>
        <p:spPr>
          <a:xfrm>
            <a:off x="5216834" y="2560320"/>
            <a:ext cx="1812889" cy="24231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SQUAD_HOME</a:t>
            </a:r>
          </a:p>
          <a:p>
            <a:pPr>
              <a:spcAft>
                <a:spcPts val="300"/>
              </a:spcAft>
            </a:pPr>
            <a:r>
              <a:rPr sz="1200" b="1">
                <a:solidFill>
                  <a:srgbClr val="34D399"/>
                </a:solidFill>
                <a:latin typeface="Segoe UI"/>
              </a:rPr>
              <a:t>•  </a:t>
            </a:r>
            <a:r>
              <a:rPr sz="1200">
                <a:solidFill>
                  <a:srgbClr val="CBD5E1"/>
                </a:solidFill>
                <a:latin typeface="Segoe UI"/>
              </a:rPr>
              <a:t>built-in presets</a:t>
            </a:r>
          </a:p>
          <a:p>
            <a:pPr>
              <a:spcAft>
                <a:spcPts val="300"/>
              </a:spcAft>
            </a:pPr>
            <a:r>
              <a:rPr sz="1200" b="1">
                <a:solidFill>
                  <a:srgbClr val="34D399"/>
                </a:solidFill>
                <a:latin typeface="Segoe UI"/>
              </a:rPr>
              <a:t>•  </a:t>
            </a:r>
            <a:r>
              <a:rPr sz="1200">
                <a:solidFill>
                  <a:srgbClr val="CBD5E1"/>
                </a:solidFill>
                <a:latin typeface="Segoe UI"/>
              </a:rPr>
              <a:t>init / list / show / apply / save</a:t>
            </a:r>
          </a:p>
        </p:txBody>
      </p:sp>
      <p:sp>
        <p:nvSpPr>
          <p:cNvPr id="24" name="Rounded Rectangle 23"/>
          <p:cNvSpPr/>
          <p:nvPr/>
        </p:nvSpPr>
        <p:spPr>
          <a:xfrm>
            <a:off x="7304044"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4044" y="1874519"/>
            <a:ext cx="2087209"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68636"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7" name="TextBox 26"/>
          <p:cNvSpPr txBox="1"/>
          <p:nvPr/>
        </p:nvSpPr>
        <p:spPr>
          <a:xfrm>
            <a:off x="7989844"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Scale loops</a:t>
            </a:r>
          </a:p>
        </p:txBody>
      </p:sp>
      <p:sp>
        <p:nvSpPr>
          <p:cNvPr id="28" name="TextBox 27"/>
          <p:cNvSpPr txBox="1"/>
          <p:nvPr/>
        </p:nvSpPr>
        <p:spPr>
          <a:xfrm>
            <a:off x="7468636" y="2560320"/>
            <a:ext cx="1812889" cy="242316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squad loop</a:t>
            </a:r>
          </a:p>
          <a:p>
            <a:pPr>
              <a:spcAft>
                <a:spcPts val="300"/>
              </a:spcAft>
            </a:pPr>
            <a:r>
              <a:rPr sz="1200" b="1">
                <a:solidFill>
                  <a:srgbClr val="FBBF24"/>
                </a:solidFill>
                <a:latin typeface="Segoe UI"/>
              </a:rPr>
              <a:t>•  </a:t>
            </a:r>
            <a:r>
              <a:rPr sz="1200">
                <a:solidFill>
                  <a:srgbClr val="CBD5E1"/>
                </a:solidFill>
                <a:latin typeface="Segoe UI"/>
              </a:rPr>
              <a:t>fleet hybrid dispatch</a:t>
            </a:r>
          </a:p>
          <a:p>
            <a:pPr>
              <a:spcAft>
                <a:spcPts val="300"/>
              </a:spcAft>
            </a:pPr>
            <a:r>
              <a:rPr sz="1200" b="1">
                <a:solidFill>
                  <a:srgbClr val="FBBF24"/>
                </a:solidFill>
                <a:latin typeface="Segoe UI"/>
              </a:rPr>
              <a:t>•  </a:t>
            </a:r>
            <a:r>
              <a:rPr sz="1200">
                <a:solidFill>
                  <a:srgbClr val="CBD5E1"/>
                </a:solidFill>
                <a:latin typeface="Segoe UI"/>
              </a:rPr>
              <a:t>watch improvements</a:t>
            </a:r>
          </a:p>
        </p:txBody>
      </p:sp>
      <p:sp>
        <p:nvSpPr>
          <p:cNvPr id="29" name="Rounded Rectangle 28"/>
          <p:cNvSpPr/>
          <p:nvPr/>
        </p:nvSpPr>
        <p:spPr>
          <a:xfrm>
            <a:off x="9555845"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55845" y="1874519"/>
            <a:ext cx="2087209"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20437" y="2039112"/>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32" name="TextBox 31"/>
          <p:cNvSpPr txBox="1"/>
          <p:nvPr/>
        </p:nvSpPr>
        <p:spPr>
          <a:xfrm>
            <a:off x="10241645"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Safety roster</a:t>
            </a:r>
          </a:p>
        </p:txBody>
      </p:sp>
      <p:sp>
        <p:nvSpPr>
          <p:cNvPr id="33" name="TextBox 32"/>
          <p:cNvSpPr txBox="1"/>
          <p:nvPr/>
        </p:nvSpPr>
        <p:spPr>
          <a:xfrm>
            <a:off x="9720437" y="2560320"/>
            <a:ext cx="1812889" cy="242316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Rai built-in</a:t>
            </a:r>
          </a:p>
          <a:p>
            <a:pPr>
              <a:spcAft>
                <a:spcPts val="300"/>
              </a:spcAft>
            </a:pPr>
            <a:r>
              <a:rPr sz="1200" b="1">
                <a:solidFill>
                  <a:srgbClr val="FB7185"/>
                </a:solidFill>
                <a:latin typeface="Segoe UI"/>
              </a:rPr>
              <a:t>•  </a:t>
            </a:r>
            <a:r>
              <a:rPr sz="1200">
                <a:solidFill>
                  <a:srgbClr val="CBD5E1"/>
                </a:solidFill>
                <a:latin typeface="Segoe UI"/>
              </a:rPr>
              <a:t>fact-checker role</a:t>
            </a:r>
          </a:p>
          <a:p>
            <a:pPr>
              <a:spcAft>
                <a:spcPts val="300"/>
              </a:spcAft>
            </a:pPr>
            <a:r>
              <a:rPr sz="1200" b="1">
                <a:solidFill>
                  <a:srgbClr val="FB7185"/>
                </a:solidFill>
                <a:latin typeface="Segoe UI"/>
              </a:rPr>
              <a:t>•  </a:t>
            </a:r>
            <a:r>
              <a:rPr sz="1200">
                <a:solidFill>
                  <a:srgbClr val="CBD5E1"/>
                </a:solidFill>
                <a:latin typeface="Segoe UI"/>
              </a:rPr>
              <a:t>memory diagnostics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04</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SHARED LANGUAGE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Vocabulary for the rest of the session</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If these words are clear, the advanced patterns become mechanical.</a:t>
            </a:r>
          </a:p>
        </p:txBody>
      </p:sp>
      <p:sp>
        <p:nvSpPr>
          <p:cNvPr id="8" name="Rounded Rectangle 7"/>
          <p:cNvSpPr/>
          <p:nvPr/>
        </p:nvSpPr>
        <p:spPr>
          <a:xfrm>
            <a:off x="548640" y="1874519"/>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358841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1" name="TextBox 10"/>
          <p:cNvSpPr txBox="1"/>
          <p:nvPr/>
        </p:nvSpPr>
        <p:spPr>
          <a:xfrm>
            <a:off x="1234440" y="2039112"/>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Coordinator</a:t>
            </a:r>
          </a:p>
        </p:txBody>
      </p:sp>
      <p:sp>
        <p:nvSpPr>
          <p:cNvPr id="12" name="TextBox 11"/>
          <p:cNvSpPr txBox="1"/>
          <p:nvPr/>
        </p:nvSpPr>
        <p:spPr>
          <a:xfrm>
            <a:off x="713232" y="2560320"/>
            <a:ext cx="3314090" cy="91440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Routes work</a:t>
            </a:r>
          </a:p>
          <a:p>
            <a:pPr>
              <a:spcAft>
                <a:spcPts val="300"/>
              </a:spcAft>
            </a:pPr>
            <a:r>
              <a:rPr sz="1200" b="1">
                <a:solidFill>
                  <a:srgbClr val="38BDF8"/>
                </a:solidFill>
                <a:latin typeface="Segoe UI"/>
              </a:rPr>
              <a:t>•  </a:t>
            </a:r>
            <a:r>
              <a:rPr sz="1200">
                <a:solidFill>
                  <a:srgbClr val="CBD5E1"/>
                </a:solidFill>
                <a:latin typeface="Segoe UI"/>
              </a:rPr>
              <a:t>Enforces handoffs</a:t>
            </a:r>
          </a:p>
          <a:p>
            <a:pPr>
              <a:spcAft>
                <a:spcPts val="300"/>
              </a:spcAft>
            </a:pPr>
            <a:r>
              <a:rPr sz="1200" b="1">
                <a:solidFill>
                  <a:srgbClr val="38BDF8"/>
                </a:solidFill>
                <a:latin typeface="Segoe UI"/>
              </a:rPr>
              <a:t>•  </a:t>
            </a:r>
            <a:r>
              <a:rPr sz="1200">
                <a:solidFill>
                  <a:srgbClr val="CBD5E1"/>
                </a:solidFill>
                <a:latin typeface="Segoe UI"/>
              </a:rPr>
              <a:t>Assembles results</a:t>
            </a:r>
          </a:p>
        </p:txBody>
      </p:sp>
      <p:sp>
        <p:nvSpPr>
          <p:cNvPr id="13" name="Rounded Rectangle 12"/>
          <p:cNvSpPr/>
          <p:nvPr/>
        </p:nvSpPr>
        <p:spPr>
          <a:xfrm>
            <a:off x="4301642" y="1874519"/>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642" y="1874519"/>
            <a:ext cx="358841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6234"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6" name="TextBox 15"/>
          <p:cNvSpPr txBox="1"/>
          <p:nvPr/>
        </p:nvSpPr>
        <p:spPr>
          <a:xfrm>
            <a:off x="4987442" y="2039112"/>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Agent</a:t>
            </a:r>
          </a:p>
        </p:txBody>
      </p:sp>
      <p:sp>
        <p:nvSpPr>
          <p:cNvPr id="17" name="TextBox 16"/>
          <p:cNvSpPr txBox="1"/>
          <p:nvPr/>
        </p:nvSpPr>
        <p:spPr>
          <a:xfrm>
            <a:off x="4466234" y="2560320"/>
            <a:ext cx="3314090" cy="91440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Specialist</a:t>
            </a:r>
          </a:p>
          <a:p>
            <a:pPr>
              <a:spcAft>
                <a:spcPts val="300"/>
              </a:spcAft>
            </a:pPr>
            <a:r>
              <a:rPr sz="1200" b="1">
                <a:solidFill>
                  <a:srgbClr val="34D399"/>
                </a:solidFill>
                <a:latin typeface="Segoe UI"/>
              </a:rPr>
              <a:t>•  </a:t>
            </a:r>
            <a:r>
              <a:rPr sz="1200">
                <a:solidFill>
                  <a:srgbClr val="CBD5E1"/>
                </a:solidFill>
                <a:latin typeface="Segoe UI"/>
              </a:rPr>
              <a:t>Charter + boundaries</a:t>
            </a:r>
          </a:p>
          <a:p>
            <a:pPr>
              <a:spcAft>
                <a:spcPts val="300"/>
              </a:spcAft>
            </a:pPr>
            <a:r>
              <a:rPr sz="1200" b="1">
                <a:solidFill>
                  <a:srgbClr val="34D399"/>
                </a:solidFill>
                <a:latin typeface="Segoe UI"/>
              </a:rPr>
              <a:t>•  </a:t>
            </a:r>
            <a:r>
              <a:rPr sz="1200">
                <a:solidFill>
                  <a:srgbClr val="CBD5E1"/>
                </a:solidFill>
                <a:latin typeface="Segoe UI"/>
              </a:rPr>
              <a:t>Owns history</a:t>
            </a:r>
          </a:p>
        </p:txBody>
      </p:sp>
      <p:sp>
        <p:nvSpPr>
          <p:cNvPr id="18" name="Rounded Rectangle 17"/>
          <p:cNvSpPr/>
          <p:nvPr/>
        </p:nvSpPr>
        <p:spPr>
          <a:xfrm>
            <a:off x="8054644" y="1874519"/>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4644" y="1874519"/>
            <a:ext cx="358841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21" name="TextBox 20"/>
          <p:cNvSpPr txBox="1"/>
          <p:nvPr/>
        </p:nvSpPr>
        <p:spPr>
          <a:xfrm>
            <a:off x="8740444" y="2039112"/>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Scribe</a:t>
            </a:r>
          </a:p>
        </p:txBody>
      </p:sp>
      <p:sp>
        <p:nvSpPr>
          <p:cNvPr id="22" name="TextBox 21"/>
          <p:cNvSpPr txBox="1"/>
          <p:nvPr/>
        </p:nvSpPr>
        <p:spPr>
          <a:xfrm>
            <a:off x="8219236" y="2560320"/>
            <a:ext cx="3314090" cy="91440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Silent logger</a:t>
            </a:r>
          </a:p>
          <a:p>
            <a:pPr>
              <a:spcAft>
                <a:spcPts val="300"/>
              </a:spcAft>
            </a:pPr>
            <a:r>
              <a:rPr sz="1200" b="1">
                <a:solidFill>
                  <a:srgbClr val="38BDF8"/>
                </a:solidFill>
                <a:latin typeface="Segoe UI"/>
              </a:rPr>
              <a:t>•  </a:t>
            </a:r>
            <a:r>
              <a:rPr sz="1200">
                <a:solidFill>
                  <a:srgbClr val="CBD5E1"/>
                </a:solidFill>
                <a:latin typeface="Segoe UI"/>
              </a:rPr>
              <a:t>Merges decisions</a:t>
            </a:r>
          </a:p>
          <a:p>
            <a:pPr>
              <a:spcAft>
                <a:spcPts val="300"/>
              </a:spcAft>
            </a:pPr>
            <a:r>
              <a:rPr sz="1200" b="1">
                <a:solidFill>
                  <a:srgbClr val="38BDF8"/>
                </a:solidFill>
                <a:latin typeface="Segoe UI"/>
              </a:rPr>
              <a:t>•  </a:t>
            </a:r>
            <a:r>
              <a:rPr sz="1200">
                <a:solidFill>
                  <a:srgbClr val="CBD5E1"/>
                </a:solidFill>
                <a:latin typeface="Segoe UI"/>
              </a:rPr>
              <a:t>Cross-agent updates</a:t>
            </a:r>
          </a:p>
        </p:txBody>
      </p:sp>
      <p:sp>
        <p:nvSpPr>
          <p:cNvPr id="23" name="Rounded Rectangle 22"/>
          <p:cNvSpPr/>
          <p:nvPr/>
        </p:nvSpPr>
        <p:spPr>
          <a:xfrm>
            <a:off x="548640" y="3730752"/>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30752"/>
            <a:ext cx="358841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895344"/>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6" name="TextBox 25"/>
          <p:cNvSpPr txBox="1"/>
          <p:nvPr/>
        </p:nvSpPr>
        <p:spPr>
          <a:xfrm>
            <a:off x="1234440" y="3895344"/>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Ralph</a:t>
            </a:r>
          </a:p>
        </p:txBody>
      </p:sp>
      <p:sp>
        <p:nvSpPr>
          <p:cNvPr id="27" name="TextBox 26"/>
          <p:cNvSpPr txBox="1"/>
          <p:nvPr/>
        </p:nvSpPr>
        <p:spPr>
          <a:xfrm>
            <a:off x="713232" y="4416552"/>
            <a:ext cx="3314090" cy="91440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Backlog loop</a:t>
            </a:r>
          </a:p>
          <a:p>
            <a:pPr>
              <a:spcAft>
                <a:spcPts val="300"/>
              </a:spcAft>
            </a:pPr>
            <a:r>
              <a:rPr sz="1200" b="1">
                <a:solidFill>
                  <a:srgbClr val="FBBF24"/>
                </a:solidFill>
                <a:latin typeface="Segoe UI"/>
              </a:rPr>
              <a:t>•  </a:t>
            </a:r>
            <a:r>
              <a:rPr sz="1200">
                <a:solidFill>
                  <a:srgbClr val="CBD5E1"/>
                </a:solidFill>
                <a:latin typeface="Segoe UI"/>
              </a:rPr>
              <a:t>Watch / heartbeat</a:t>
            </a:r>
          </a:p>
          <a:p>
            <a:pPr>
              <a:spcAft>
                <a:spcPts val="300"/>
              </a:spcAft>
            </a:pPr>
            <a:r>
              <a:rPr sz="1200" b="1">
                <a:solidFill>
                  <a:srgbClr val="FBBF24"/>
                </a:solidFill>
                <a:latin typeface="Segoe UI"/>
              </a:rPr>
              <a:t>•  </a:t>
            </a:r>
            <a:r>
              <a:rPr sz="1200">
                <a:solidFill>
                  <a:srgbClr val="CBD5E1"/>
                </a:solidFill>
                <a:latin typeface="Segoe UI"/>
              </a:rPr>
              <a:t>Keeps work moving</a:t>
            </a:r>
          </a:p>
        </p:txBody>
      </p:sp>
      <p:sp>
        <p:nvSpPr>
          <p:cNvPr id="28" name="Rounded Rectangle 27"/>
          <p:cNvSpPr/>
          <p:nvPr/>
        </p:nvSpPr>
        <p:spPr>
          <a:xfrm>
            <a:off x="4301642" y="3730752"/>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01642" y="3730752"/>
            <a:ext cx="358841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66234" y="3895344"/>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31" name="TextBox 30"/>
          <p:cNvSpPr txBox="1"/>
          <p:nvPr/>
        </p:nvSpPr>
        <p:spPr>
          <a:xfrm>
            <a:off x="4987442" y="3895344"/>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Rai</a:t>
            </a:r>
          </a:p>
        </p:txBody>
      </p:sp>
      <p:sp>
        <p:nvSpPr>
          <p:cNvPr id="32" name="TextBox 31"/>
          <p:cNvSpPr txBox="1"/>
          <p:nvPr/>
        </p:nvSpPr>
        <p:spPr>
          <a:xfrm>
            <a:off x="4466234" y="4416552"/>
            <a:ext cx="3314090" cy="91440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RAI reviewer</a:t>
            </a:r>
          </a:p>
          <a:p>
            <a:pPr>
              <a:spcAft>
                <a:spcPts val="300"/>
              </a:spcAft>
            </a:pPr>
            <a:r>
              <a:rPr sz="1200" b="1">
                <a:solidFill>
                  <a:srgbClr val="FB7185"/>
                </a:solidFill>
                <a:latin typeface="Segoe UI"/>
              </a:rPr>
              <a:t>•  </a:t>
            </a:r>
            <a:r>
              <a:rPr sz="1200">
                <a:solidFill>
                  <a:srgbClr val="CBD5E1"/>
                </a:solidFill>
                <a:latin typeface="Segoe UI"/>
              </a:rPr>
              <a:t>Traffic-light verdicts</a:t>
            </a:r>
          </a:p>
          <a:p>
            <a:pPr>
              <a:spcAft>
                <a:spcPts val="300"/>
              </a:spcAft>
            </a:pPr>
            <a:r>
              <a:rPr sz="1200" b="1">
                <a:solidFill>
                  <a:srgbClr val="FB7185"/>
                </a:solidFill>
                <a:latin typeface="Segoe UI"/>
              </a:rPr>
              <a:t>•  </a:t>
            </a:r>
            <a:r>
              <a:rPr sz="1200">
                <a:solidFill>
                  <a:srgbClr val="CBD5E1"/>
                </a:solidFill>
                <a:latin typeface="Segoe UI"/>
              </a:rPr>
              <a:t>Guardrail, not wall</a:t>
            </a:r>
          </a:p>
        </p:txBody>
      </p:sp>
      <p:sp>
        <p:nvSpPr>
          <p:cNvPr id="33" name="Rounded Rectangle 32"/>
          <p:cNvSpPr/>
          <p:nvPr/>
        </p:nvSpPr>
        <p:spPr>
          <a:xfrm>
            <a:off x="8054644" y="3730752"/>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54644" y="3730752"/>
            <a:ext cx="358841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9236" y="3895344"/>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36" name="TextBox 35"/>
          <p:cNvSpPr txBox="1"/>
          <p:nvPr/>
        </p:nvSpPr>
        <p:spPr>
          <a:xfrm>
            <a:off x="8740444" y="3895344"/>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State backend</a:t>
            </a:r>
          </a:p>
        </p:txBody>
      </p:sp>
      <p:sp>
        <p:nvSpPr>
          <p:cNvPr id="37" name="TextBox 36"/>
          <p:cNvSpPr txBox="1"/>
          <p:nvPr/>
        </p:nvSpPr>
        <p:spPr>
          <a:xfrm>
            <a:off x="8219236" y="4416552"/>
            <a:ext cx="3314090" cy="91440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Where mutable state lives</a:t>
            </a:r>
          </a:p>
          <a:p>
            <a:pPr>
              <a:spcAft>
                <a:spcPts val="300"/>
              </a:spcAft>
            </a:pPr>
            <a:r>
              <a:rPr sz="1200" b="1">
                <a:solidFill>
                  <a:srgbClr val="A78BFA"/>
                </a:solidFill>
                <a:latin typeface="Segoe UI"/>
              </a:rPr>
              <a:t>•  </a:t>
            </a:r>
            <a:r>
              <a:rPr sz="1200">
                <a:solidFill>
                  <a:srgbClr val="CBD5E1"/>
                </a:solidFill>
                <a:latin typeface="Segoe UI"/>
              </a:rPr>
              <a:t>Same agent protocol</a:t>
            </a:r>
          </a:p>
          <a:p>
            <a:pPr>
              <a:spcAft>
                <a:spcPts val="300"/>
              </a:spcAft>
            </a:pPr>
            <a:r>
              <a:rPr sz="1200" b="1">
                <a:solidFill>
                  <a:srgbClr val="A78BFA"/>
                </a:solidFill>
                <a:latin typeface="Segoe UI"/>
              </a:rPr>
              <a:t>•  </a:t>
            </a:r>
            <a:r>
              <a:rPr sz="1200">
                <a:solidFill>
                  <a:srgbClr val="CBD5E1"/>
                </a:solidFill>
                <a:latin typeface="Segoe UI"/>
              </a:rPr>
              <a:t>local / orphan / two-layer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05</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WHAT SCALING ACTUALLY MEANS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Scaling Squad isn’t “more agents” — it’s five concrete mechanisms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Each one solves a real, separate pain. We’ll cover them in the next four patterns.</a:t>
            </a:r>
          </a:p>
        </p:txBody>
      </p:sp>
      <p:sp>
        <p:nvSpPr>
          <p:cNvPr id="8" name="Rounded Rectangle 7"/>
          <p:cNvSpPr/>
          <p:nvPr/>
        </p:nvSpPr>
        <p:spPr>
          <a:xfrm>
            <a:off x="548640" y="1874519"/>
            <a:ext cx="207257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207257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1" name="TextBox 10"/>
          <p:cNvSpPr txBox="1"/>
          <p:nvPr/>
        </p:nvSpPr>
        <p:spPr>
          <a:xfrm>
            <a:off x="1234440" y="2039112"/>
            <a:ext cx="1295339" cy="411480"/>
          </a:xfrm>
          <a:prstGeom prst="rect">
            <a:avLst/>
          </a:prstGeom>
          <a:noFill/>
        </p:spPr>
        <p:txBody>
          <a:bodyPr wrap="square" lIns="36576" rIns="36576" tIns="18288" bIns="18288" anchor="ctr">
            <a:spAutoFit/>
          </a:bodyPr>
          <a:lstStyle/>
          <a:p>
            <a:r>
              <a:rPr sz="1700" b="1">
                <a:solidFill>
                  <a:srgbClr val="F8FAFC"/>
                </a:solidFill>
                <a:latin typeface="Segoe UI"/>
              </a:rPr>
              <a:t>Two-layer state</a:t>
            </a:r>
          </a:p>
        </p:txBody>
      </p:sp>
      <p:sp>
        <p:nvSpPr>
          <p:cNvPr id="12" name="TextBox 11"/>
          <p:cNvSpPr txBox="1"/>
          <p:nvPr/>
        </p:nvSpPr>
        <p:spPr>
          <a:xfrm>
            <a:off x="713232" y="2560320"/>
            <a:ext cx="1798259" cy="288036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Clean PRs even when 5 agents</a:t>
            </a:r>
          </a:p>
          <a:p>
            <a:pPr>
              <a:spcAft>
                <a:spcPts val="300"/>
              </a:spcAft>
            </a:pPr>
            <a:r>
              <a:rPr sz="1200" b="1">
                <a:solidFill>
                  <a:srgbClr val="A78BFA"/>
                </a:solidFill>
                <a:latin typeface="Segoe UI"/>
              </a:rPr>
              <a:t>•  </a:t>
            </a:r>
            <a:r>
              <a:rPr sz="1200">
                <a:solidFill>
                  <a:srgbClr val="CBD5E1"/>
                </a:solidFill>
                <a:latin typeface="Segoe UI"/>
              </a:rPr>
              <a:t>are writing decisions</a:t>
            </a:r>
          </a:p>
          <a:p>
            <a:pPr>
              <a:spcAft>
                <a:spcPts val="300"/>
              </a:spcAft>
            </a:pPr>
            <a:r>
              <a:rPr sz="1200" b="1">
                <a:solidFill>
                  <a:srgbClr val="A78BFA"/>
                </a:solidFill>
                <a:latin typeface="Segoe UI"/>
              </a:rPr>
              <a:t>•  </a:t>
            </a:r>
            <a:r>
              <a:rPr sz="1200">
                <a:solidFill>
                  <a:srgbClr val="CBD5E1"/>
                </a:solidFill>
                <a:latin typeface="Segoe UI"/>
              </a:rPr>
              <a:t/>
            </a:r>
          </a:p>
          <a:p>
            <a:pPr>
              <a:spcAft>
                <a:spcPts val="300"/>
              </a:spcAft>
            </a:pPr>
            <a:r>
              <a:rPr sz="1200" b="1">
                <a:solidFill>
                  <a:srgbClr val="A78BFA"/>
                </a:solidFill>
                <a:latin typeface="Segoe UI"/>
              </a:rPr>
              <a:t>•  </a:t>
            </a:r>
            <a:r>
              <a:rPr sz="1200">
                <a:solidFill>
                  <a:srgbClr val="CBD5E1"/>
                </a:solidFill>
                <a:latin typeface="Segoe UI"/>
              </a:rPr>
              <a:t>→ Pattern 2</a:t>
            </a:r>
          </a:p>
        </p:txBody>
      </p:sp>
      <p:sp>
        <p:nvSpPr>
          <p:cNvPr id="13" name="Rounded Rectangle 12"/>
          <p:cNvSpPr/>
          <p:nvPr/>
        </p:nvSpPr>
        <p:spPr>
          <a:xfrm>
            <a:off x="2804099" y="1874519"/>
            <a:ext cx="207257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4099" y="1874519"/>
            <a:ext cx="207257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68691"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6" name="TextBox 15"/>
          <p:cNvSpPr txBox="1"/>
          <p:nvPr/>
        </p:nvSpPr>
        <p:spPr>
          <a:xfrm>
            <a:off x="3489899" y="2039112"/>
            <a:ext cx="1295339" cy="411480"/>
          </a:xfrm>
          <a:prstGeom prst="rect">
            <a:avLst/>
          </a:prstGeom>
          <a:noFill/>
        </p:spPr>
        <p:txBody>
          <a:bodyPr wrap="square" lIns="36576" rIns="36576" tIns="18288" bIns="18288" anchor="ctr">
            <a:spAutoFit/>
          </a:bodyPr>
          <a:lstStyle/>
          <a:p>
            <a:r>
              <a:rPr sz="1700" b="1">
                <a:solidFill>
                  <a:srgbClr val="F8FAFC"/>
                </a:solidFill>
                <a:latin typeface="Segoe UI"/>
              </a:rPr>
              <a:t>Worktrees</a:t>
            </a:r>
          </a:p>
        </p:txBody>
      </p:sp>
      <p:sp>
        <p:nvSpPr>
          <p:cNvPr id="17" name="TextBox 16"/>
          <p:cNvSpPr txBox="1"/>
          <p:nvPr/>
        </p:nvSpPr>
        <p:spPr>
          <a:xfrm>
            <a:off x="2968691" y="2560320"/>
            <a:ext cx="1798259" cy="28803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Run multiple missions</a:t>
            </a:r>
          </a:p>
          <a:p>
            <a:pPr>
              <a:spcAft>
                <a:spcPts val="300"/>
              </a:spcAft>
            </a:pPr>
            <a:r>
              <a:rPr sz="1200" b="1">
                <a:solidFill>
                  <a:srgbClr val="34D399"/>
                </a:solidFill>
                <a:latin typeface="Segoe UI"/>
              </a:rPr>
              <a:t>•  </a:t>
            </a:r>
            <a:r>
              <a:rPr sz="1200">
                <a:solidFill>
                  <a:srgbClr val="CBD5E1"/>
                </a:solidFill>
                <a:latin typeface="Segoe UI"/>
              </a:rPr>
              <a:t>without losing your branch</a:t>
            </a:r>
          </a:p>
          <a:p>
            <a:pPr>
              <a:spcAft>
                <a:spcPts val="300"/>
              </a:spcAft>
            </a:pPr>
            <a:r>
              <a:rPr sz="1200" b="1">
                <a:solidFill>
                  <a:srgbClr val="34D399"/>
                </a:solidFill>
                <a:latin typeface="Segoe UI"/>
              </a:rPr>
              <a:t>•  </a:t>
            </a:r>
            <a:r>
              <a:rPr sz="1200">
                <a:solidFill>
                  <a:srgbClr val="CBD5E1"/>
                </a:solidFill>
                <a:latin typeface="Segoe UI"/>
              </a:rPr>
              <a:t/>
            </a:r>
          </a:p>
          <a:p>
            <a:pPr>
              <a:spcAft>
                <a:spcPts val="300"/>
              </a:spcAft>
            </a:pPr>
            <a:r>
              <a:rPr sz="1200" b="1">
                <a:solidFill>
                  <a:srgbClr val="34D399"/>
                </a:solidFill>
                <a:latin typeface="Segoe UI"/>
              </a:rPr>
              <a:t>•  </a:t>
            </a:r>
            <a:r>
              <a:rPr sz="1200">
                <a:solidFill>
                  <a:srgbClr val="CBD5E1"/>
                </a:solidFill>
                <a:latin typeface="Segoe UI"/>
              </a:rPr>
              <a:t>→ Pattern 3</a:t>
            </a:r>
          </a:p>
        </p:txBody>
      </p:sp>
      <p:sp>
        <p:nvSpPr>
          <p:cNvPr id="18" name="Rounded Rectangle 17"/>
          <p:cNvSpPr/>
          <p:nvPr/>
        </p:nvSpPr>
        <p:spPr>
          <a:xfrm>
            <a:off x="5059558" y="1874519"/>
            <a:ext cx="207257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9558" y="1874519"/>
            <a:ext cx="207257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24150"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1" name="TextBox 20"/>
          <p:cNvSpPr txBox="1"/>
          <p:nvPr/>
        </p:nvSpPr>
        <p:spPr>
          <a:xfrm>
            <a:off x="5745358" y="2039112"/>
            <a:ext cx="1295339" cy="411480"/>
          </a:xfrm>
          <a:prstGeom prst="rect">
            <a:avLst/>
          </a:prstGeom>
          <a:noFill/>
        </p:spPr>
        <p:txBody>
          <a:bodyPr wrap="square" lIns="36576" rIns="36576" tIns="18288" bIns="18288" anchor="ctr">
            <a:spAutoFit/>
          </a:bodyPr>
          <a:lstStyle/>
          <a:p>
            <a:r>
              <a:rPr sz="1700" b="1">
                <a:solidFill>
                  <a:srgbClr val="F8FAFC"/>
                </a:solidFill>
                <a:latin typeface="Segoe UI"/>
              </a:rPr>
              <a:t>SubSquads</a:t>
            </a:r>
          </a:p>
        </p:txBody>
      </p:sp>
      <p:sp>
        <p:nvSpPr>
          <p:cNvPr id="22" name="TextBox 21"/>
          <p:cNvSpPr txBox="1"/>
          <p:nvPr/>
        </p:nvSpPr>
        <p:spPr>
          <a:xfrm>
            <a:off x="5224150" y="2560320"/>
            <a:ext cx="1798259" cy="28803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Carve one repo into</a:t>
            </a:r>
          </a:p>
          <a:p>
            <a:pPr>
              <a:spcAft>
                <a:spcPts val="300"/>
              </a:spcAft>
            </a:pPr>
            <a:r>
              <a:rPr sz="1200" b="1">
                <a:solidFill>
                  <a:srgbClr val="34D399"/>
                </a:solidFill>
                <a:latin typeface="Segoe UI"/>
              </a:rPr>
              <a:t>•  </a:t>
            </a:r>
            <a:r>
              <a:rPr sz="1200">
                <a:solidFill>
                  <a:srgbClr val="CBD5E1"/>
                </a:solidFill>
                <a:latin typeface="Segoe UI"/>
              </a:rPr>
              <a:t>label-scoped lanes</a:t>
            </a:r>
          </a:p>
          <a:p>
            <a:pPr>
              <a:spcAft>
                <a:spcPts val="300"/>
              </a:spcAft>
            </a:pPr>
            <a:r>
              <a:rPr sz="1200" b="1">
                <a:solidFill>
                  <a:srgbClr val="34D399"/>
                </a:solidFill>
                <a:latin typeface="Segoe UI"/>
              </a:rPr>
              <a:t>•  </a:t>
            </a:r>
            <a:r>
              <a:rPr sz="1200">
                <a:solidFill>
                  <a:srgbClr val="CBD5E1"/>
                </a:solidFill>
                <a:latin typeface="Segoe UI"/>
              </a:rPr>
              <a:t/>
            </a:r>
          </a:p>
          <a:p>
            <a:pPr>
              <a:spcAft>
                <a:spcPts val="300"/>
              </a:spcAft>
            </a:pPr>
            <a:r>
              <a:rPr sz="1200" b="1">
                <a:solidFill>
                  <a:srgbClr val="34D399"/>
                </a:solidFill>
                <a:latin typeface="Segoe UI"/>
              </a:rPr>
              <a:t>•  </a:t>
            </a:r>
            <a:r>
              <a:rPr sz="1200">
                <a:solidFill>
                  <a:srgbClr val="CBD5E1"/>
                </a:solidFill>
                <a:latin typeface="Segoe UI"/>
              </a:rPr>
              <a:t>→ Pattern 3</a:t>
            </a:r>
          </a:p>
        </p:txBody>
      </p:sp>
      <p:sp>
        <p:nvSpPr>
          <p:cNvPr id="23" name="Rounded Rectangle 22"/>
          <p:cNvSpPr/>
          <p:nvPr/>
        </p:nvSpPr>
        <p:spPr>
          <a:xfrm>
            <a:off x="7315017" y="1874519"/>
            <a:ext cx="207257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017" y="1874519"/>
            <a:ext cx="2072579"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9609"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6" name="TextBox 25"/>
          <p:cNvSpPr txBox="1"/>
          <p:nvPr/>
        </p:nvSpPr>
        <p:spPr>
          <a:xfrm>
            <a:off x="8000817" y="2039112"/>
            <a:ext cx="1295339" cy="411480"/>
          </a:xfrm>
          <a:prstGeom prst="rect">
            <a:avLst/>
          </a:prstGeom>
          <a:noFill/>
        </p:spPr>
        <p:txBody>
          <a:bodyPr wrap="square" lIns="36576" rIns="36576" tIns="18288" bIns="18288" anchor="ctr">
            <a:spAutoFit/>
          </a:bodyPr>
          <a:lstStyle/>
          <a:p>
            <a:r>
              <a:rPr sz="1700" b="1">
                <a:solidFill>
                  <a:srgbClr val="F8FAFC"/>
                </a:solidFill>
                <a:latin typeface="Segoe UI"/>
              </a:rPr>
              <a:t>Manifest + delegate</a:t>
            </a:r>
          </a:p>
        </p:txBody>
      </p:sp>
      <p:sp>
        <p:nvSpPr>
          <p:cNvPr id="27" name="TextBox 26"/>
          <p:cNvSpPr txBox="1"/>
          <p:nvPr/>
        </p:nvSpPr>
        <p:spPr>
          <a:xfrm>
            <a:off x="7479609" y="2560320"/>
            <a:ext cx="1798259" cy="288036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Hand work to another squad</a:t>
            </a:r>
          </a:p>
          <a:p>
            <a:pPr>
              <a:spcAft>
                <a:spcPts val="300"/>
              </a:spcAft>
            </a:pPr>
            <a:r>
              <a:rPr sz="1200" b="1">
                <a:solidFill>
                  <a:srgbClr val="FBBF24"/>
                </a:solidFill>
                <a:latin typeface="Segoe UI"/>
              </a:rPr>
              <a:t>•  </a:t>
            </a:r>
            <a:r>
              <a:rPr sz="1200">
                <a:solidFill>
                  <a:srgbClr val="CBD5E1"/>
                </a:solidFill>
                <a:latin typeface="Segoe UI"/>
              </a:rPr>
              <a:t>as a real GitHub issue</a:t>
            </a:r>
          </a:p>
          <a:p>
            <a:pPr>
              <a:spcAft>
                <a:spcPts val="300"/>
              </a:spcAft>
            </a:pPr>
            <a:r>
              <a:rPr sz="1200" b="1">
                <a:solidFill>
                  <a:srgbClr val="FBBF24"/>
                </a:solidFill>
                <a:latin typeface="Segoe UI"/>
              </a:rPr>
              <a:t>•  </a:t>
            </a:r>
            <a:r>
              <a:rPr sz="1200">
                <a:solidFill>
                  <a:srgbClr val="CBD5E1"/>
                </a:solidFill>
                <a:latin typeface="Segoe UI"/>
              </a:rPr>
              <a:t/>
            </a:r>
          </a:p>
          <a:p>
            <a:pPr>
              <a:spcAft>
                <a:spcPts val="300"/>
              </a:spcAft>
            </a:pPr>
            <a:r>
              <a:rPr sz="1200" b="1">
                <a:solidFill>
                  <a:srgbClr val="FBBF24"/>
                </a:solidFill>
                <a:latin typeface="Segoe UI"/>
              </a:rPr>
              <a:t>•  </a:t>
            </a:r>
            <a:r>
              <a:rPr sz="1200">
                <a:solidFill>
                  <a:srgbClr val="CBD5E1"/>
                </a:solidFill>
                <a:latin typeface="Segoe UI"/>
              </a:rPr>
              <a:t>→ Pattern 4</a:t>
            </a:r>
          </a:p>
        </p:txBody>
      </p:sp>
      <p:sp>
        <p:nvSpPr>
          <p:cNvPr id="28" name="Rounded Rectangle 27"/>
          <p:cNvSpPr/>
          <p:nvPr/>
        </p:nvSpPr>
        <p:spPr>
          <a:xfrm>
            <a:off x="9570476" y="1874519"/>
            <a:ext cx="2072579"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70476" y="1874519"/>
            <a:ext cx="2072579"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5068"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31" name="TextBox 30"/>
          <p:cNvSpPr txBox="1"/>
          <p:nvPr/>
        </p:nvSpPr>
        <p:spPr>
          <a:xfrm>
            <a:off x="10256276" y="2039112"/>
            <a:ext cx="1295339" cy="411480"/>
          </a:xfrm>
          <a:prstGeom prst="rect">
            <a:avLst/>
          </a:prstGeom>
          <a:noFill/>
        </p:spPr>
        <p:txBody>
          <a:bodyPr wrap="square" lIns="36576" rIns="36576" tIns="18288" bIns="18288" anchor="ctr">
            <a:spAutoFit/>
          </a:bodyPr>
          <a:lstStyle/>
          <a:p>
            <a:r>
              <a:rPr sz="1700" b="1">
                <a:solidFill>
                  <a:srgbClr val="F8FAFC"/>
                </a:solidFill>
                <a:latin typeface="Segoe UI"/>
              </a:rPr>
              <a:t>Distributed mesh</a:t>
            </a:r>
          </a:p>
        </p:txBody>
      </p:sp>
      <p:sp>
        <p:nvSpPr>
          <p:cNvPr id="32" name="TextBox 31"/>
          <p:cNvSpPr txBox="1"/>
          <p:nvPr/>
        </p:nvSpPr>
        <p:spPr>
          <a:xfrm>
            <a:off x="9735068" y="2560320"/>
            <a:ext cx="1798259" cy="288036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Cross-machine peers</a:t>
            </a:r>
          </a:p>
          <a:p>
            <a:pPr>
              <a:spcAft>
                <a:spcPts val="300"/>
              </a:spcAft>
            </a:pPr>
            <a:r>
              <a:rPr sz="1200" b="1">
                <a:solidFill>
                  <a:srgbClr val="FBBF24"/>
                </a:solidFill>
                <a:latin typeface="Segoe UI"/>
              </a:rPr>
              <a:t>•  </a:t>
            </a:r>
            <a:r>
              <a:rPr sz="1200">
                <a:solidFill>
                  <a:srgbClr val="CBD5E1"/>
                </a:solidFill>
                <a:latin typeface="Segoe UI"/>
              </a:rPr>
              <a:t>via git pull / curl</a:t>
            </a:r>
          </a:p>
          <a:p>
            <a:pPr>
              <a:spcAft>
                <a:spcPts val="300"/>
              </a:spcAft>
            </a:pPr>
            <a:r>
              <a:rPr sz="1200" b="1">
                <a:solidFill>
                  <a:srgbClr val="FBBF24"/>
                </a:solidFill>
                <a:latin typeface="Segoe UI"/>
              </a:rPr>
              <a:t>•  </a:t>
            </a:r>
            <a:r>
              <a:rPr sz="1200">
                <a:solidFill>
                  <a:srgbClr val="CBD5E1"/>
                </a:solidFill>
                <a:latin typeface="Segoe UI"/>
              </a:rPr>
              <a:t/>
            </a:r>
          </a:p>
          <a:p>
            <a:pPr>
              <a:spcAft>
                <a:spcPts val="300"/>
              </a:spcAft>
            </a:pPr>
            <a:r>
              <a:rPr sz="1200" b="1">
                <a:solidFill>
                  <a:srgbClr val="FBBF24"/>
                </a:solidFill>
                <a:latin typeface="Segoe UI"/>
              </a:rPr>
              <a:t>•  </a:t>
            </a:r>
            <a:r>
              <a:rPr sz="1200">
                <a:solidFill>
                  <a:srgbClr val="CBD5E1"/>
                </a:solidFill>
                <a:latin typeface="Segoe UI"/>
              </a:rPr>
              <a:t>→ Pattern 4</a:t>
            </a:r>
          </a:p>
        </p:txBody>
      </p:sp>
      <p:sp>
        <p:nvSpPr>
          <p:cNvPr id="33" name="TextBox 32"/>
          <p:cNvSpPr txBox="1"/>
          <p:nvPr/>
        </p:nvSpPr>
        <p:spPr>
          <a:xfrm>
            <a:off x="548640" y="5806440"/>
            <a:ext cx="11094415" cy="457200"/>
          </a:xfrm>
          <a:prstGeom prst="rect">
            <a:avLst/>
          </a:prstGeom>
          <a:noFill/>
        </p:spPr>
        <p:txBody>
          <a:bodyPr wrap="square" lIns="36576" rIns="36576" tIns="18288" bIns="18288">
            <a:spAutoFit/>
          </a:bodyPr>
          <a:lstStyle/>
          <a:p>
            <a:pPr algn="ctr"/>
            <a:r>
              <a:rPr sz="1400" b="0">
                <a:solidFill>
                  <a:srgbClr val="94A3B8"/>
                </a:solidFill>
                <a:latin typeface="Segoe UI"/>
              </a:rPr>
              <a:t>Five separate mechanisms. Each solves a specific pain. Mix as needed — you don’t need them all on day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64592" cy="228600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06</a:t>
            </a:r>
          </a:p>
        </p:txBody>
      </p:sp>
      <p:sp>
        <p:nvSpPr>
          <p:cNvPr id="5" name="TextBox 4"/>
          <p:cNvSpPr txBox="1"/>
          <p:nvPr/>
        </p:nvSpPr>
        <p:spPr>
          <a:xfrm>
            <a:off x="960120" y="2331720"/>
            <a:ext cx="11094415" cy="457200"/>
          </a:xfrm>
          <a:prstGeom prst="rect">
            <a:avLst/>
          </a:prstGeom>
          <a:noFill/>
        </p:spPr>
        <p:txBody>
          <a:bodyPr wrap="square" lIns="36576" rIns="36576" tIns="18288" bIns="18288">
            <a:spAutoFit/>
          </a:bodyPr>
          <a:lstStyle/>
          <a:p>
            <a:r>
              <a:rPr sz="1400" b="1">
                <a:solidFill>
                  <a:srgbClr val="38BDF8"/>
                </a:solidFill>
                <a:latin typeface="Segoe UI Semibold"/>
              </a:rPr>
              <a:t>PATTERN 1</a:t>
            </a:r>
          </a:p>
        </p:txBody>
      </p:sp>
      <p:sp>
        <p:nvSpPr>
          <p:cNvPr id="6" name="TextBox 5"/>
          <p:cNvSpPr txBox="1"/>
          <p:nvPr/>
        </p:nvSpPr>
        <p:spPr>
          <a:xfrm>
            <a:off x="960120" y="2788920"/>
            <a:ext cx="11094415" cy="1828800"/>
          </a:xfrm>
          <a:prstGeom prst="rect">
            <a:avLst/>
          </a:prstGeom>
          <a:noFill/>
        </p:spPr>
        <p:txBody>
          <a:bodyPr wrap="square" lIns="36576" rIns="36576" tIns="18288" bIns="18288">
            <a:spAutoFit/>
          </a:bodyPr>
          <a:lstStyle/>
          <a:p>
            <a:r>
              <a:rPr sz="5400" b="1">
                <a:solidFill>
                  <a:srgbClr val="F8FAFC"/>
                </a:solidFill>
                <a:latin typeface="Segoe UI"/>
              </a:rPr>
              <a:t>➀ Memory that
compounds</a:t>
            </a:r>
          </a:p>
        </p:txBody>
      </p:sp>
      <p:sp>
        <p:nvSpPr>
          <p:cNvPr id="7" name="TextBox 6"/>
          <p:cNvSpPr txBox="1"/>
          <p:nvPr/>
        </p:nvSpPr>
        <p:spPr>
          <a:xfrm>
            <a:off x="960120" y="4526280"/>
            <a:ext cx="11094415" cy="1280160"/>
          </a:xfrm>
          <a:prstGeom prst="rect">
            <a:avLst/>
          </a:prstGeom>
          <a:noFill/>
        </p:spPr>
        <p:txBody>
          <a:bodyPr wrap="square" lIns="36576" rIns="36576" tIns="18288" bIns="18288">
            <a:spAutoFit/>
          </a:bodyPr>
          <a:lstStyle/>
          <a:p>
            <a:r>
              <a:rPr sz="2000" b="0">
                <a:solidFill>
                  <a:srgbClr val="CBD5E1"/>
                </a:solidFill>
                <a:latin typeface="Segoe UI"/>
              </a:rPr>
              <a:t>Agents stop asking the questions they already answered — if the right facts survive in the right layer.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07</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MENTAL MODEL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three-layer memory model</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Not all memory belongs in the same place — most portable on top, most personal on the bottom.</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docs/concepts/memory-and-knowledge.md:28-96, 174-200 (Skills section)</a:t>
            </a:r>
          </a:p>
        </p:txBody>
      </p:sp>
      <p:sp>
        <p:nvSpPr>
          <p:cNvPr id="9" name="Rounded Rectangle 8"/>
          <p:cNvSpPr/>
          <p:nvPr/>
        </p:nvSpPr>
        <p:spPr>
          <a:xfrm>
            <a:off x="548640" y="1874519"/>
            <a:ext cx="11094415" cy="14173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64592" cy="14173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039112"/>
            <a:ext cx="594360" cy="502920"/>
          </a:xfrm>
          <a:prstGeom prst="rect">
            <a:avLst/>
          </a:prstGeom>
          <a:noFill/>
        </p:spPr>
        <p:txBody>
          <a:bodyPr wrap="square" lIns="36576" rIns="36576" tIns="18288" bIns="18288" anchor="ctr">
            <a:spAutoFit/>
          </a:bodyPr>
          <a:lstStyle/>
          <a:p>
            <a:r>
              <a:rPr sz="2400" b="1">
                <a:solidFill>
                  <a:srgbClr val="FBBF24"/>
                </a:solidFill>
                <a:latin typeface="Segoe UI"/>
              </a:rPr>
              <a:t>⚘</a:t>
            </a:r>
          </a:p>
        </p:txBody>
      </p:sp>
      <p:sp>
        <p:nvSpPr>
          <p:cNvPr id="12" name="TextBox 11"/>
          <p:cNvSpPr txBox="1"/>
          <p:nvPr/>
        </p:nvSpPr>
        <p:spPr>
          <a:xfrm>
            <a:off x="1508760" y="2039112"/>
            <a:ext cx="2468880" cy="502920"/>
          </a:xfrm>
          <a:prstGeom prst="rect">
            <a:avLst/>
          </a:prstGeom>
          <a:noFill/>
        </p:spPr>
        <p:txBody>
          <a:bodyPr wrap="square" lIns="36576" rIns="36576" tIns="18288" bIns="18288" anchor="ctr">
            <a:spAutoFit/>
          </a:bodyPr>
          <a:lstStyle/>
          <a:p>
            <a:r>
              <a:rPr sz="2000" b="1">
                <a:solidFill>
                  <a:srgbClr val="F8FAFC"/>
                </a:solidFill>
                <a:latin typeface="Segoe UI"/>
              </a:rPr>
              <a:t>Skills</a:t>
            </a:r>
          </a:p>
        </p:txBody>
      </p:sp>
      <p:sp>
        <p:nvSpPr>
          <p:cNvPr id="13" name="TextBox 12"/>
          <p:cNvSpPr txBox="1"/>
          <p:nvPr/>
        </p:nvSpPr>
        <p:spPr>
          <a:xfrm>
            <a:off x="914400" y="2587752"/>
            <a:ext cx="3108960" cy="320040"/>
          </a:xfrm>
          <a:prstGeom prst="rect">
            <a:avLst/>
          </a:prstGeom>
          <a:noFill/>
        </p:spPr>
        <p:txBody>
          <a:bodyPr wrap="square" lIns="36576" rIns="36576" tIns="18288" bIns="18288">
            <a:spAutoFit/>
          </a:bodyPr>
          <a:lstStyle/>
          <a:p>
            <a:r>
              <a:rPr sz="1100" b="0">
                <a:solidFill>
                  <a:srgbClr val="CBD5E1"/>
                </a:solidFill>
                <a:latin typeface="Segoe UI"/>
              </a:rPr>
              <a:t>Reusable patterns • Team-wide • Portable</a:t>
            </a:r>
          </a:p>
        </p:txBody>
      </p:sp>
      <p:sp>
        <p:nvSpPr>
          <p:cNvPr id="14" name="TextBox 13"/>
          <p:cNvSpPr txBox="1"/>
          <p:nvPr/>
        </p:nvSpPr>
        <p:spPr>
          <a:xfrm>
            <a:off x="4023360" y="2075688"/>
            <a:ext cx="3291840" cy="365760"/>
          </a:xfrm>
          <a:prstGeom prst="rect">
            <a:avLst/>
          </a:prstGeom>
          <a:noFill/>
        </p:spPr>
        <p:txBody>
          <a:bodyPr wrap="square" lIns="36576" rIns="36576" tIns="18288" bIns="18288">
            <a:spAutoFit/>
          </a:bodyPr>
          <a:lstStyle/>
          <a:p>
            <a:r>
              <a:rPr sz="1200" b="1">
                <a:solidFill>
                  <a:srgbClr val="FBBF24"/>
                </a:solidFill>
                <a:latin typeface="Consolas"/>
              </a:rPr>
              <a:t>.squad/skills/{name}/SKILL.md</a:t>
            </a:r>
          </a:p>
        </p:txBody>
      </p:sp>
      <p:sp>
        <p:nvSpPr>
          <p:cNvPr id="15" name="TextBox 14"/>
          <p:cNvSpPr txBox="1"/>
          <p:nvPr/>
        </p:nvSpPr>
        <p:spPr>
          <a:xfrm>
            <a:off x="4023360" y="2468879"/>
            <a:ext cx="3291840" cy="292608"/>
          </a:xfrm>
          <a:prstGeom prst="rect">
            <a:avLst/>
          </a:prstGeom>
          <a:noFill/>
        </p:spPr>
        <p:txBody>
          <a:bodyPr wrap="square" lIns="36576" rIns="36576" tIns="18288" bIns="18288">
            <a:spAutoFit/>
          </a:bodyPr>
          <a:lstStyle/>
          <a:p>
            <a:r>
              <a:rPr sz="1100" b="0">
                <a:solidFill>
                  <a:srgbClr val="94A3B8"/>
                </a:solidFill>
                <a:latin typeface="Segoe UI"/>
              </a:rPr>
              <a:t>All agents read on demand</a:t>
            </a:r>
          </a:p>
        </p:txBody>
      </p:sp>
      <p:sp>
        <p:nvSpPr>
          <p:cNvPr id="16" name="TextBox 15"/>
          <p:cNvSpPr txBox="1"/>
          <p:nvPr/>
        </p:nvSpPr>
        <p:spPr>
          <a:xfrm>
            <a:off x="7498079" y="1965960"/>
            <a:ext cx="4007815" cy="274320"/>
          </a:xfrm>
          <a:prstGeom prst="rect">
            <a:avLst/>
          </a:prstGeom>
          <a:noFill/>
        </p:spPr>
        <p:txBody>
          <a:bodyPr wrap="square" lIns="36576" rIns="36576" tIns="18288" bIns="18288">
            <a:spAutoFit/>
          </a:bodyPr>
          <a:lstStyle/>
          <a:p>
            <a:r>
              <a:rPr sz="900" b="1">
                <a:solidFill>
                  <a:srgbClr val="FBBF24"/>
                </a:solidFill>
                <a:latin typeface="Segoe UI Semibold"/>
              </a:rPr>
              <a:t>EXAMPLES</a:t>
            </a:r>
          </a:p>
        </p:txBody>
      </p:sp>
      <p:sp>
        <p:nvSpPr>
          <p:cNvPr id="17" name="TextBox 16"/>
          <p:cNvSpPr txBox="1"/>
          <p:nvPr/>
        </p:nvSpPr>
        <p:spPr>
          <a:xfrm>
            <a:off x="7498079" y="2240279"/>
            <a:ext cx="4007815" cy="960120"/>
          </a:xfrm>
          <a:prstGeom prst="rect">
            <a:avLst/>
          </a:prstGeom>
          <a:noFill/>
        </p:spPr>
        <p:txBody>
          <a:bodyPr wrap="square" lIns="18288" rIns="18288">
            <a:spAutoFit/>
          </a:bodyPr>
          <a:lstStyle/>
          <a:p>
            <a:pPr>
              <a:spcAft>
                <a:spcPts val="200"/>
              </a:spcAft>
            </a:pPr>
            <a:r>
              <a:rPr sz="1100" b="1">
                <a:solidFill>
                  <a:srgbClr val="FBBF24"/>
                </a:solidFill>
                <a:latin typeface="Segoe UI"/>
              </a:rPr>
              <a:t>▸  </a:t>
            </a:r>
            <a:r>
              <a:rPr sz="1100">
                <a:solidFill>
                  <a:srgbClr val="CBD5E1"/>
                </a:solidFill>
                <a:latin typeface="Segoe UI"/>
              </a:rPr>
              <a:t>“How to set up CI with GitHub Actions”</a:t>
            </a:r>
          </a:p>
          <a:p>
            <a:pPr>
              <a:spcAft>
                <a:spcPts val="200"/>
              </a:spcAft>
            </a:pPr>
            <a:r>
              <a:rPr sz="1100" b="1">
                <a:solidFill>
                  <a:srgbClr val="FBBF24"/>
                </a:solidFill>
                <a:latin typeface="Segoe UI"/>
              </a:rPr>
              <a:t>▸  </a:t>
            </a:r>
            <a:r>
              <a:rPr sz="1100">
                <a:solidFill>
                  <a:srgbClr val="CBD5E1"/>
                </a:solidFill>
                <a:latin typeface="Segoe UI"/>
              </a:rPr>
              <a:t>“Deploy to Azure Container Apps”</a:t>
            </a:r>
          </a:p>
          <a:p>
            <a:pPr>
              <a:spcAft>
                <a:spcPts val="200"/>
              </a:spcAft>
            </a:pPr>
            <a:r>
              <a:rPr sz="1100" b="1">
                <a:solidFill>
                  <a:srgbClr val="FBBF24"/>
                </a:solidFill>
                <a:latin typeface="Segoe UI"/>
              </a:rPr>
              <a:t>▸  </a:t>
            </a:r>
            <a:r>
              <a:rPr sz="1100">
                <a:solidFill>
                  <a:srgbClr val="CBD5E1"/>
                </a:solidFill>
                <a:latin typeface="Segoe UI"/>
              </a:rPr>
              <a:t>“Reviewer protocol for security PRs”</a:t>
            </a:r>
          </a:p>
        </p:txBody>
      </p:sp>
      <p:sp>
        <p:nvSpPr>
          <p:cNvPr id="18" name="Rounded Rectangle 17"/>
          <p:cNvSpPr/>
          <p:nvPr/>
        </p:nvSpPr>
        <p:spPr>
          <a:xfrm>
            <a:off x="548640" y="3456432"/>
            <a:ext cx="11094415" cy="14173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456432"/>
            <a:ext cx="164592" cy="14173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621024"/>
            <a:ext cx="594360" cy="502920"/>
          </a:xfrm>
          <a:prstGeom prst="rect">
            <a:avLst/>
          </a:prstGeom>
          <a:noFill/>
        </p:spPr>
        <p:txBody>
          <a:bodyPr wrap="square" lIns="36576" rIns="36576" tIns="18288" bIns="18288" anchor="ctr">
            <a:spAutoFit/>
          </a:bodyPr>
          <a:lstStyle/>
          <a:p>
            <a:r>
              <a:rPr sz="2400" b="1">
                <a:solidFill>
                  <a:srgbClr val="38BDF8"/>
                </a:solidFill>
                <a:latin typeface="Segoe UI"/>
              </a:rPr>
              <a:t>✎</a:t>
            </a:r>
          </a:p>
        </p:txBody>
      </p:sp>
      <p:sp>
        <p:nvSpPr>
          <p:cNvPr id="21" name="TextBox 20"/>
          <p:cNvSpPr txBox="1"/>
          <p:nvPr/>
        </p:nvSpPr>
        <p:spPr>
          <a:xfrm>
            <a:off x="1508760" y="3621024"/>
            <a:ext cx="2468880" cy="502920"/>
          </a:xfrm>
          <a:prstGeom prst="rect">
            <a:avLst/>
          </a:prstGeom>
          <a:noFill/>
        </p:spPr>
        <p:txBody>
          <a:bodyPr wrap="square" lIns="36576" rIns="36576" tIns="18288" bIns="18288" anchor="ctr">
            <a:spAutoFit/>
          </a:bodyPr>
          <a:lstStyle/>
          <a:p>
            <a:r>
              <a:rPr sz="2000" b="1">
                <a:solidFill>
                  <a:srgbClr val="F8FAFC"/>
                </a:solidFill>
                <a:latin typeface="Segoe UI"/>
              </a:rPr>
              <a:t>Shared decisions</a:t>
            </a:r>
          </a:p>
        </p:txBody>
      </p:sp>
      <p:sp>
        <p:nvSpPr>
          <p:cNvPr id="22" name="TextBox 21"/>
          <p:cNvSpPr txBox="1"/>
          <p:nvPr/>
        </p:nvSpPr>
        <p:spPr>
          <a:xfrm>
            <a:off x="914400" y="4169663"/>
            <a:ext cx="3108960" cy="320040"/>
          </a:xfrm>
          <a:prstGeom prst="rect">
            <a:avLst/>
          </a:prstGeom>
          <a:noFill/>
        </p:spPr>
        <p:txBody>
          <a:bodyPr wrap="square" lIns="36576" rIns="36576" tIns="18288" bIns="18288">
            <a:spAutoFit/>
          </a:bodyPr>
          <a:lstStyle/>
          <a:p>
            <a:r>
              <a:rPr sz="1100" b="0">
                <a:solidFill>
                  <a:srgbClr val="CBD5E1"/>
                </a:solidFill>
                <a:latin typeface="Segoe UI"/>
              </a:rPr>
              <a:t>Team-wide rules • Every agent reads at spawn</a:t>
            </a:r>
          </a:p>
        </p:txBody>
      </p:sp>
      <p:sp>
        <p:nvSpPr>
          <p:cNvPr id="23" name="TextBox 22"/>
          <p:cNvSpPr txBox="1"/>
          <p:nvPr/>
        </p:nvSpPr>
        <p:spPr>
          <a:xfrm>
            <a:off x="4023360" y="3657600"/>
            <a:ext cx="3291840" cy="365760"/>
          </a:xfrm>
          <a:prstGeom prst="rect">
            <a:avLst/>
          </a:prstGeom>
          <a:noFill/>
        </p:spPr>
        <p:txBody>
          <a:bodyPr wrap="square" lIns="36576" rIns="36576" tIns="18288" bIns="18288">
            <a:spAutoFit/>
          </a:bodyPr>
          <a:lstStyle/>
          <a:p>
            <a:r>
              <a:rPr sz="1200" b="1">
                <a:solidFill>
                  <a:srgbClr val="38BDF8"/>
                </a:solidFill>
                <a:latin typeface="Consolas"/>
              </a:rPr>
              <a:t>.squad/decisions.md</a:t>
            </a:r>
          </a:p>
        </p:txBody>
      </p:sp>
      <p:sp>
        <p:nvSpPr>
          <p:cNvPr id="24" name="TextBox 23"/>
          <p:cNvSpPr txBox="1"/>
          <p:nvPr/>
        </p:nvSpPr>
        <p:spPr>
          <a:xfrm>
            <a:off x="4023360" y="4050791"/>
            <a:ext cx="3291840" cy="292608"/>
          </a:xfrm>
          <a:prstGeom prst="rect">
            <a:avLst/>
          </a:prstGeom>
          <a:noFill/>
        </p:spPr>
        <p:txBody>
          <a:bodyPr wrap="square" lIns="36576" rIns="36576" tIns="18288" bIns="18288">
            <a:spAutoFit/>
          </a:bodyPr>
          <a:lstStyle/>
          <a:p>
            <a:r>
              <a:rPr sz="1100" b="0">
                <a:solidFill>
                  <a:srgbClr val="94A3B8"/>
                </a:solidFill>
                <a:latin typeface="Segoe UI"/>
              </a:rPr>
              <a:t>All agents — always loaded</a:t>
            </a:r>
          </a:p>
        </p:txBody>
      </p:sp>
      <p:sp>
        <p:nvSpPr>
          <p:cNvPr id="25" name="TextBox 24"/>
          <p:cNvSpPr txBox="1"/>
          <p:nvPr/>
        </p:nvSpPr>
        <p:spPr>
          <a:xfrm>
            <a:off x="7498079" y="3547872"/>
            <a:ext cx="4007815" cy="274320"/>
          </a:xfrm>
          <a:prstGeom prst="rect">
            <a:avLst/>
          </a:prstGeom>
          <a:noFill/>
        </p:spPr>
        <p:txBody>
          <a:bodyPr wrap="square" lIns="36576" rIns="36576" tIns="18288" bIns="18288">
            <a:spAutoFit/>
          </a:bodyPr>
          <a:lstStyle/>
          <a:p>
            <a:r>
              <a:rPr sz="900" b="1">
                <a:solidFill>
                  <a:srgbClr val="38BDF8"/>
                </a:solidFill>
                <a:latin typeface="Segoe UI Semibold"/>
              </a:rPr>
              <a:t>EXAMPLES</a:t>
            </a:r>
          </a:p>
        </p:txBody>
      </p:sp>
      <p:sp>
        <p:nvSpPr>
          <p:cNvPr id="26" name="TextBox 25"/>
          <p:cNvSpPr txBox="1"/>
          <p:nvPr/>
        </p:nvSpPr>
        <p:spPr>
          <a:xfrm>
            <a:off x="7498079" y="3822191"/>
            <a:ext cx="4007815" cy="960120"/>
          </a:xfrm>
          <a:prstGeom prst="rect">
            <a:avLst/>
          </a:prstGeom>
          <a:noFill/>
        </p:spPr>
        <p:txBody>
          <a:bodyPr wrap="square" lIns="18288" rIns="18288">
            <a:spAutoFit/>
          </a:bodyPr>
          <a:lstStyle/>
          <a:p>
            <a:pPr>
              <a:spcAft>
                <a:spcPts val="200"/>
              </a:spcAft>
            </a:pPr>
            <a:r>
              <a:rPr sz="1100" b="1">
                <a:solidFill>
                  <a:srgbClr val="38BDF8"/>
                </a:solidFill>
                <a:latin typeface="Segoe UI"/>
              </a:rPr>
              <a:t>▸  </a:t>
            </a:r>
            <a:r>
              <a:rPr sz="1100">
                <a:solidFill>
                  <a:srgbClr val="CBD5E1"/>
                </a:solidFill>
                <a:latin typeface="Segoe UI"/>
              </a:rPr>
              <a:t>“Use PostgreSQL for primary storage”</a:t>
            </a:r>
          </a:p>
          <a:p>
            <a:pPr>
              <a:spcAft>
                <a:spcPts val="200"/>
              </a:spcAft>
            </a:pPr>
            <a:r>
              <a:rPr sz="1100" b="1">
                <a:solidFill>
                  <a:srgbClr val="38BDF8"/>
                </a:solidFill>
                <a:latin typeface="Segoe UI"/>
              </a:rPr>
              <a:t>▸  </a:t>
            </a:r>
            <a:r>
              <a:rPr sz="1100">
                <a:solidFill>
                  <a:srgbClr val="CBD5E1"/>
                </a:solidFill>
                <a:latin typeface="Segoe UI"/>
              </a:rPr>
              <a:t>“No Friday deploys”</a:t>
            </a:r>
          </a:p>
          <a:p>
            <a:pPr>
              <a:spcAft>
                <a:spcPts val="200"/>
              </a:spcAft>
            </a:pPr>
            <a:r>
              <a:rPr sz="1100" b="1">
                <a:solidFill>
                  <a:srgbClr val="38BDF8"/>
                </a:solidFill>
                <a:latin typeface="Segoe UI"/>
              </a:rPr>
              <a:t>▸  </a:t>
            </a:r>
            <a:r>
              <a:rPr sz="1100">
                <a:solidFill>
                  <a:srgbClr val="CBD5E1"/>
                </a:solidFill>
                <a:latin typeface="Segoe UI"/>
              </a:rPr>
              <a:t>“Always run SDK tests before merging”</a:t>
            </a:r>
          </a:p>
        </p:txBody>
      </p:sp>
      <p:sp>
        <p:nvSpPr>
          <p:cNvPr id="27" name="Rounded Rectangle 26"/>
          <p:cNvSpPr/>
          <p:nvPr/>
        </p:nvSpPr>
        <p:spPr>
          <a:xfrm>
            <a:off x="548640" y="5038344"/>
            <a:ext cx="11094415" cy="14173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038344"/>
            <a:ext cx="164592" cy="14173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202936"/>
            <a:ext cx="594360" cy="502920"/>
          </a:xfrm>
          <a:prstGeom prst="rect">
            <a:avLst/>
          </a:prstGeom>
          <a:noFill/>
        </p:spPr>
        <p:txBody>
          <a:bodyPr wrap="square" lIns="36576" rIns="36576" tIns="18288" bIns="18288" anchor="ctr">
            <a:spAutoFit/>
          </a:bodyPr>
          <a:lstStyle/>
          <a:p>
            <a:r>
              <a:rPr sz="2400" b="1">
                <a:solidFill>
                  <a:srgbClr val="34D399"/>
                </a:solidFill>
                <a:latin typeface="Segoe UI"/>
              </a:rPr>
              <a:t>☸</a:t>
            </a:r>
          </a:p>
        </p:txBody>
      </p:sp>
      <p:sp>
        <p:nvSpPr>
          <p:cNvPr id="30" name="TextBox 29"/>
          <p:cNvSpPr txBox="1"/>
          <p:nvPr/>
        </p:nvSpPr>
        <p:spPr>
          <a:xfrm>
            <a:off x="1508760" y="5202936"/>
            <a:ext cx="2468880" cy="502920"/>
          </a:xfrm>
          <a:prstGeom prst="rect">
            <a:avLst/>
          </a:prstGeom>
          <a:noFill/>
        </p:spPr>
        <p:txBody>
          <a:bodyPr wrap="square" lIns="36576" rIns="36576" tIns="18288" bIns="18288" anchor="ctr">
            <a:spAutoFit/>
          </a:bodyPr>
          <a:lstStyle/>
          <a:p>
            <a:r>
              <a:rPr sz="2000" b="1">
                <a:solidFill>
                  <a:srgbClr val="F8FAFC"/>
                </a:solidFill>
                <a:latin typeface="Segoe UI"/>
              </a:rPr>
              <a:t>Personal history</a:t>
            </a:r>
          </a:p>
        </p:txBody>
      </p:sp>
      <p:sp>
        <p:nvSpPr>
          <p:cNvPr id="31" name="TextBox 30"/>
          <p:cNvSpPr txBox="1"/>
          <p:nvPr/>
        </p:nvSpPr>
        <p:spPr>
          <a:xfrm>
            <a:off x="914400" y="5751576"/>
            <a:ext cx="3108960" cy="320040"/>
          </a:xfrm>
          <a:prstGeom prst="rect">
            <a:avLst/>
          </a:prstGeom>
          <a:noFill/>
        </p:spPr>
        <p:txBody>
          <a:bodyPr wrap="square" lIns="36576" rIns="36576" tIns="18288" bIns="18288">
            <a:spAutoFit/>
          </a:bodyPr>
          <a:lstStyle/>
          <a:p>
            <a:r>
              <a:rPr sz="1100" b="0">
                <a:solidFill>
                  <a:srgbClr val="CBD5E1"/>
                </a:solidFill>
                <a:latin typeface="Segoe UI"/>
              </a:rPr>
              <a:t>Per-agent domain memory • Owner-only</a:t>
            </a:r>
          </a:p>
        </p:txBody>
      </p:sp>
      <p:sp>
        <p:nvSpPr>
          <p:cNvPr id="32" name="TextBox 31"/>
          <p:cNvSpPr txBox="1"/>
          <p:nvPr/>
        </p:nvSpPr>
        <p:spPr>
          <a:xfrm>
            <a:off x="4023360" y="5239512"/>
            <a:ext cx="3291840" cy="365760"/>
          </a:xfrm>
          <a:prstGeom prst="rect">
            <a:avLst/>
          </a:prstGeom>
          <a:noFill/>
        </p:spPr>
        <p:txBody>
          <a:bodyPr wrap="square" lIns="36576" rIns="36576" tIns="18288" bIns="18288">
            <a:spAutoFit/>
          </a:bodyPr>
          <a:lstStyle/>
          <a:p>
            <a:r>
              <a:rPr sz="1200" b="1">
                <a:solidFill>
                  <a:srgbClr val="34D399"/>
                </a:solidFill>
                <a:latin typeface="Consolas"/>
              </a:rPr>
              <a:t>.squad/agents/{name}/history.md</a:t>
            </a:r>
          </a:p>
        </p:txBody>
      </p:sp>
      <p:sp>
        <p:nvSpPr>
          <p:cNvPr id="33" name="TextBox 32"/>
          <p:cNvSpPr txBox="1"/>
          <p:nvPr/>
        </p:nvSpPr>
        <p:spPr>
          <a:xfrm>
            <a:off x="4023360" y="5632704"/>
            <a:ext cx="3291840" cy="292608"/>
          </a:xfrm>
          <a:prstGeom prst="rect">
            <a:avLst/>
          </a:prstGeom>
          <a:noFill/>
        </p:spPr>
        <p:txBody>
          <a:bodyPr wrap="square" lIns="36576" rIns="36576" tIns="18288" bIns="18288">
            <a:spAutoFit/>
          </a:bodyPr>
          <a:lstStyle/>
          <a:p>
            <a:r>
              <a:rPr sz="1100" b="0">
                <a:solidFill>
                  <a:srgbClr val="94A3B8"/>
                </a:solidFill>
                <a:latin typeface="Segoe UI"/>
              </a:rPr>
              <a:t>Only the owning agent reads</a:t>
            </a:r>
          </a:p>
        </p:txBody>
      </p:sp>
      <p:sp>
        <p:nvSpPr>
          <p:cNvPr id="34" name="TextBox 33"/>
          <p:cNvSpPr txBox="1"/>
          <p:nvPr/>
        </p:nvSpPr>
        <p:spPr>
          <a:xfrm>
            <a:off x="7498079" y="5129783"/>
            <a:ext cx="4007815" cy="274320"/>
          </a:xfrm>
          <a:prstGeom prst="rect">
            <a:avLst/>
          </a:prstGeom>
          <a:noFill/>
        </p:spPr>
        <p:txBody>
          <a:bodyPr wrap="square" lIns="36576" rIns="36576" tIns="18288" bIns="18288">
            <a:spAutoFit/>
          </a:bodyPr>
          <a:lstStyle/>
          <a:p>
            <a:r>
              <a:rPr sz="900" b="1">
                <a:solidFill>
                  <a:srgbClr val="34D399"/>
                </a:solidFill>
                <a:latin typeface="Segoe UI Semibold"/>
              </a:rPr>
              <a:t>EXAMPLES</a:t>
            </a:r>
          </a:p>
        </p:txBody>
      </p:sp>
      <p:sp>
        <p:nvSpPr>
          <p:cNvPr id="35" name="TextBox 34"/>
          <p:cNvSpPr txBox="1"/>
          <p:nvPr/>
        </p:nvSpPr>
        <p:spPr>
          <a:xfrm>
            <a:off x="7498079" y="5404104"/>
            <a:ext cx="4007815" cy="960120"/>
          </a:xfrm>
          <a:prstGeom prst="rect">
            <a:avLst/>
          </a:prstGeom>
          <a:noFill/>
        </p:spPr>
        <p:txBody>
          <a:bodyPr wrap="square" lIns="18288" rIns="18288">
            <a:spAutoFit/>
          </a:bodyPr>
          <a:lstStyle/>
          <a:p>
            <a:pPr>
              <a:spcAft>
                <a:spcPts val="200"/>
              </a:spcAft>
            </a:pPr>
            <a:r>
              <a:rPr sz="1100" b="1">
                <a:solidFill>
                  <a:srgbClr val="34D399"/>
                </a:solidFill>
                <a:latin typeface="Segoe UI"/>
              </a:rPr>
              <a:t>▸  </a:t>
            </a:r>
            <a:r>
              <a:rPr sz="1100">
                <a:solidFill>
                  <a:srgbClr val="CBD5E1"/>
                </a:solidFill>
                <a:latin typeface="Segoe UI"/>
              </a:rPr>
              <a:t>Kane: “Auth uses JWT, refresh tokens in Redis”</a:t>
            </a:r>
          </a:p>
          <a:p>
            <a:pPr>
              <a:spcAft>
                <a:spcPts val="200"/>
              </a:spcAft>
            </a:pPr>
            <a:r>
              <a:rPr sz="1100" b="1">
                <a:solidFill>
                  <a:srgbClr val="34D399"/>
                </a:solidFill>
                <a:latin typeface="Segoe UI"/>
              </a:rPr>
              <a:t>▸  </a:t>
            </a:r>
            <a:r>
              <a:rPr sz="1100">
                <a:solidFill>
                  <a:srgbClr val="CBD5E1"/>
                </a:solidFill>
                <a:latin typeface="Segoe UI"/>
              </a:rPr>
              <a:t>Dallas: “UI tokens in src/theme/tokens.ts”</a:t>
            </a:r>
          </a:p>
          <a:p>
            <a:pPr>
              <a:spcAft>
                <a:spcPts val="200"/>
              </a:spcAft>
            </a:pPr>
            <a:r>
              <a:rPr sz="1100" b="1">
                <a:solidFill>
                  <a:srgbClr val="34D399"/>
                </a:solidFill>
                <a:latin typeface="Segoe UI"/>
              </a:rPr>
              <a:t>▸  </a:t>
            </a:r>
            <a:r>
              <a:rPr sz="1100">
                <a:solidFill>
                  <a:srgbClr val="CBD5E1"/>
                </a:solidFill>
                <a:latin typeface="Segoe UI"/>
              </a:rPr>
              <a:t>Lambert: “Flaky test pattern in checkout.spec”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08</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0.10 MEMORY MODEL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Memory has a class — and the class implies how it loads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Decided at write time. Used at read time.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packages/squad-sdk/src/memory/index.ts:5-13, 428-440</a:t>
            </a:r>
          </a:p>
        </p:txBody>
      </p:sp>
      <p:sp>
        <p:nvSpPr>
          <p:cNvPr id="9" name="Rounded Rectangle 8"/>
          <p:cNvSpPr/>
          <p:nvPr/>
        </p:nvSpPr>
        <p:spPr>
          <a:xfrm>
            <a:off x="548640" y="1874519"/>
            <a:ext cx="3588410" cy="1600200"/>
          </a:xfrm>
          <a:prstGeom prst="roundRect">
            <a:avLst/>
          </a:prstGeom>
          <a:solidFill>
            <a:srgbClr val="0F2338"/>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358841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3222650" cy="457200"/>
          </a:xfrm>
          <a:prstGeom prst="rect">
            <a:avLst/>
          </a:prstGeom>
          <a:noFill/>
        </p:spPr>
        <p:txBody>
          <a:bodyPr wrap="square" lIns="36576" rIns="36576" tIns="18288" bIns="18288">
            <a:spAutoFit/>
          </a:bodyPr>
          <a:lstStyle/>
          <a:p>
            <a:r>
              <a:rPr sz="1500" b="1">
                <a:solidFill>
                  <a:srgbClr val="FB7185"/>
                </a:solidFill>
                <a:latin typeface="Consolas"/>
              </a:rPr>
              <a:t>TRANSIENT</a:t>
            </a:r>
          </a:p>
        </p:txBody>
      </p:sp>
      <p:sp>
        <p:nvSpPr>
          <p:cNvPr id="12" name="TextBox 11"/>
          <p:cNvSpPr txBox="1"/>
          <p:nvPr/>
        </p:nvSpPr>
        <p:spPr>
          <a:xfrm>
            <a:off x="731520" y="2514600"/>
            <a:ext cx="3222650" cy="457200"/>
          </a:xfrm>
          <a:prstGeom prst="rect">
            <a:avLst/>
          </a:prstGeom>
          <a:noFill/>
        </p:spPr>
        <p:txBody>
          <a:bodyPr wrap="square" lIns="36576" rIns="36576" tIns="18288" bIns="18288">
            <a:spAutoFit/>
          </a:bodyPr>
          <a:lstStyle/>
          <a:p>
            <a:r>
              <a:rPr sz="1300" b="0">
                <a:solidFill>
                  <a:srgbClr val="F8FAFC"/>
                </a:solidFill>
                <a:latin typeface="Segoe UI"/>
              </a:rPr>
              <a:t>Scratch / task-local</a:t>
            </a:r>
          </a:p>
        </p:txBody>
      </p:sp>
      <p:sp>
        <p:nvSpPr>
          <p:cNvPr id="13" name="TextBox 12"/>
          <p:cNvSpPr txBox="1"/>
          <p:nvPr/>
        </p:nvSpPr>
        <p:spPr>
          <a:xfrm>
            <a:off x="731520" y="2971800"/>
            <a:ext cx="3222650" cy="365760"/>
          </a:xfrm>
          <a:prstGeom prst="rect">
            <a:avLst/>
          </a:prstGeom>
          <a:noFill/>
        </p:spPr>
        <p:txBody>
          <a:bodyPr wrap="square" lIns="36576" rIns="36576" tIns="18288" bIns="18288">
            <a:spAutoFit/>
          </a:bodyPr>
          <a:lstStyle/>
          <a:p>
            <a:r>
              <a:rPr sz="1200" b="0">
                <a:solidFill>
                  <a:srgbClr val="94A3B8"/>
                </a:solidFill>
                <a:latin typeface="Consolas"/>
              </a:rPr>
              <a:t>loads: NEVER</a:t>
            </a:r>
          </a:p>
        </p:txBody>
      </p:sp>
      <p:sp>
        <p:nvSpPr>
          <p:cNvPr id="14" name="Rounded Rectangle 13"/>
          <p:cNvSpPr/>
          <p:nvPr/>
        </p:nvSpPr>
        <p:spPr>
          <a:xfrm>
            <a:off x="4301642" y="1874519"/>
            <a:ext cx="3588410" cy="1600200"/>
          </a:xfrm>
          <a:prstGeom prst="roundRect">
            <a:avLst/>
          </a:prstGeom>
          <a:solidFill>
            <a:srgbClr val="0F2338"/>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874519"/>
            <a:ext cx="358841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4522" y="2039112"/>
            <a:ext cx="3222650" cy="457200"/>
          </a:xfrm>
          <a:prstGeom prst="rect">
            <a:avLst/>
          </a:prstGeom>
          <a:noFill/>
        </p:spPr>
        <p:txBody>
          <a:bodyPr wrap="square" lIns="36576" rIns="36576" tIns="18288" bIns="18288">
            <a:spAutoFit/>
          </a:bodyPr>
          <a:lstStyle/>
          <a:p>
            <a:r>
              <a:rPr sz="1500" b="1">
                <a:solidFill>
                  <a:srgbClr val="34D399"/>
                </a:solidFill>
                <a:latin typeface="Consolas"/>
              </a:rPr>
              <a:t>LOCAL</a:t>
            </a:r>
          </a:p>
        </p:txBody>
      </p:sp>
      <p:sp>
        <p:nvSpPr>
          <p:cNvPr id="17" name="TextBox 16"/>
          <p:cNvSpPr txBox="1"/>
          <p:nvPr/>
        </p:nvSpPr>
        <p:spPr>
          <a:xfrm>
            <a:off x="4484522" y="2514600"/>
            <a:ext cx="3222650" cy="457200"/>
          </a:xfrm>
          <a:prstGeom prst="rect">
            <a:avLst/>
          </a:prstGeom>
          <a:noFill/>
        </p:spPr>
        <p:txBody>
          <a:bodyPr wrap="square" lIns="36576" rIns="36576" tIns="18288" bIns="18288">
            <a:spAutoFit/>
          </a:bodyPr>
          <a:lstStyle/>
          <a:p>
            <a:r>
              <a:rPr sz="1300" b="0">
                <a:solidFill>
                  <a:srgbClr val="F8FAFC"/>
                </a:solidFill>
                <a:latin typeface="Segoe UI"/>
              </a:rPr>
              <a:t>Safe local fact</a:t>
            </a:r>
          </a:p>
        </p:txBody>
      </p:sp>
      <p:sp>
        <p:nvSpPr>
          <p:cNvPr id="18" name="TextBox 17"/>
          <p:cNvSpPr txBox="1"/>
          <p:nvPr/>
        </p:nvSpPr>
        <p:spPr>
          <a:xfrm>
            <a:off x="4484522" y="2971800"/>
            <a:ext cx="3222650" cy="365760"/>
          </a:xfrm>
          <a:prstGeom prst="rect">
            <a:avLst/>
          </a:prstGeom>
          <a:noFill/>
        </p:spPr>
        <p:txBody>
          <a:bodyPr wrap="square" lIns="36576" rIns="36576" tIns="18288" bIns="18288">
            <a:spAutoFit/>
          </a:bodyPr>
          <a:lstStyle/>
          <a:p>
            <a:r>
              <a:rPr sz="1200" b="0">
                <a:solidFill>
                  <a:srgbClr val="94A3B8"/>
                </a:solidFill>
                <a:latin typeface="Consolas"/>
              </a:rPr>
              <a:t>loads: ON-DEMAND</a:t>
            </a:r>
          </a:p>
        </p:txBody>
      </p:sp>
      <p:sp>
        <p:nvSpPr>
          <p:cNvPr id="19" name="Rounded Rectangle 18"/>
          <p:cNvSpPr/>
          <p:nvPr/>
        </p:nvSpPr>
        <p:spPr>
          <a:xfrm>
            <a:off x="8054644" y="1874519"/>
            <a:ext cx="3588410" cy="160020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874519"/>
            <a:ext cx="358841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7524" y="2039112"/>
            <a:ext cx="3222650" cy="457200"/>
          </a:xfrm>
          <a:prstGeom prst="rect">
            <a:avLst/>
          </a:prstGeom>
          <a:noFill/>
        </p:spPr>
        <p:txBody>
          <a:bodyPr wrap="square" lIns="36576" rIns="36576" tIns="18288" bIns="18288">
            <a:spAutoFit/>
          </a:bodyPr>
          <a:lstStyle/>
          <a:p>
            <a:r>
              <a:rPr sz="1500" b="1">
                <a:solidFill>
                  <a:srgbClr val="38BDF8"/>
                </a:solidFill>
                <a:latin typeface="Consolas"/>
              </a:rPr>
              <a:t>DECISION</a:t>
            </a:r>
          </a:p>
        </p:txBody>
      </p:sp>
      <p:sp>
        <p:nvSpPr>
          <p:cNvPr id="22" name="TextBox 21"/>
          <p:cNvSpPr txBox="1"/>
          <p:nvPr/>
        </p:nvSpPr>
        <p:spPr>
          <a:xfrm>
            <a:off x="8237524" y="2514600"/>
            <a:ext cx="3222650" cy="457200"/>
          </a:xfrm>
          <a:prstGeom prst="rect">
            <a:avLst/>
          </a:prstGeom>
          <a:noFill/>
        </p:spPr>
        <p:txBody>
          <a:bodyPr wrap="square" lIns="36576" rIns="36576" tIns="18288" bIns="18288">
            <a:spAutoFit/>
          </a:bodyPr>
          <a:lstStyle/>
          <a:p>
            <a:r>
              <a:rPr sz="1300" b="0">
                <a:solidFill>
                  <a:srgbClr val="F8FAFC"/>
                </a:solidFill>
                <a:latin typeface="Segoe UI"/>
              </a:rPr>
              <a:t>Candidate team truth</a:t>
            </a:r>
          </a:p>
        </p:txBody>
      </p:sp>
      <p:sp>
        <p:nvSpPr>
          <p:cNvPr id="23" name="TextBox 22"/>
          <p:cNvSpPr txBox="1"/>
          <p:nvPr/>
        </p:nvSpPr>
        <p:spPr>
          <a:xfrm>
            <a:off x="8237524" y="2971800"/>
            <a:ext cx="3222650" cy="365760"/>
          </a:xfrm>
          <a:prstGeom prst="rect">
            <a:avLst/>
          </a:prstGeom>
          <a:noFill/>
        </p:spPr>
        <p:txBody>
          <a:bodyPr wrap="square" lIns="36576" rIns="36576" tIns="18288" bIns="18288">
            <a:spAutoFit/>
          </a:bodyPr>
          <a:lstStyle/>
          <a:p>
            <a:r>
              <a:rPr sz="1200" b="0">
                <a:solidFill>
                  <a:srgbClr val="94A3B8"/>
                </a:solidFill>
                <a:latin typeface="Consolas"/>
              </a:rPr>
              <a:t>loads: ALWAYS</a:t>
            </a:r>
          </a:p>
        </p:txBody>
      </p:sp>
      <p:sp>
        <p:nvSpPr>
          <p:cNvPr id="24" name="Rounded Rectangle 23"/>
          <p:cNvSpPr/>
          <p:nvPr/>
        </p:nvSpPr>
        <p:spPr>
          <a:xfrm>
            <a:off x="548640" y="3657600"/>
            <a:ext cx="3588410" cy="1600200"/>
          </a:xfrm>
          <a:prstGeom prst="roundRect">
            <a:avLst/>
          </a:prstGeom>
          <a:solidFill>
            <a:srgbClr val="0F2338"/>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57600"/>
            <a:ext cx="358841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22191"/>
            <a:ext cx="3222650" cy="457200"/>
          </a:xfrm>
          <a:prstGeom prst="rect">
            <a:avLst/>
          </a:prstGeom>
          <a:noFill/>
        </p:spPr>
        <p:txBody>
          <a:bodyPr wrap="square" lIns="36576" rIns="36576" tIns="18288" bIns="18288">
            <a:spAutoFit/>
          </a:bodyPr>
          <a:lstStyle/>
          <a:p>
            <a:r>
              <a:rPr sz="1500" b="1">
                <a:solidFill>
                  <a:srgbClr val="FBBF24"/>
                </a:solidFill>
                <a:latin typeface="Consolas"/>
              </a:rPr>
              <a:t>POLICY</a:t>
            </a:r>
          </a:p>
        </p:txBody>
      </p:sp>
      <p:sp>
        <p:nvSpPr>
          <p:cNvPr id="27" name="TextBox 26"/>
          <p:cNvSpPr txBox="1"/>
          <p:nvPr/>
        </p:nvSpPr>
        <p:spPr>
          <a:xfrm>
            <a:off x="731520" y="4297680"/>
            <a:ext cx="3222650" cy="457200"/>
          </a:xfrm>
          <a:prstGeom prst="rect">
            <a:avLst/>
          </a:prstGeom>
          <a:noFill/>
        </p:spPr>
        <p:txBody>
          <a:bodyPr wrap="square" lIns="36576" rIns="36576" tIns="18288" bIns="18288">
            <a:spAutoFit/>
          </a:bodyPr>
          <a:lstStyle/>
          <a:p>
            <a:r>
              <a:rPr sz="1300" b="0">
                <a:solidFill>
                  <a:srgbClr val="F8FAFC"/>
                </a:solidFill>
                <a:latin typeface="Segoe UI"/>
              </a:rPr>
              <a:t>Future behavior rule</a:t>
            </a:r>
          </a:p>
        </p:txBody>
      </p:sp>
      <p:sp>
        <p:nvSpPr>
          <p:cNvPr id="28" name="TextBox 27"/>
          <p:cNvSpPr txBox="1"/>
          <p:nvPr/>
        </p:nvSpPr>
        <p:spPr>
          <a:xfrm>
            <a:off x="731520" y="4754880"/>
            <a:ext cx="3222650" cy="365760"/>
          </a:xfrm>
          <a:prstGeom prst="rect">
            <a:avLst/>
          </a:prstGeom>
          <a:noFill/>
        </p:spPr>
        <p:txBody>
          <a:bodyPr wrap="square" lIns="36576" rIns="36576" tIns="18288" bIns="18288">
            <a:spAutoFit/>
          </a:bodyPr>
          <a:lstStyle/>
          <a:p>
            <a:r>
              <a:rPr sz="1200" b="0">
                <a:solidFill>
                  <a:srgbClr val="94A3B8"/>
                </a:solidFill>
                <a:latin typeface="Consolas"/>
              </a:rPr>
              <a:t>loads: ALWAYS</a:t>
            </a:r>
          </a:p>
        </p:txBody>
      </p:sp>
      <p:sp>
        <p:nvSpPr>
          <p:cNvPr id="29" name="Rounded Rectangle 28"/>
          <p:cNvSpPr/>
          <p:nvPr/>
        </p:nvSpPr>
        <p:spPr>
          <a:xfrm>
            <a:off x="4301642" y="3657600"/>
            <a:ext cx="3588410" cy="160020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657600"/>
            <a:ext cx="358841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4522" y="3822191"/>
            <a:ext cx="3222650" cy="457200"/>
          </a:xfrm>
          <a:prstGeom prst="rect">
            <a:avLst/>
          </a:prstGeom>
          <a:noFill/>
        </p:spPr>
        <p:txBody>
          <a:bodyPr wrap="square" lIns="36576" rIns="36576" tIns="18288" bIns="18288">
            <a:spAutoFit/>
          </a:bodyPr>
          <a:lstStyle/>
          <a:p>
            <a:r>
              <a:rPr sz="1500" b="1">
                <a:solidFill>
                  <a:srgbClr val="A78BFA"/>
                </a:solidFill>
                <a:latin typeface="Consolas"/>
              </a:rPr>
              <a:t>COPILOT_MEMORY</a:t>
            </a:r>
          </a:p>
        </p:txBody>
      </p:sp>
      <p:sp>
        <p:nvSpPr>
          <p:cNvPr id="32" name="TextBox 31"/>
          <p:cNvSpPr txBox="1"/>
          <p:nvPr/>
        </p:nvSpPr>
        <p:spPr>
          <a:xfrm>
            <a:off x="4484522" y="4297680"/>
            <a:ext cx="3222650" cy="457200"/>
          </a:xfrm>
          <a:prstGeom prst="rect">
            <a:avLst/>
          </a:prstGeom>
          <a:noFill/>
        </p:spPr>
        <p:txBody>
          <a:bodyPr wrap="square" lIns="36576" rIns="36576" tIns="18288" bIns="18288">
            <a:spAutoFit/>
          </a:bodyPr>
          <a:lstStyle/>
          <a:p>
            <a:r>
              <a:rPr sz="1300" b="0">
                <a:solidFill>
                  <a:srgbClr val="F8FAFC"/>
                </a:solidFill>
                <a:latin typeface="Segoe UI"/>
              </a:rPr>
              <a:t>External semantic</a:t>
            </a:r>
          </a:p>
        </p:txBody>
      </p:sp>
      <p:sp>
        <p:nvSpPr>
          <p:cNvPr id="33" name="TextBox 32"/>
          <p:cNvSpPr txBox="1"/>
          <p:nvPr/>
        </p:nvSpPr>
        <p:spPr>
          <a:xfrm>
            <a:off x="4484522" y="4754880"/>
            <a:ext cx="3222650" cy="365760"/>
          </a:xfrm>
          <a:prstGeom prst="rect">
            <a:avLst/>
          </a:prstGeom>
          <a:noFill/>
        </p:spPr>
        <p:txBody>
          <a:bodyPr wrap="square" lIns="36576" rIns="36576" tIns="18288" bIns="18288">
            <a:spAutoFit/>
          </a:bodyPr>
          <a:lstStyle/>
          <a:p>
            <a:r>
              <a:rPr sz="1200" b="0">
                <a:solidFill>
                  <a:srgbClr val="94A3B8"/>
                </a:solidFill>
                <a:latin typeface="Consolas"/>
              </a:rPr>
              <a:t>loads: ON-DEMAND</a:t>
            </a:r>
          </a:p>
        </p:txBody>
      </p:sp>
      <p:sp>
        <p:nvSpPr>
          <p:cNvPr id="34" name="Rounded Rectangle 33"/>
          <p:cNvSpPr/>
          <p:nvPr/>
        </p:nvSpPr>
        <p:spPr>
          <a:xfrm>
            <a:off x="8054644" y="3657600"/>
            <a:ext cx="3588410" cy="1600200"/>
          </a:xfrm>
          <a:prstGeom prst="roundRect">
            <a:avLst/>
          </a:prstGeom>
          <a:solidFill>
            <a:srgbClr val="0F2338"/>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657600"/>
            <a:ext cx="358841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37524" y="3822191"/>
            <a:ext cx="3222650" cy="457200"/>
          </a:xfrm>
          <a:prstGeom prst="rect">
            <a:avLst/>
          </a:prstGeom>
          <a:noFill/>
        </p:spPr>
        <p:txBody>
          <a:bodyPr wrap="square" lIns="36576" rIns="36576" tIns="18288" bIns="18288">
            <a:spAutoFit/>
          </a:bodyPr>
          <a:lstStyle/>
          <a:p>
            <a:r>
              <a:rPr sz="1500" b="1">
                <a:solidFill>
                  <a:srgbClr val="FB7185"/>
                </a:solidFill>
                <a:latin typeface="Consolas"/>
              </a:rPr>
              <a:t>FORBIDDEN</a:t>
            </a:r>
          </a:p>
        </p:txBody>
      </p:sp>
      <p:sp>
        <p:nvSpPr>
          <p:cNvPr id="37" name="TextBox 36"/>
          <p:cNvSpPr txBox="1"/>
          <p:nvPr/>
        </p:nvSpPr>
        <p:spPr>
          <a:xfrm>
            <a:off x="8237524" y="4297680"/>
            <a:ext cx="3222650" cy="457200"/>
          </a:xfrm>
          <a:prstGeom prst="rect">
            <a:avLst/>
          </a:prstGeom>
          <a:noFill/>
        </p:spPr>
        <p:txBody>
          <a:bodyPr wrap="square" lIns="36576" rIns="36576" tIns="18288" bIns="18288">
            <a:spAutoFit/>
          </a:bodyPr>
          <a:lstStyle/>
          <a:p>
            <a:r>
              <a:rPr sz="1300" b="0">
                <a:solidFill>
                  <a:srgbClr val="F8FAFC"/>
                </a:solidFill>
                <a:latin typeface="Segoe UI"/>
              </a:rPr>
              <a:t>Secrets / unsafe</a:t>
            </a:r>
          </a:p>
        </p:txBody>
      </p:sp>
      <p:sp>
        <p:nvSpPr>
          <p:cNvPr id="38" name="TextBox 37"/>
          <p:cNvSpPr txBox="1"/>
          <p:nvPr/>
        </p:nvSpPr>
        <p:spPr>
          <a:xfrm>
            <a:off x="8237524" y="4754880"/>
            <a:ext cx="3222650" cy="365760"/>
          </a:xfrm>
          <a:prstGeom prst="rect">
            <a:avLst/>
          </a:prstGeom>
          <a:noFill/>
        </p:spPr>
        <p:txBody>
          <a:bodyPr wrap="square" lIns="36576" rIns="36576" tIns="18288" bIns="18288">
            <a:spAutoFit/>
          </a:bodyPr>
          <a:lstStyle/>
          <a:p>
            <a:r>
              <a:rPr sz="1200" b="0">
                <a:solidFill>
                  <a:srgbClr val="94A3B8"/>
                </a:solidFill>
                <a:latin typeface="Consolas"/>
              </a:rPr>
              <a:t>loads: NEVER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09</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THE FULL WRITE PATH</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From “I want to remember this” to bytes on disk</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Five layers, one direction. Agent calls a tool; the store classifies; providers store; the backend decides where.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LocalMemoryStore.write() in memory/index.ts:667-861 • MemoryProvider interface at :134-143 • StateBackendStorageAdapter at state-backend.ts:791-840</a:t>
            </a:r>
          </a:p>
        </p:txBody>
      </p:sp>
      <p:sp>
        <p:nvSpPr>
          <p:cNvPr id="9" name="Rounded Rectangle 8"/>
          <p:cNvSpPr/>
          <p:nvPr/>
        </p:nvSpPr>
        <p:spPr>
          <a:xfrm>
            <a:off x="548640" y="1874519"/>
            <a:ext cx="11094415" cy="841248"/>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64592" cy="841248"/>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65960"/>
            <a:ext cx="594360" cy="384048"/>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508760" y="1965960"/>
            <a:ext cx="3291840" cy="384048"/>
          </a:xfrm>
          <a:prstGeom prst="rect">
            <a:avLst/>
          </a:prstGeom>
          <a:noFill/>
        </p:spPr>
        <p:txBody>
          <a:bodyPr wrap="square" lIns="36576" rIns="36576" tIns="18288" bIns="18288" anchor="ctr">
            <a:spAutoFit/>
          </a:bodyPr>
          <a:lstStyle/>
          <a:p>
            <a:r>
              <a:rPr sz="1400" b="1">
                <a:solidFill>
                  <a:srgbClr val="F8FAFC"/>
                </a:solidFill>
                <a:latin typeface="Segoe UI"/>
              </a:rPr>
              <a:t>Agent</a:t>
            </a:r>
          </a:p>
        </p:txBody>
      </p:sp>
      <p:sp>
        <p:nvSpPr>
          <p:cNvPr id="13" name="TextBox 12"/>
          <p:cNvSpPr txBox="1"/>
          <p:nvPr/>
        </p:nvSpPr>
        <p:spPr>
          <a:xfrm>
            <a:off x="868680" y="2377439"/>
            <a:ext cx="3931920" cy="292608"/>
          </a:xfrm>
          <a:prstGeom prst="rect">
            <a:avLst/>
          </a:prstGeom>
          <a:noFill/>
        </p:spPr>
        <p:txBody>
          <a:bodyPr wrap="square" lIns="36576" rIns="36576" tIns="18288" bIns="18288">
            <a:spAutoFit/>
          </a:bodyPr>
          <a:lstStyle/>
          <a:p>
            <a:r>
              <a:rPr sz="1000" b="0">
                <a:solidFill>
                  <a:srgbClr val="CBD5E1"/>
                </a:solidFill>
                <a:latin typeface="Segoe UI"/>
              </a:rPr>
              <a:t>decides to persist a fact</a:t>
            </a:r>
          </a:p>
        </p:txBody>
      </p:sp>
      <p:sp>
        <p:nvSpPr>
          <p:cNvPr id="14" name="TextBox 13"/>
          <p:cNvSpPr txBox="1"/>
          <p:nvPr/>
        </p:nvSpPr>
        <p:spPr>
          <a:xfrm>
            <a:off x="4983479" y="1965960"/>
            <a:ext cx="6522415" cy="704088"/>
          </a:xfrm>
          <a:prstGeom prst="rect">
            <a:avLst/>
          </a:prstGeom>
          <a:noFill/>
        </p:spPr>
        <p:txBody>
          <a:bodyPr wrap="square" lIns="36576" rIns="36576" tIns="18288" bIns="18288" anchor="ctr">
            <a:spAutoFit/>
          </a:bodyPr>
          <a:lstStyle/>
          <a:p>
            <a:r>
              <a:rPr sz="1100" b="0">
                <a:solidFill>
                  <a:srgbClr val="F8FAFC"/>
                </a:solidFill>
                <a:latin typeface="Consolas"/>
              </a:rPr>
              <a:t>“I need to remember: Always run the SDK tests before merging.”</a:t>
            </a:r>
          </a:p>
        </p:txBody>
      </p:sp>
      <p:sp>
        <p:nvSpPr>
          <p:cNvPr id="15" name="TextBox 14"/>
          <p:cNvSpPr txBox="1"/>
          <p:nvPr/>
        </p:nvSpPr>
        <p:spPr>
          <a:xfrm>
            <a:off x="5912967" y="2697479"/>
            <a:ext cx="365760" cy="128016"/>
          </a:xfrm>
          <a:prstGeom prst="rect">
            <a:avLst/>
          </a:prstGeom>
          <a:noFill/>
        </p:spPr>
        <p:txBody>
          <a:bodyPr wrap="square" lIns="36576" rIns="36576" tIns="18288" bIns="18288" anchor="ctr">
            <a:spAutoFit/>
          </a:bodyPr>
          <a:lstStyle/>
          <a:p>
            <a:pPr algn="ctr"/>
            <a:r>
              <a:rPr sz="1400" b="1">
                <a:solidFill>
                  <a:srgbClr val="94A3B8"/>
                </a:solidFill>
                <a:latin typeface="Segoe UI"/>
              </a:rPr>
              <a:t>↓</a:t>
            </a:r>
          </a:p>
        </p:txBody>
      </p:sp>
      <p:sp>
        <p:nvSpPr>
          <p:cNvPr id="16" name="Rounded Rectangle 15"/>
          <p:cNvSpPr/>
          <p:nvPr/>
        </p:nvSpPr>
        <p:spPr>
          <a:xfrm>
            <a:off x="548640" y="2807208"/>
            <a:ext cx="11094415" cy="841248"/>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07208"/>
            <a:ext cx="164592" cy="841248"/>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898648"/>
            <a:ext cx="594360" cy="384048"/>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9" name="TextBox 18"/>
          <p:cNvSpPr txBox="1"/>
          <p:nvPr/>
        </p:nvSpPr>
        <p:spPr>
          <a:xfrm>
            <a:off x="1508760" y="2898648"/>
            <a:ext cx="3291840" cy="384048"/>
          </a:xfrm>
          <a:prstGeom prst="rect">
            <a:avLst/>
          </a:prstGeom>
          <a:noFill/>
        </p:spPr>
        <p:txBody>
          <a:bodyPr wrap="square" lIns="36576" rIns="36576" tIns="18288" bIns="18288" anchor="ctr">
            <a:spAutoFit/>
          </a:bodyPr>
          <a:lstStyle/>
          <a:p>
            <a:r>
              <a:rPr sz="1400" b="1">
                <a:solidFill>
                  <a:srgbClr val="F8FAFC"/>
                </a:solidFill>
                <a:latin typeface="Segoe UI"/>
              </a:rPr>
              <a:t>MCP tool surface</a:t>
            </a:r>
          </a:p>
        </p:txBody>
      </p:sp>
      <p:sp>
        <p:nvSpPr>
          <p:cNvPr id="20" name="TextBox 19"/>
          <p:cNvSpPr txBox="1"/>
          <p:nvPr/>
        </p:nvSpPr>
        <p:spPr>
          <a:xfrm>
            <a:off x="868680" y="3310128"/>
            <a:ext cx="3931920" cy="292608"/>
          </a:xfrm>
          <a:prstGeom prst="rect">
            <a:avLst/>
          </a:prstGeom>
          <a:noFill/>
        </p:spPr>
        <p:txBody>
          <a:bodyPr wrap="square" lIns="36576" rIns="36576" tIns="18288" bIns="18288">
            <a:spAutoFit/>
          </a:bodyPr>
          <a:lstStyle/>
          <a:p>
            <a:r>
              <a:rPr sz="1000" b="0">
                <a:solidFill>
                  <a:srgbClr val="CBD5E1"/>
                </a:solidFill>
                <a:latin typeface="Segoe UI"/>
              </a:rPr>
              <a:t>exposed as MCP tools — agent calls by name with content + metadata</a:t>
            </a:r>
          </a:p>
        </p:txBody>
      </p:sp>
      <p:sp>
        <p:nvSpPr>
          <p:cNvPr id="21" name="TextBox 20"/>
          <p:cNvSpPr txBox="1"/>
          <p:nvPr/>
        </p:nvSpPr>
        <p:spPr>
          <a:xfrm>
            <a:off x="4983479" y="2898648"/>
            <a:ext cx="6522415" cy="704088"/>
          </a:xfrm>
          <a:prstGeom prst="rect">
            <a:avLst/>
          </a:prstGeom>
          <a:noFill/>
        </p:spPr>
        <p:txBody>
          <a:bodyPr wrap="square" lIns="36576" rIns="36576" tIns="18288" bIns="18288" anchor="ctr">
            <a:spAutoFit/>
          </a:bodyPr>
          <a:lstStyle/>
          <a:p>
            <a:r>
              <a:rPr sz="1100" b="0">
                <a:solidFill>
                  <a:srgbClr val="F8FAFC"/>
                </a:solidFill>
                <a:latin typeface="Consolas"/>
              </a:rPr>
              <a:t>squad_memory_write  /  squad_memory_classify  /  squad_memory_search</a:t>
            </a:r>
          </a:p>
        </p:txBody>
      </p:sp>
      <p:sp>
        <p:nvSpPr>
          <p:cNvPr id="22" name="TextBox 21"/>
          <p:cNvSpPr txBox="1"/>
          <p:nvPr/>
        </p:nvSpPr>
        <p:spPr>
          <a:xfrm>
            <a:off x="5912967" y="3630168"/>
            <a:ext cx="365760" cy="128016"/>
          </a:xfrm>
          <a:prstGeom prst="rect">
            <a:avLst/>
          </a:prstGeom>
          <a:noFill/>
        </p:spPr>
        <p:txBody>
          <a:bodyPr wrap="square" lIns="36576" rIns="36576" tIns="18288" bIns="18288" anchor="ctr">
            <a:spAutoFit/>
          </a:bodyPr>
          <a:lstStyle/>
          <a:p>
            <a:pPr algn="ctr"/>
            <a:r>
              <a:rPr sz="1400" b="1">
                <a:solidFill>
                  <a:srgbClr val="94A3B8"/>
                </a:solidFill>
                <a:latin typeface="Segoe UI"/>
              </a:rPr>
              <a:t>↓</a:t>
            </a:r>
          </a:p>
        </p:txBody>
      </p:sp>
      <p:sp>
        <p:nvSpPr>
          <p:cNvPr id="23" name="Rounded Rectangle 22"/>
          <p:cNvSpPr/>
          <p:nvPr/>
        </p:nvSpPr>
        <p:spPr>
          <a:xfrm>
            <a:off x="548640" y="3739896"/>
            <a:ext cx="11094415" cy="841248"/>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39896"/>
            <a:ext cx="164592" cy="841248"/>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831335"/>
            <a:ext cx="594360" cy="384048"/>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6" name="TextBox 25"/>
          <p:cNvSpPr txBox="1"/>
          <p:nvPr/>
        </p:nvSpPr>
        <p:spPr>
          <a:xfrm>
            <a:off x="1508760" y="3831335"/>
            <a:ext cx="3291840" cy="384048"/>
          </a:xfrm>
          <a:prstGeom prst="rect">
            <a:avLst/>
          </a:prstGeom>
          <a:noFill/>
        </p:spPr>
        <p:txBody>
          <a:bodyPr wrap="square" lIns="36576" rIns="36576" tIns="18288" bIns="18288" anchor="ctr">
            <a:spAutoFit/>
          </a:bodyPr>
          <a:lstStyle/>
          <a:p>
            <a:r>
              <a:rPr sz="1400" b="1">
                <a:solidFill>
                  <a:srgbClr val="F8FAFC"/>
                </a:solidFill>
                <a:latin typeface="Segoe UI"/>
              </a:rPr>
              <a:t>LocalMemoryStore (orchestrator)</a:t>
            </a:r>
          </a:p>
        </p:txBody>
      </p:sp>
      <p:sp>
        <p:nvSpPr>
          <p:cNvPr id="27" name="TextBox 26"/>
          <p:cNvSpPr txBox="1"/>
          <p:nvPr/>
        </p:nvSpPr>
        <p:spPr>
          <a:xfrm>
            <a:off x="868680" y="4242816"/>
            <a:ext cx="3931920" cy="292608"/>
          </a:xfrm>
          <a:prstGeom prst="rect">
            <a:avLst/>
          </a:prstGeom>
          <a:noFill/>
        </p:spPr>
        <p:txBody>
          <a:bodyPr wrap="square" lIns="36576" rIns="36576" tIns="18288" bIns="18288">
            <a:spAutoFit/>
          </a:bodyPr>
          <a:lstStyle/>
          <a:p>
            <a:r>
              <a:rPr sz="1000" b="0">
                <a:solidFill>
                  <a:srgbClr val="CBD5E1"/>
                </a:solidFill>
                <a:latin typeface="Segoe UI"/>
              </a:rPr>
              <a:t>vets, classifies, renders frontmatter, emits audit — the gate every write goes through</a:t>
            </a:r>
          </a:p>
        </p:txBody>
      </p:sp>
      <p:sp>
        <p:nvSpPr>
          <p:cNvPr id="28" name="TextBox 27"/>
          <p:cNvSpPr txBox="1"/>
          <p:nvPr/>
        </p:nvSpPr>
        <p:spPr>
          <a:xfrm>
            <a:off x="4983479" y="3831335"/>
            <a:ext cx="6522415" cy="704088"/>
          </a:xfrm>
          <a:prstGeom prst="rect">
            <a:avLst/>
          </a:prstGeom>
          <a:noFill/>
        </p:spPr>
        <p:txBody>
          <a:bodyPr wrap="square" lIns="36576" rIns="36576" tIns="18288" bIns="18288" anchor="ctr">
            <a:spAutoFit/>
          </a:bodyPr>
          <a:lstStyle/>
          <a:p>
            <a:r>
              <a:rPr sz="1100" b="0">
                <a:solidFill>
                  <a:srgbClr val="F8FAFC"/>
                </a:solidFill>
                <a:latin typeface="Consolas"/>
              </a:rPr>
              <a:t>classify(content) → { class, allowed, destination, loadGuidance }   then  storage.write()</a:t>
            </a:r>
          </a:p>
        </p:txBody>
      </p:sp>
      <p:sp>
        <p:nvSpPr>
          <p:cNvPr id="29" name="TextBox 28"/>
          <p:cNvSpPr txBox="1"/>
          <p:nvPr/>
        </p:nvSpPr>
        <p:spPr>
          <a:xfrm>
            <a:off x="5912967" y="4562856"/>
            <a:ext cx="365760" cy="128016"/>
          </a:xfrm>
          <a:prstGeom prst="rect">
            <a:avLst/>
          </a:prstGeom>
          <a:noFill/>
        </p:spPr>
        <p:txBody>
          <a:bodyPr wrap="square" lIns="36576" rIns="36576" tIns="18288" bIns="18288" anchor="ctr">
            <a:spAutoFit/>
          </a:bodyPr>
          <a:lstStyle/>
          <a:p>
            <a:pPr algn="ctr"/>
            <a:r>
              <a:rPr sz="1400" b="1">
                <a:solidFill>
                  <a:srgbClr val="94A3B8"/>
                </a:solidFill>
                <a:latin typeface="Segoe UI"/>
              </a:rPr>
              <a:t>↓</a:t>
            </a:r>
          </a:p>
        </p:txBody>
      </p:sp>
      <p:sp>
        <p:nvSpPr>
          <p:cNvPr id="30" name="Rounded Rectangle 29"/>
          <p:cNvSpPr/>
          <p:nvPr/>
        </p:nvSpPr>
        <p:spPr>
          <a:xfrm>
            <a:off x="548640" y="4672583"/>
            <a:ext cx="11094415" cy="841248"/>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672583"/>
            <a:ext cx="164592" cy="841248"/>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764023"/>
            <a:ext cx="594360" cy="384048"/>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33" name="TextBox 32"/>
          <p:cNvSpPr txBox="1"/>
          <p:nvPr/>
        </p:nvSpPr>
        <p:spPr>
          <a:xfrm>
            <a:off x="1508760" y="4764023"/>
            <a:ext cx="3291840" cy="384048"/>
          </a:xfrm>
          <a:prstGeom prst="rect">
            <a:avLst/>
          </a:prstGeom>
          <a:noFill/>
        </p:spPr>
        <p:txBody>
          <a:bodyPr wrap="square" lIns="36576" rIns="36576" tIns="18288" bIns="18288" anchor="ctr">
            <a:spAutoFit/>
          </a:bodyPr>
          <a:lstStyle/>
          <a:p>
            <a:r>
              <a:rPr sz="1400" b="1">
                <a:solidFill>
                  <a:srgbClr val="F8FAFC"/>
                </a:solidFill>
                <a:latin typeface="Segoe UI"/>
              </a:rPr>
              <a:t>MemoryProvider(s)  — plugin contract</a:t>
            </a:r>
          </a:p>
        </p:txBody>
      </p:sp>
      <p:sp>
        <p:nvSpPr>
          <p:cNvPr id="34" name="TextBox 33"/>
          <p:cNvSpPr txBox="1"/>
          <p:nvPr/>
        </p:nvSpPr>
        <p:spPr>
          <a:xfrm>
            <a:off x="868680" y="5175503"/>
            <a:ext cx="3931920" cy="292608"/>
          </a:xfrm>
          <a:prstGeom prst="rect">
            <a:avLst/>
          </a:prstGeom>
          <a:noFill/>
        </p:spPr>
        <p:txBody>
          <a:bodyPr wrap="square" lIns="36576" rIns="36576" tIns="18288" bIns="18288">
            <a:spAutoFit/>
          </a:bodyPr>
          <a:lstStyle/>
          <a:p>
            <a:r>
              <a:rPr sz="1000" b="0">
                <a:solidFill>
                  <a:srgbClr val="CBD5E1"/>
                </a:solidFill>
                <a:latin typeface="Segoe UI"/>
              </a:rPr>
              <a:t>receive the safe, classified content. Only providers whose supportedClasses match get the write.</a:t>
            </a:r>
          </a:p>
        </p:txBody>
      </p:sp>
      <p:sp>
        <p:nvSpPr>
          <p:cNvPr id="35" name="TextBox 34"/>
          <p:cNvSpPr txBox="1"/>
          <p:nvPr/>
        </p:nvSpPr>
        <p:spPr>
          <a:xfrm>
            <a:off x="4983479" y="4764023"/>
            <a:ext cx="6522415" cy="704088"/>
          </a:xfrm>
          <a:prstGeom prst="rect">
            <a:avLst/>
          </a:prstGeom>
          <a:noFill/>
        </p:spPr>
        <p:txBody>
          <a:bodyPr wrap="square" lIns="36576" rIns="36576" tIns="18288" bIns="18288" anchor="ctr">
            <a:spAutoFit/>
          </a:bodyPr>
          <a:lstStyle/>
          <a:p>
            <a:r>
              <a:rPr sz="1100" b="0">
                <a:solidFill>
                  <a:srgbClr val="F8FAFC"/>
                </a:solidFill>
                <a:latin typeface="Consolas"/>
              </a:rPr>
              <a:t>local  •  hostInjectedCopilotAdapter  •  MemPalace  •  registered custom</a:t>
            </a:r>
          </a:p>
        </p:txBody>
      </p:sp>
      <p:sp>
        <p:nvSpPr>
          <p:cNvPr id="36" name="TextBox 35"/>
          <p:cNvSpPr txBox="1"/>
          <p:nvPr/>
        </p:nvSpPr>
        <p:spPr>
          <a:xfrm>
            <a:off x="5912967" y="5495544"/>
            <a:ext cx="365760" cy="128016"/>
          </a:xfrm>
          <a:prstGeom prst="rect">
            <a:avLst/>
          </a:prstGeom>
          <a:noFill/>
        </p:spPr>
        <p:txBody>
          <a:bodyPr wrap="square" lIns="36576" rIns="36576" tIns="18288" bIns="18288" anchor="ctr">
            <a:spAutoFit/>
          </a:bodyPr>
          <a:lstStyle/>
          <a:p>
            <a:pPr algn="ctr"/>
            <a:r>
              <a:rPr sz="1400" b="1">
                <a:solidFill>
                  <a:srgbClr val="94A3B8"/>
                </a:solidFill>
                <a:latin typeface="Segoe UI"/>
              </a:rPr>
              <a:t>↓</a:t>
            </a:r>
          </a:p>
        </p:txBody>
      </p:sp>
      <p:sp>
        <p:nvSpPr>
          <p:cNvPr id="37" name="Rounded Rectangle 36"/>
          <p:cNvSpPr/>
          <p:nvPr/>
        </p:nvSpPr>
        <p:spPr>
          <a:xfrm>
            <a:off x="548640" y="5605272"/>
            <a:ext cx="11094415" cy="841248"/>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605272"/>
            <a:ext cx="164592" cy="841248"/>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696712"/>
            <a:ext cx="594360" cy="384048"/>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40" name="TextBox 39"/>
          <p:cNvSpPr txBox="1"/>
          <p:nvPr/>
        </p:nvSpPr>
        <p:spPr>
          <a:xfrm>
            <a:off x="1508760" y="5696712"/>
            <a:ext cx="3291840" cy="384048"/>
          </a:xfrm>
          <a:prstGeom prst="rect">
            <a:avLst/>
          </a:prstGeom>
          <a:noFill/>
        </p:spPr>
        <p:txBody>
          <a:bodyPr wrap="square" lIns="36576" rIns="36576" tIns="18288" bIns="18288" anchor="ctr">
            <a:spAutoFit/>
          </a:bodyPr>
          <a:lstStyle/>
          <a:p>
            <a:r>
              <a:rPr sz="1400" b="1">
                <a:solidFill>
                  <a:srgbClr val="F8FAFC"/>
                </a:solidFill>
                <a:latin typeface="Segoe UI"/>
              </a:rPr>
              <a:t>Storage backend (state-backend.ts)</a:t>
            </a:r>
          </a:p>
        </p:txBody>
      </p:sp>
      <p:sp>
        <p:nvSpPr>
          <p:cNvPr id="41" name="TextBox 40"/>
          <p:cNvSpPr txBox="1"/>
          <p:nvPr/>
        </p:nvSpPr>
        <p:spPr>
          <a:xfrm>
            <a:off x="868680" y="6108192"/>
            <a:ext cx="3931920" cy="292608"/>
          </a:xfrm>
          <a:prstGeom prst="rect">
            <a:avLst/>
          </a:prstGeom>
          <a:noFill/>
        </p:spPr>
        <p:txBody>
          <a:bodyPr wrap="square" lIns="36576" rIns="36576" tIns="18288" bIns="18288">
            <a:spAutoFit/>
          </a:bodyPr>
          <a:lstStyle/>
          <a:p>
            <a:r>
              <a:rPr sz="1000" b="0">
                <a:solidFill>
                  <a:srgbClr val="CBD5E1"/>
                </a:solidFill>
                <a:latin typeface="Segoe UI"/>
              </a:rPr>
              <a:t>decides WHERE bytes land. Same agent protocol; backend swaps without code change.</a:t>
            </a:r>
          </a:p>
        </p:txBody>
      </p:sp>
      <p:sp>
        <p:nvSpPr>
          <p:cNvPr id="42" name="TextBox 41"/>
          <p:cNvSpPr txBox="1"/>
          <p:nvPr/>
        </p:nvSpPr>
        <p:spPr>
          <a:xfrm>
            <a:off x="4983479" y="5696712"/>
            <a:ext cx="6522415" cy="704088"/>
          </a:xfrm>
          <a:prstGeom prst="rect">
            <a:avLst/>
          </a:prstGeom>
          <a:noFill/>
        </p:spPr>
        <p:txBody>
          <a:bodyPr wrap="square" lIns="36576" rIns="36576" tIns="18288" bIns="18288" anchor="ctr">
            <a:spAutoFit/>
          </a:bodyPr>
          <a:lstStyle/>
          <a:p>
            <a:r>
              <a:rPr sz="1100" b="0">
                <a:solidFill>
                  <a:srgbClr val="F8FAFC"/>
                </a:solidFill>
                <a:latin typeface="Consolas"/>
              </a:rPr>
              <a:t>local FS  •  orphan branch  •  two-layer (branch + git note + audit)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10</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STORAGE PLUGIN</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Memory providers — what they are, and the ones that ship</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Same governed classification flows through every provider. The provider only decides WHERE bytes land.</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packages/squad-sdk/src/memory/index.ts:134-143 • MemPalaceMemoryProvider at :156-227</a:t>
            </a:r>
          </a:p>
        </p:txBody>
      </p:sp>
      <p:sp>
        <p:nvSpPr>
          <p:cNvPr id="9" name="Rounded Rectangle 8"/>
          <p:cNvSpPr/>
          <p:nvPr/>
        </p:nvSpPr>
        <p:spPr>
          <a:xfrm>
            <a:off x="548640" y="1874519"/>
            <a:ext cx="5943600"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38BDF8"/>
                </a:solidFill>
                <a:latin typeface="Segoe UI Semibold"/>
              </a:rPr>
              <a:t>the storage plugin contract</a:t>
            </a:r>
          </a:p>
        </p:txBody>
      </p:sp>
      <p:sp>
        <p:nvSpPr>
          <p:cNvPr id="12" name="TextBox 11"/>
          <p:cNvSpPr txBox="1"/>
          <p:nvPr/>
        </p:nvSpPr>
        <p:spPr>
          <a:xfrm>
            <a:off x="713232" y="2167127"/>
            <a:ext cx="5669280" cy="3493008"/>
          </a:xfrm>
          <a:prstGeom prst="rect">
            <a:avLst/>
          </a:prstGeom>
          <a:noFill/>
        </p:spPr>
        <p:txBody>
          <a:bodyPr wrap="square" lIns="36576" rIns="36576">
            <a:spAutoFit/>
          </a:bodyPr>
          <a:lstStyle/>
          <a:p>
            <a:pPr>
              <a:spcAft>
                <a:spcPts val="100"/>
              </a:spcAft>
            </a:pPr>
            <a:r>
              <a:rPr sz="1100">
                <a:solidFill>
                  <a:srgbClr val="94A3B8"/>
                </a:solidFill>
                <a:latin typeface="Consolas"/>
              </a:rPr>
              <a:t>// packages/squad-sdk/src/memory/index.ts:134-143</a:t>
            </a:r>
          </a:p>
          <a:p>
            <a:pPr>
              <a:spcAft>
                <a:spcPts val="100"/>
              </a:spcAft>
            </a:pPr>
            <a:r>
              <a:rPr sz="1100">
                <a:solidFill>
                  <a:srgbClr val="CBD5E1"/>
                </a:solidFill>
                <a:latin typeface="Consolas"/>
              </a:rPr>
              <a:t>interface MemoryProvider {</a:t>
            </a:r>
          </a:p>
          <a:p>
            <a:pPr>
              <a:spcAft>
                <a:spcPts val="100"/>
              </a:spcAft>
            </a:pPr>
            <a:r>
              <a:rPr sz="1100">
                <a:solidFill>
                  <a:srgbClr val="CBD5E1"/>
                </a:solidFill>
                <a:latin typeface="Consolas"/>
              </a:rPr>
              <a:t>  readonly id:    string;       // "local", "mempalace", ...</a:t>
            </a:r>
          </a:p>
          <a:p>
            <a:pPr>
              <a:spcAft>
                <a:spcPts val="100"/>
              </a:spcAft>
            </a:pPr>
            <a:r>
              <a:rPr sz="1100">
                <a:solidFill>
                  <a:srgbClr val="CBD5E1"/>
                </a:solidFill>
                <a:latin typeface="Consolas"/>
              </a:rPr>
              <a:t>  readonly name:  string;       // human label</a:t>
            </a:r>
          </a:p>
          <a:p>
            <a:pPr>
              <a:spcAft>
                <a:spcPts val="100"/>
              </a:spcAft>
            </a:pPr>
            <a:r>
              <a:rPr sz="1100">
                <a:solidFill>
                  <a:srgbClr val="CBD5E1"/>
                </a:solidFill>
                <a:latin typeface="Consolas"/>
              </a:rPr>
              <a:t>  readonly supportedClasses:</a:t>
            </a:r>
          </a:p>
          <a:p>
            <a:pPr>
              <a:spcAft>
                <a:spcPts val="100"/>
              </a:spcAft>
            </a:pPr>
            <a:r>
              <a:rPr sz="1100">
                <a:solidFill>
                  <a:srgbClr val="CBD5E1"/>
                </a:solidFill>
                <a:latin typeface="Consolas"/>
              </a:rPr>
              <a:t>    ReadonlyArray&lt;MemoryClass&gt;;</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status():  Promise&lt;MemoryProviderStatus&gt;;</a:t>
            </a:r>
          </a:p>
          <a:p>
            <a:pPr>
              <a:spcAft>
                <a:spcPts val="100"/>
              </a:spcAft>
            </a:pPr>
            <a:r>
              <a:rPr sz="1100">
                <a:solidFill>
                  <a:srgbClr val="CBD5E1"/>
                </a:solidFill>
                <a:latin typeface="Consolas"/>
              </a:rPr>
              <a:t>  write(req): Promise&lt;...WriteResult&gt;;</a:t>
            </a:r>
          </a:p>
          <a:p>
            <a:pPr>
              <a:spcAft>
                <a:spcPts val="100"/>
              </a:spcAft>
            </a:pPr>
            <a:r>
              <a:rPr sz="1100">
                <a:solidFill>
                  <a:srgbClr val="CBD5E1"/>
                </a:solidFill>
                <a:latin typeface="Consolas"/>
              </a:rPr>
              <a:t>  search(q): Promise&lt;...SearchResult[]&gt;;</a:t>
            </a:r>
          </a:p>
          <a:p>
            <a:pPr>
              <a:spcAft>
                <a:spcPts val="100"/>
              </a:spcAft>
            </a:pPr>
            <a:r>
              <a:rPr sz="1100">
                <a:solidFill>
                  <a:srgbClr val="CBD5E1"/>
                </a:solidFill>
                <a:latin typeface="Consolas"/>
              </a:rPr>
              <a:t>  delete(id): Promise&lt;boolean&gt;;</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The classification flow runs ONCE in the store.</a:t>
            </a:r>
          </a:p>
          <a:p>
            <a:pPr>
              <a:spcAft>
                <a:spcPts val="100"/>
              </a:spcAft>
            </a:pPr>
            <a:r>
              <a:rPr sz="1100">
                <a:solidFill>
                  <a:srgbClr val="94A3B8"/>
                </a:solidFill>
                <a:latin typeface="Consolas"/>
              </a:rPr>
              <a:t>// Providers receive only safe, allowed content.</a:t>
            </a:r>
          </a:p>
        </p:txBody>
      </p:sp>
      <p:sp>
        <p:nvSpPr>
          <p:cNvPr id="13" name="Rounded Rectangle 12"/>
          <p:cNvSpPr/>
          <p:nvPr/>
        </p:nvSpPr>
        <p:spPr>
          <a:xfrm>
            <a:off x="6675120" y="1874519"/>
            <a:ext cx="4967935" cy="713232"/>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109728" cy="71323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1929384"/>
            <a:ext cx="365760" cy="603504"/>
          </a:xfrm>
          <a:prstGeom prst="rect">
            <a:avLst/>
          </a:prstGeom>
          <a:noFill/>
        </p:spPr>
        <p:txBody>
          <a:bodyPr wrap="square" lIns="36576" rIns="36576" tIns="18288" bIns="18288" anchor="ctr">
            <a:spAutoFit/>
          </a:bodyPr>
          <a:lstStyle/>
          <a:p>
            <a:r>
              <a:rPr sz="2000" b="1">
                <a:solidFill>
                  <a:srgbClr val="34D399"/>
                </a:solidFill>
                <a:latin typeface="Segoe UI"/>
              </a:rPr>
              <a:t>●</a:t>
            </a:r>
          </a:p>
        </p:txBody>
      </p:sp>
      <p:sp>
        <p:nvSpPr>
          <p:cNvPr id="16" name="TextBox 15"/>
          <p:cNvSpPr txBox="1"/>
          <p:nvPr/>
        </p:nvSpPr>
        <p:spPr>
          <a:xfrm>
            <a:off x="7269480" y="1911095"/>
            <a:ext cx="4236415" cy="320040"/>
          </a:xfrm>
          <a:prstGeom prst="rect">
            <a:avLst/>
          </a:prstGeom>
          <a:noFill/>
        </p:spPr>
        <p:txBody>
          <a:bodyPr wrap="square" lIns="36576" rIns="36576" tIns="18288" bIns="18288">
            <a:spAutoFit/>
          </a:bodyPr>
          <a:lstStyle/>
          <a:p>
            <a:r>
              <a:rPr sz="1200" b="1">
                <a:solidFill>
                  <a:srgbClr val="F8FAFC"/>
                </a:solidFill>
                <a:latin typeface="Consolas"/>
              </a:rPr>
              <a:t>local</a:t>
            </a:r>
          </a:p>
        </p:txBody>
      </p:sp>
      <p:sp>
        <p:nvSpPr>
          <p:cNvPr id="17" name="TextBox 16"/>
          <p:cNvSpPr txBox="1"/>
          <p:nvPr/>
        </p:nvSpPr>
        <p:spPr>
          <a:xfrm>
            <a:off x="7269480" y="2221991"/>
            <a:ext cx="4236415" cy="329184"/>
          </a:xfrm>
          <a:prstGeom prst="rect">
            <a:avLst/>
          </a:prstGeom>
          <a:noFill/>
        </p:spPr>
        <p:txBody>
          <a:bodyPr wrap="square" lIns="36576" rIns="36576" tIns="18288" bIns="18288">
            <a:spAutoFit/>
          </a:bodyPr>
          <a:lstStyle/>
          <a:p>
            <a:r>
              <a:rPr sz="1100" b="0">
                <a:solidFill>
                  <a:srgbClr val="CBD5E1"/>
                </a:solidFill>
                <a:latin typeface="Segoe UI"/>
              </a:rPr>
              <a:t>Files in .squad/memory/{class}/   •   ships by default</a:t>
            </a:r>
          </a:p>
        </p:txBody>
      </p:sp>
      <p:sp>
        <p:nvSpPr>
          <p:cNvPr id="18" name="Rounded Rectangle 17"/>
          <p:cNvSpPr/>
          <p:nvPr/>
        </p:nvSpPr>
        <p:spPr>
          <a:xfrm>
            <a:off x="6675120" y="2633472"/>
            <a:ext cx="4967935" cy="713232"/>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75120" y="2633472"/>
            <a:ext cx="109728" cy="71323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2688336"/>
            <a:ext cx="365760" cy="603504"/>
          </a:xfrm>
          <a:prstGeom prst="rect">
            <a:avLst/>
          </a:prstGeom>
          <a:noFill/>
        </p:spPr>
        <p:txBody>
          <a:bodyPr wrap="square" lIns="36576" rIns="36576" tIns="18288" bIns="18288" anchor="ctr">
            <a:spAutoFit/>
          </a:bodyPr>
          <a:lstStyle/>
          <a:p>
            <a:r>
              <a:rPr sz="2000" b="1">
                <a:solidFill>
                  <a:srgbClr val="FBBF24"/>
                </a:solidFill>
                <a:latin typeface="Segoe UI"/>
              </a:rPr>
              <a:t>○</a:t>
            </a:r>
          </a:p>
        </p:txBody>
      </p:sp>
      <p:sp>
        <p:nvSpPr>
          <p:cNvPr id="21" name="TextBox 20"/>
          <p:cNvSpPr txBox="1"/>
          <p:nvPr/>
        </p:nvSpPr>
        <p:spPr>
          <a:xfrm>
            <a:off x="7269480" y="2670048"/>
            <a:ext cx="4236415" cy="320040"/>
          </a:xfrm>
          <a:prstGeom prst="rect">
            <a:avLst/>
          </a:prstGeom>
          <a:noFill/>
        </p:spPr>
        <p:txBody>
          <a:bodyPr wrap="square" lIns="36576" rIns="36576" tIns="18288" bIns="18288">
            <a:spAutoFit/>
          </a:bodyPr>
          <a:lstStyle/>
          <a:p>
            <a:r>
              <a:rPr sz="1200" b="1">
                <a:solidFill>
                  <a:srgbClr val="F8FAFC"/>
                </a:solidFill>
                <a:latin typeface="Consolas"/>
              </a:rPr>
              <a:t>hostInjectedCopilotAdapter</a:t>
            </a:r>
          </a:p>
        </p:txBody>
      </p:sp>
      <p:sp>
        <p:nvSpPr>
          <p:cNvPr id="22" name="TextBox 21"/>
          <p:cNvSpPr txBox="1"/>
          <p:nvPr/>
        </p:nvSpPr>
        <p:spPr>
          <a:xfrm>
            <a:off x="7269480" y="2980944"/>
            <a:ext cx="4236415" cy="329184"/>
          </a:xfrm>
          <a:prstGeom prst="rect">
            <a:avLst/>
          </a:prstGeom>
          <a:noFill/>
        </p:spPr>
        <p:txBody>
          <a:bodyPr wrap="square" lIns="36576" rIns="36576" tIns="18288" bIns="18288">
            <a:spAutoFit/>
          </a:bodyPr>
          <a:lstStyle/>
          <a:p>
            <a:r>
              <a:rPr sz="1100" b="0">
                <a:solidFill>
                  <a:srgbClr val="CBD5E1"/>
                </a:solidFill>
                <a:latin typeface="Segoe UI"/>
              </a:rPr>
              <a:t>Opt-in slot for a host to bridge Copilot Memory</a:t>
            </a:r>
          </a:p>
        </p:txBody>
      </p:sp>
      <p:sp>
        <p:nvSpPr>
          <p:cNvPr id="23" name="Rounded Rectangle 22"/>
          <p:cNvSpPr/>
          <p:nvPr/>
        </p:nvSpPr>
        <p:spPr>
          <a:xfrm>
            <a:off x="6675120" y="3392424"/>
            <a:ext cx="4967935" cy="713232"/>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3392424"/>
            <a:ext cx="109728" cy="71323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3447288"/>
            <a:ext cx="365760" cy="603504"/>
          </a:xfrm>
          <a:prstGeom prst="rect">
            <a:avLst/>
          </a:prstGeom>
          <a:noFill/>
        </p:spPr>
        <p:txBody>
          <a:bodyPr wrap="square" lIns="36576" rIns="36576" tIns="18288" bIns="18288" anchor="ctr">
            <a:spAutoFit/>
          </a:bodyPr>
          <a:lstStyle/>
          <a:p>
            <a:r>
              <a:rPr sz="2000" b="1">
                <a:solidFill>
                  <a:srgbClr val="FB7185"/>
                </a:solidFill>
                <a:latin typeface="Segoe UI"/>
              </a:rPr>
              <a:t>○</a:t>
            </a:r>
          </a:p>
        </p:txBody>
      </p:sp>
      <p:sp>
        <p:nvSpPr>
          <p:cNvPr id="26" name="TextBox 25"/>
          <p:cNvSpPr txBox="1"/>
          <p:nvPr/>
        </p:nvSpPr>
        <p:spPr>
          <a:xfrm>
            <a:off x="7269480" y="3429000"/>
            <a:ext cx="4236415" cy="320040"/>
          </a:xfrm>
          <a:prstGeom prst="rect">
            <a:avLst/>
          </a:prstGeom>
          <a:noFill/>
        </p:spPr>
        <p:txBody>
          <a:bodyPr wrap="square" lIns="36576" rIns="36576" tIns="18288" bIns="18288">
            <a:spAutoFit/>
          </a:bodyPr>
          <a:lstStyle/>
          <a:p>
            <a:r>
              <a:rPr sz="1200" b="1">
                <a:solidFill>
                  <a:srgbClr val="F8FAFC"/>
                </a:solidFill>
                <a:latin typeface="Consolas"/>
              </a:rPr>
              <a:t>real Copilot Memory (provider=copilot)</a:t>
            </a:r>
          </a:p>
        </p:txBody>
      </p:sp>
      <p:sp>
        <p:nvSpPr>
          <p:cNvPr id="27" name="TextBox 26"/>
          <p:cNvSpPr txBox="1"/>
          <p:nvPr/>
        </p:nvSpPr>
        <p:spPr>
          <a:xfrm>
            <a:off x="7269480" y="3739896"/>
            <a:ext cx="4236415" cy="329184"/>
          </a:xfrm>
          <a:prstGeom prst="rect">
            <a:avLst/>
          </a:prstGeom>
          <a:noFill/>
        </p:spPr>
        <p:txBody>
          <a:bodyPr wrap="square" lIns="36576" rIns="36576" tIns="18288" bIns="18288">
            <a:spAutoFit/>
          </a:bodyPr>
          <a:lstStyle/>
          <a:p>
            <a:r>
              <a:rPr sz="1100" b="0">
                <a:solidFill>
                  <a:srgbClr val="CBD5E1"/>
                </a:solidFill>
                <a:latin typeface="Segoe UI"/>
              </a:rPr>
              <a:t>Fails closed today — no callable API in the SDK</a:t>
            </a:r>
          </a:p>
        </p:txBody>
      </p:sp>
      <p:sp>
        <p:nvSpPr>
          <p:cNvPr id="28" name="Rounded Rectangle 27"/>
          <p:cNvSpPr/>
          <p:nvPr/>
        </p:nvSpPr>
        <p:spPr>
          <a:xfrm>
            <a:off x="6675120" y="4151376"/>
            <a:ext cx="4967935" cy="713232"/>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75120" y="4151376"/>
            <a:ext cx="109728" cy="71323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4206240"/>
            <a:ext cx="365760" cy="603504"/>
          </a:xfrm>
          <a:prstGeom prst="rect">
            <a:avLst/>
          </a:prstGeom>
          <a:noFill/>
        </p:spPr>
        <p:txBody>
          <a:bodyPr wrap="square" lIns="36576" rIns="36576" tIns="18288" bIns="18288" anchor="ctr">
            <a:spAutoFit/>
          </a:bodyPr>
          <a:lstStyle/>
          <a:p>
            <a:r>
              <a:rPr sz="2000" b="1">
                <a:solidFill>
                  <a:srgbClr val="A78BFA"/>
                </a:solidFill>
                <a:latin typeface="Segoe UI"/>
              </a:rPr>
              <a:t>◆</a:t>
            </a:r>
          </a:p>
        </p:txBody>
      </p:sp>
      <p:sp>
        <p:nvSpPr>
          <p:cNvPr id="31" name="TextBox 30"/>
          <p:cNvSpPr txBox="1"/>
          <p:nvPr/>
        </p:nvSpPr>
        <p:spPr>
          <a:xfrm>
            <a:off x="7269480" y="4187952"/>
            <a:ext cx="4236415" cy="320040"/>
          </a:xfrm>
          <a:prstGeom prst="rect">
            <a:avLst/>
          </a:prstGeom>
          <a:noFill/>
        </p:spPr>
        <p:txBody>
          <a:bodyPr wrap="square" lIns="36576" rIns="36576" tIns="18288" bIns="18288">
            <a:spAutoFit/>
          </a:bodyPr>
          <a:lstStyle/>
          <a:p>
            <a:r>
              <a:rPr sz="1200" b="1">
                <a:solidFill>
                  <a:srgbClr val="F8FAFC"/>
                </a:solidFill>
                <a:latin typeface="Consolas"/>
              </a:rPr>
              <a:t>MemPalace (test double)</a:t>
            </a:r>
          </a:p>
        </p:txBody>
      </p:sp>
      <p:sp>
        <p:nvSpPr>
          <p:cNvPr id="32" name="TextBox 31"/>
          <p:cNvSpPr txBox="1"/>
          <p:nvPr/>
        </p:nvSpPr>
        <p:spPr>
          <a:xfrm>
            <a:off x="7269480" y="4498848"/>
            <a:ext cx="4236415" cy="329184"/>
          </a:xfrm>
          <a:prstGeom prst="rect">
            <a:avLst/>
          </a:prstGeom>
          <a:noFill/>
        </p:spPr>
        <p:txBody>
          <a:bodyPr wrap="square" lIns="36576" rIns="36576" tIns="18288" bIns="18288">
            <a:spAutoFit/>
          </a:bodyPr>
          <a:lstStyle/>
          <a:p>
            <a:r>
              <a:rPr sz="1100" b="0">
                <a:solidFill>
                  <a:srgbClr val="CBD5E1"/>
                </a:solidFill>
                <a:latin typeface="Segoe UI"/>
              </a:rPr>
              <a:t>Spatial loci, in-memory; for examples / tests</a:t>
            </a:r>
          </a:p>
        </p:txBody>
      </p:sp>
      <p:sp>
        <p:nvSpPr>
          <p:cNvPr id="33" name="Rounded Rectangle 32"/>
          <p:cNvSpPr/>
          <p:nvPr/>
        </p:nvSpPr>
        <p:spPr>
          <a:xfrm>
            <a:off x="6675120" y="4910328"/>
            <a:ext cx="4967935" cy="713232"/>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75120" y="4910328"/>
            <a:ext cx="109728" cy="713232"/>
          </a:xfrm>
          <a:prstGeom prst="rect">
            <a:avLst/>
          </a:prstGeom>
          <a:solidFill>
            <a:srgbClr val="94A3B8"/>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0" y="4965192"/>
            <a:ext cx="365760" cy="603504"/>
          </a:xfrm>
          <a:prstGeom prst="rect">
            <a:avLst/>
          </a:prstGeom>
          <a:noFill/>
        </p:spPr>
        <p:txBody>
          <a:bodyPr wrap="square" lIns="36576" rIns="36576" tIns="18288" bIns="18288" anchor="ctr">
            <a:spAutoFit/>
          </a:bodyPr>
          <a:lstStyle/>
          <a:p>
            <a:r>
              <a:rPr sz="2000" b="1">
                <a:solidFill>
                  <a:srgbClr val="94A3B8"/>
                </a:solidFill>
                <a:latin typeface="Segoe UI"/>
              </a:rPr>
              <a:t>+ </a:t>
            </a:r>
          </a:p>
        </p:txBody>
      </p:sp>
      <p:sp>
        <p:nvSpPr>
          <p:cNvPr id="36" name="TextBox 35"/>
          <p:cNvSpPr txBox="1"/>
          <p:nvPr/>
        </p:nvSpPr>
        <p:spPr>
          <a:xfrm>
            <a:off x="7269480" y="4946904"/>
            <a:ext cx="4236415" cy="320040"/>
          </a:xfrm>
          <a:prstGeom prst="rect">
            <a:avLst/>
          </a:prstGeom>
          <a:noFill/>
        </p:spPr>
        <p:txBody>
          <a:bodyPr wrap="square" lIns="36576" rIns="36576" tIns="18288" bIns="18288">
            <a:spAutoFit/>
          </a:bodyPr>
          <a:lstStyle/>
          <a:p>
            <a:r>
              <a:rPr sz="1200" b="1">
                <a:solidFill>
                  <a:srgbClr val="F8FAFC"/>
                </a:solidFill>
                <a:latin typeface="Consolas"/>
              </a:rPr>
              <a:t>Registered custom providers</a:t>
            </a:r>
          </a:p>
        </p:txBody>
      </p:sp>
      <p:sp>
        <p:nvSpPr>
          <p:cNvPr id="37" name="TextBox 36"/>
          <p:cNvSpPr txBox="1"/>
          <p:nvPr/>
        </p:nvSpPr>
        <p:spPr>
          <a:xfrm>
            <a:off x="7269480" y="5257800"/>
            <a:ext cx="4236415" cy="329184"/>
          </a:xfrm>
          <a:prstGeom prst="rect">
            <a:avLst/>
          </a:prstGeom>
          <a:noFill/>
        </p:spPr>
        <p:txBody>
          <a:bodyPr wrap="square" lIns="36576" rIns="36576" tIns="18288" bIns="18288">
            <a:spAutoFit/>
          </a:bodyPr>
          <a:lstStyle/>
          <a:p>
            <a:r>
              <a:rPr sz="1100" b="0">
                <a:solidFill>
                  <a:srgbClr val="CBD5E1"/>
                </a:solidFill>
                <a:latin typeface="Segoe UI"/>
              </a:rPr>
              <a:t>Any class implementing MemoryProvider; replicated to on write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11</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THE TOOLS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governed memory tools — contract surface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Seven CLI/SDK operations. Each one classifies, audits, and respects the class on the way in and out.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packages/squad-cli/src/cli/commands/memory.ts:177-285 • packages/squad-sdk/src/memory/index.ts (LocalMemoryStore)</a:t>
            </a:r>
          </a:p>
        </p:txBody>
      </p:sp>
      <p:sp>
        <p:nvSpPr>
          <p:cNvPr id="9" name="Rounded Rectangle 8"/>
          <p:cNvSpPr/>
          <p:nvPr/>
        </p:nvSpPr>
        <p:spPr>
          <a:xfrm>
            <a:off x="548640" y="1874519"/>
            <a:ext cx="11094415" cy="365760"/>
          </a:xfrm>
          <a:prstGeom prst="roundRect">
            <a:avLst/>
          </a:prstGeom>
          <a:solidFill>
            <a:srgbClr val="172554"/>
          </a:solidFill>
          <a:ln w="9525">
            <a:solidFill>
              <a:srgbClr val="1725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11095"/>
            <a:ext cx="3931920" cy="292608"/>
          </a:xfrm>
          <a:prstGeom prst="rect">
            <a:avLst/>
          </a:prstGeom>
          <a:noFill/>
        </p:spPr>
        <p:txBody>
          <a:bodyPr wrap="square" lIns="36576" rIns="36576" tIns="18288" bIns="18288">
            <a:spAutoFit/>
          </a:bodyPr>
          <a:lstStyle/>
          <a:p>
            <a:r>
              <a:rPr sz="1100" b="1">
                <a:solidFill>
                  <a:srgbClr val="38BDF8"/>
                </a:solidFill>
                <a:latin typeface="Segoe UI Semibold"/>
              </a:rPr>
              <a:t>COMMAND</a:t>
            </a:r>
          </a:p>
        </p:txBody>
      </p:sp>
      <p:sp>
        <p:nvSpPr>
          <p:cNvPr id="11" name="TextBox 10"/>
          <p:cNvSpPr txBox="1"/>
          <p:nvPr/>
        </p:nvSpPr>
        <p:spPr>
          <a:xfrm>
            <a:off x="4709159" y="1911095"/>
            <a:ext cx="3931920" cy="292608"/>
          </a:xfrm>
          <a:prstGeom prst="rect">
            <a:avLst/>
          </a:prstGeom>
          <a:noFill/>
        </p:spPr>
        <p:txBody>
          <a:bodyPr wrap="square" lIns="36576" rIns="36576" tIns="18288" bIns="18288">
            <a:spAutoFit/>
          </a:bodyPr>
          <a:lstStyle/>
          <a:p>
            <a:r>
              <a:rPr sz="1100" b="1">
                <a:solidFill>
                  <a:srgbClr val="38BDF8"/>
                </a:solidFill>
                <a:latin typeface="Segoe UI Semibold"/>
              </a:rPr>
              <a:t>SIGNATURE</a:t>
            </a:r>
          </a:p>
        </p:txBody>
      </p:sp>
      <p:sp>
        <p:nvSpPr>
          <p:cNvPr id="12" name="TextBox 11"/>
          <p:cNvSpPr txBox="1"/>
          <p:nvPr/>
        </p:nvSpPr>
        <p:spPr>
          <a:xfrm>
            <a:off x="8732519" y="1911095"/>
            <a:ext cx="2727655" cy="292608"/>
          </a:xfrm>
          <a:prstGeom prst="rect">
            <a:avLst/>
          </a:prstGeom>
          <a:noFill/>
        </p:spPr>
        <p:txBody>
          <a:bodyPr wrap="square" lIns="36576" rIns="36576" tIns="18288" bIns="18288">
            <a:spAutoFit/>
          </a:bodyPr>
          <a:lstStyle/>
          <a:p>
            <a:r>
              <a:rPr sz="1100" b="1">
                <a:solidFill>
                  <a:srgbClr val="38BDF8"/>
                </a:solidFill>
                <a:latin typeface="Segoe UI Semibold"/>
              </a:rPr>
              <a:t>PURPOSE</a:t>
            </a:r>
          </a:p>
        </p:txBody>
      </p:sp>
      <p:sp>
        <p:nvSpPr>
          <p:cNvPr id="13" name="Rounded Rectangle 12"/>
          <p:cNvSpPr/>
          <p:nvPr/>
        </p:nvSpPr>
        <p:spPr>
          <a:xfrm>
            <a:off x="548640" y="2313432"/>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5029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04872"/>
            <a:ext cx="3886200" cy="338328"/>
          </a:xfrm>
          <a:prstGeom prst="rect">
            <a:avLst/>
          </a:prstGeom>
          <a:noFill/>
        </p:spPr>
        <p:txBody>
          <a:bodyPr wrap="square" lIns="36576" rIns="36576" tIns="18288" bIns="18288" anchor="ctr">
            <a:spAutoFit/>
          </a:bodyPr>
          <a:lstStyle/>
          <a:p>
            <a:r>
              <a:rPr sz="1200" b="1">
                <a:solidFill>
                  <a:srgbClr val="38BDF8"/>
                </a:solidFill>
                <a:latin typeface="Consolas"/>
              </a:rPr>
              <a:t>squad memory classify</a:t>
            </a:r>
          </a:p>
        </p:txBody>
      </p:sp>
      <p:sp>
        <p:nvSpPr>
          <p:cNvPr id="16" name="TextBox 15"/>
          <p:cNvSpPr txBox="1"/>
          <p:nvPr/>
        </p:nvSpPr>
        <p:spPr>
          <a:xfrm>
            <a:off x="4709159" y="2404872"/>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(content) → { class, allowed, destination, loadGuidance, reason }</a:t>
            </a:r>
          </a:p>
        </p:txBody>
      </p:sp>
      <p:sp>
        <p:nvSpPr>
          <p:cNvPr id="17" name="TextBox 16"/>
          <p:cNvSpPr txBox="1"/>
          <p:nvPr/>
        </p:nvSpPr>
        <p:spPr>
          <a:xfrm>
            <a:off x="8732519" y="2404872"/>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Vet content. NO storage. Returns destination + load policy.</a:t>
            </a:r>
          </a:p>
        </p:txBody>
      </p:sp>
      <p:sp>
        <p:nvSpPr>
          <p:cNvPr id="18" name="Rounded Rectangle 17"/>
          <p:cNvSpPr/>
          <p:nvPr/>
        </p:nvSpPr>
        <p:spPr>
          <a:xfrm>
            <a:off x="548640" y="2871215"/>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871215"/>
            <a:ext cx="109728" cy="5029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62656"/>
            <a:ext cx="3886200" cy="338328"/>
          </a:xfrm>
          <a:prstGeom prst="rect">
            <a:avLst/>
          </a:prstGeom>
          <a:noFill/>
        </p:spPr>
        <p:txBody>
          <a:bodyPr wrap="square" lIns="36576" rIns="36576" tIns="18288" bIns="18288" anchor="ctr">
            <a:spAutoFit/>
          </a:bodyPr>
          <a:lstStyle/>
          <a:p>
            <a:r>
              <a:rPr sz="1200" b="1">
                <a:solidFill>
                  <a:srgbClr val="34D399"/>
                </a:solidFill>
                <a:latin typeface="Consolas"/>
              </a:rPr>
              <a:t>squad memory write</a:t>
            </a:r>
          </a:p>
        </p:txBody>
      </p:sp>
      <p:sp>
        <p:nvSpPr>
          <p:cNvPr id="21" name="TextBox 20"/>
          <p:cNvSpPr txBox="1"/>
          <p:nvPr/>
        </p:nvSpPr>
        <p:spPr>
          <a:xfrm>
            <a:off x="4709159" y="2962656"/>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(content, --class?, --title?) → { stored, id, classification, path }</a:t>
            </a:r>
          </a:p>
        </p:txBody>
      </p:sp>
      <p:sp>
        <p:nvSpPr>
          <p:cNvPr id="22" name="TextBox 21"/>
          <p:cNvSpPr txBox="1"/>
          <p:nvPr/>
        </p:nvSpPr>
        <p:spPr>
          <a:xfrm>
            <a:off x="8732519" y="2962656"/>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classify → store → audit → replicate to registered providers.</a:t>
            </a:r>
          </a:p>
        </p:txBody>
      </p:sp>
      <p:sp>
        <p:nvSpPr>
          <p:cNvPr id="23" name="Rounded Rectangle 22"/>
          <p:cNvSpPr/>
          <p:nvPr/>
        </p:nvSpPr>
        <p:spPr>
          <a:xfrm>
            <a:off x="548640" y="3429000"/>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429000"/>
            <a:ext cx="109728" cy="5029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520440"/>
            <a:ext cx="3886200" cy="338328"/>
          </a:xfrm>
          <a:prstGeom prst="rect">
            <a:avLst/>
          </a:prstGeom>
          <a:noFill/>
        </p:spPr>
        <p:txBody>
          <a:bodyPr wrap="square" lIns="36576" rIns="36576" tIns="18288" bIns="18288" anchor="ctr">
            <a:spAutoFit/>
          </a:bodyPr>
          <a:lstStyle/>
          <a:p>
            <a:r>
              <a:rPr sz="1200" b="1">
                <a:solidFill>
                  <a:srgbClr val="38BDF8"/>
                </a:solidFill>
                <a:latin typeface="Consolas"/>
              </a:rPr>
              <a:t>squad memory search</a:t>
            </a:r>
          </a:p>
        </p:txBody>
      </p:sp>
      <p:sp>
        <p:nvSpPr>
          <p:cNvPr id="26" name="TextBox 25"/>
          <p:cNvSpPr txBox="1"/>
          <p:nvPr/>
        </p:nvSpPr>
        <p:spPr>
          <a:xfrm>
            <a:off x="4709159" y="3520440"/>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(query) → [{ id, class, loadGuidance, snippet, provider }, …]</a:t>
            </a:r>
          </a:p>
        </p:txBody>
      </p:sp>
      <p:sp>
        <p:nvSpPr>
          <p:cNvPr id="27" name="TextBox 26"/>
          <p:cNvSpPr txBox="1"/>
          <p:nvPr/>
        </p:nvSpPr>
        <p:spPr>
          <a:xfrm>
            <a:off x="8732519" y="3520440"/>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Query active index. Query itself is classified; FORBIDDEN → [].</a:t>
            </a:r>
          </a:p>
        </p:txBody>
      </p:sp>
      <p:sp>
        <p:nvSpPr>
          <p:cNvPr id="28" name="Rounded Rectangle 27"/>
          <p:cNvSpPr/>
          <p:nvPr/>
        </p:nvSpPr>
        <p:spPr>
          <a:xfrm>
            <a:off x="548640" y="3986784"/>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986784"/>
            <a:ext cx="109728" cy="50292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078224"/>
            <a:ext cx="3886200" cy="338328"/>
          </a:xfrm>
          <a:prstGeom prst="rect">
            <a:avLst/>
          </a:prstGeom>
          <a:noFill/>
        </p:spPr>
        <p:txBody>
          <a:bodyPr wrap="square" lIns="36576" rIns="36576" tIns="18288" bIns="18288" anchor="ctr">
            <a:spAutoFit/>
          </a:bodyPr>
          <a:lstStyle/>
          <a:p>
            <a:r>
              <a:rPr sz="1200" b="1">
                <a:solidFill>
                  <a:srgbClr val="A78BFA"/>
                </a:solidFill>
                <a:latin typeface="Consolas"/>
              </a:rPr>
              <a:t>squad memory promote</a:t>
            </a:r>
          </a:p>
        </p:txBody>
      </p:sp>
      <p:sp>
        <p:nvSpPr>
          <p:cNvPr id="31" name="TextBox 30"/>
          <p:cNvSpPr txBox="1"/>
          <p:nvPr/>
        </p:nvSpPr>
        <p:spPr>
          <a:xfrm>
            <a:off x="4709159" y="4078224"/>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(id, targetClass) → { stored, classification }</a:t>
            </a:r>
          </a:p>
        </p:txBody>
      </p:sp>
      <p:sp>
        <p:nvSpPr>
          <p:cNvPr id="32" name="TextBox 31"/>
          <p:cNvSpPr txBox="1"/>
          <p:nvPr/>
        </p:nvSpPr>
        <p:spPr>
          <a:xfrm>
            <a:off x="8732519" y="4078224"/>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Reclassify an existing entry. Cannot promote to FORBIDDEN or TRANSIENT.</a:t>
            </a:r>
          </a:p>
        </p:txBody>
      </p:sp>
      <p:sp>
        <p:nvSpPr>
          <p:cNvPr id="33" name="Rounded Rectangle 32"/>
          <p:cNvSpPr/>
          <p:nvPr/>
        </p:nvSpPr>
        <p:spPr>
          <a:xfrm>
            <a:off x="548640" y="4544568"/>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4544568"/>
            <a:ext cx="109728" cy="502920"/>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636008"/>
            <a:ext cx="3886200" cy="338328"/>
          </a:xfrm>
          <a:prstGeom prst="rect">
            <a:avLst/>
          </a:prstGeom>
          <a:noFill/>
        </p:spPr>
        <p:txBody>
          <a:bodyPr wrap="square" lIns="36576" rIns="36576" tIns="18288" bIns="18288" anchor="ctr">
            <a:spAutoFit/>
          </a:bodyPr>
          <a:lstStyle/>
          <a:p>
            <a:r>
              <a:rPr sz="1200" b="1">
                <a:solidFill>
                  <a:srgbClr val="FB7185"/>
                </a:solidFill>
                <a:latin typeface="Consolas"/>
              </a:rPr>
              <a:t>squad memory delete</a:t>
            </a:r>
          </a:p>
        </p:txBody>
      </p:sp>
      <p:sp>
        <p:nvSpPr>
          <p:cNvPr id="36" name="TextBox 35"/>
          <p:cNvSpPr txBox="1"/>
          <p:nvPr/>
        </p:nvSpPr>
        <p:spPr>
          <a:xfrm>
            <a:off x="4709159" y="4636008"/>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(id) → boolean</a:t>
            </a:r>
          </a:p>
        </p:txBody>
      </p:sp>
      <p:sp>
        <p:nvSpPr>
          <p:cNvPr id="37" name="TextBox 36"/>
          <p:cNvSpPr txBox="1"/>
          <p:nvPr/>
        </p:nvSpPr>
        <p:spPr>
          <a:xfrm>
            <a:off x="8732519" y="4636008"/>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Remove entry from index + emit audit event.</a:t>
            </a:r>
          </a:p>
        </p:txBody>
      </p:sp>
      <p:sp>
        <p:nvSpPr>
          <p:cNvPr id="38" name="Rounded Rectangle 37"/>
          <p:cNvSpPr/>
          <p:nvPr/>
        </p:nvSpPr>
        <p:spPr>
          <a:xfrm>
            <a:off x="548640" y="5102352"/>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102352"/>
            <a:ext cx="109728" cy="5029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193792"/>
            <a:ext cx="3886200" cy="338328"/>
          </a:xfrm>
          <a:prstGeom prst="rect">
            <a:avLst/>
          </a:prstGeom>
          <a:noFill/>
        </p:spPr>
        <p:txBody>
          <a:bodyPr wrap="square" lIns="36576" rIns="36576" tIns="18288" bIns="18288" anchor="ctr">
            <a:spAutoFit/>
          </a:bodyPr>
          <a:lstStyle/>
          <a:p>
            <a:r>
              <a:rPr sz="1200" b="1">
                <a:solidFill>
                  <a:srgbClr val="FBBF24"/>
                </a:solidFill>
                <a:latin typeface="Consolas"/>
              </a:rPr>
              <a:t>squad memory audit</a:t>
            </a:r>
          </a:p>
        </p:txBody>
      </p:sp>
      <p:sp>
        <p:nvSpPr>
          <p:cNvPr id="41" name="TextBox 40"/>
          <p:cNvSpPr txBox="1"/>
          <p:nvPr/>
        </p:nvSpPr>
        <p:spPr>
          <a:xfrm>
            <a:off x="4709159" y="5193792"/>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 → [event…]</a:t>
            </a:r>
          </a:p>
        </p:txBody>
      </p:sp>
      <p:sp>
        <p:nvSpPr>
          <p:cNvPr id="42" name="TextBox 41"/>
          <p:cNvSpPr txBox="1"/>
          <p:nvPr/>
        </p:nvSpPr>
        <p:spPr>
          <a:xfrm>
            <a:off x="8732519" y="5193792"/>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Read the redacted forensics trail. Every tool emits exactly one.</a:t>
            </a:r>
          </a:p>
        </p:txBody>
      </p:sp>
      <p:sp>
        <p:nvSpPr>
          <p:cNvPr id="43" name="Rounded Rectangle 42"/>
          <p:cNvSpPr/>
          <p:nvPr/>
        </p:nvSpPr>
        <p:spPr>
          <a:xfrm>
            <a:off x="548640" y="5660136"/>
            <a:ext cx="11094415" cy="502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5660136"/>
            <a:ext cx="109728" cy="502920"/>
          </a:xfrm>
          <a:prstGeom prst="rect">
            <a:avLst/>
          </a:prstGeom>
          <a:solidFill>
            <a:srgbClr val="94A3B8"/>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751576"/>
            <a:ext cx="3886200" cy="338328"/>
          </a:xfrm>
          <a:prstGeom prst="rect">
            <a:avLst/>
          </a:prstGeom>
          <a:noFill/>
        </p:spPr>
        <p:txBody>
          <a:bodyPr wrap="square" lIns="36576" rIns="36576" tIns="18288" bIns="18288" anchor="ctr">
            <a:spAutoFit/>
          </a:bodyPr>
          <a:lstStyle/>
          <a:p>
            <a:r>
              <a:rPr sz="1200" b="1">
                <a:solidFill>
                  <a:srgbClr val="94A3B8"/>
                </a:solidFill>
                <a:latin typeface="Consolas"/>
              </a:rPr>
              <a:t>squad memory provider</a:t>
            </a:r>
          </a:p>
        </p:txBody>
      </p:sp>
      <p:sp>
        <p:nvSpPr>
          <p:cNvPr id="46" name="TextBox 45"/>
          <p:cNvSpPr txBox="1"/>
          <p:nvPr/>
        </p:nvSpPr>
        <p:spPr>
          <a:xfrm>
            <a:off x="4709159" y="5751576"/>
            <a:ext cx="3931920" cy="338328"/>
          </a:xfrm>
          <a:prstGeom prst="rect">
            <a:avLst/>
          </a:prstGeom>
          <a:noFill/>
        </p:spPr>
        <p:txBody>
          <a:bodyPr wrap="square" lIns="36576" rIns="36576" tIns="18288" bIns="18288" anchor="ctr">
            <a:spAutoFit/>
          </a:bodyPr>
          <a:lstStyle/>
          <a:p>
            <a:r>
              <a:rPr sz="1000" b="0">
                <a:solidFill>
                  <a:srgbClr val="CBD5E1"/>
                </a:solidFill>
                <a:latin typeface="Consolas"/>
              </a:rPr>
              <a:t>() → { defaultProvider, realCopilotMemory: { available, reason } }</a:t>
            </a:r>
          </a:p>
        </p:txBody>
      </p:sp>
      <p:sp>
        <p:nvSpPr>
          <p:cNvPr id="47" name="TextBox 46"/>
          <p:cNvSpPr txBox="1"/>
          <p:nvPr/>
        </p:nvSpPr>
        <p:spPr>
          <a:xfrm>
            <a:off x="8732519" y="5751576"/>
            <a:ext cx="2727655" cy="338328"/>
          </a:xfrm>
          <a:prstGeom prst="rect">
            <a:avLst/>
          </a:prstGeom>
          <a:noFill/>
        </p:spPr>
        <p:txBody>
          <a:bodyPr wrap="square" lIns="36576" rIns="36576" tIns="18288" bIns="18288" anchor="ctr">
            <a:spAutoFit/>
          </a:bodyPr>
          <a:lstStyle/>
          <a:p>
            <a:r>
              <a:rPr sz="1100" b="0">
                <a:solidFill>
                  <a:srgbClr val="F8FAFC"/>
                </a:solidFill>
                <a:latin typeface="Segoe UI"/>
              </a:rPr>
              <a:t>Inspect what's actually configured. Fail-closed for missing providers.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SPOTLIGHT: CLASSIFY</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`squad memory classify` — the governance gate, with one honest surprise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Vets content. No storage. The CI/PR/build pattern overlap means FORBIDDEN catches it before TRANSIENT ever runs.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packages/squad-sdk/src/memory/index.ts:360-372 (FORBIDDEN_PATTERNS) + :594-621 (classify)  •  verified live 2026-06-09</a:t>
            </a:r>
          </a:p>
        </p:txBody>
      </p:sp>
      <p:sp>
        <p:nvSpPr>
          <p:cNvPr id="9" name="Rounded Rectangle 8"/>
          <p:cNvSpPr/>
          <p:nvPr/>
        </p:nvSpPr>
        <p:spPr>
          <a:xfrm>
            <a:off x="548640" y="1874519"/>
            <a:ext cx="6400800" cy="40233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64008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6126480" cy="228600"/>
          </a:xfrm>
          <a:prstGeom prst="rect">
            <a:avLst/>
          </a:prstGeom>
          <a:noFill/>
        </p:spPr>
        <p:txBody>
          <a:bodyPr wrap="square" lIns="36576" rIns="36576" tIns="18288" bIns="18288">
            <a:spAutoFit/>
          </a:bodyPr>
          <a:lstStyle/>
          <a:p>
            <a:r>
              <a:rPr sz="1000" b="1">
                <a:solidFill>
                  <a:srgbClr val="38BDF8"/>
                </a:solidFill>
                <a:latin typeface="Segoe UI Semibold"/>
              </a:rPr>
              <a:t>six paths — verified against the real SDK (run them yourself)</a:t>
            </a:r>
          </a:p>
        </p:txBody>
      </p:sp>
      <p:sp>
        <p:nvSpPr>
          <p:cNvPr id="12" name="TextBox 11"/>
          <p:cNvSpPr txBox="1"/>
          <p:nvPr/>
        </p:nvSpPr>
        <p:spPr>
          <a:xfrm>
            <a:off x="713232" y="2167127"/>
            <a:ext cx="6126480" cy="3675888"/>
          </a:xfrm>
          <a:prstGeom prst="rect">
            <a:avLst/>
          </a:prstGeom>
          <a:noFill/>
        </p:spPr>
        <p:txBody>
          <a:bodyPr wrap="square" lIns="36576" rIns="36576">
            <a:spAutoFit/>
          </a:bodyPr>
          <a:lstStyle/>
          <a:p>
            <a:pPr>
              <a:spcAft>
                <a:spcPts val="100"/>
              </a:spcAft>
            </a:pPr>
            <a:r>
              <a:rPr sz="1100">
                <a:solidFill>
                  <a:srgbClr val="F8FAFC"/>
                </a:solidFill>
                <a:latin typeface="Consolas"/>
              </a:rPr>
              <a:t># 1. FORBIDDEN scan runs FIRST — beats every override</a:t>
            </a:r>
          </a:p>
          <a:p>
            <a:pPr>
              <a:spcAft>
                <a:spcPts val="100"/>
              </a:spcAft>
            </a:pPr>
            <a:r>
              <a:rPr sz="1100">
                <a:solidFill>
                  <a:srgbClr val="F8FAFC"/>
                </a:solidFill>
                <a:latin typeface="Consolas"/>
              </a:rPr>
              <a:t>$ squad memory classify "sk-1234567890abcdef..."</a:t>
            </a:r>
          </a:p>
          <a:p>
            <a:pPr>
              <a:spcAft>
                <a:spcPts val="100"/>
              </a:spcAft>
            </a:pPr>
            <a:r>
              <a:rPr sz="1100">
                <a:solidFill>
                  <a:srgbClr val="CBD5E1"/>
                </a:solidFill>
                <a:latin typeface="Consolas"/>
              </a:rPr>
              <a:t>  class: FORBIDDEN    allowed: FALSE      reason: access token</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2. FORBIDDEN ALSO catches CI/PR/build status (same regex appears</a:t>
            </a:r>
          </a:p>
          <a:p>
            <a:pPr>
              <a:spcAft>
                <a:spcPts val="100"/>
              </a:spcAft>
            </a:pPr>
            <a:r>
              <a:rPr sz="1100">
                <a:solidFill>
                  <a:srgbClr val="F8FAFC"/>
                </a:solidFill>
                <a:latin typeface="Consolas"/>
              </a:rPr>
              <a:t>#    in both lists — FORBIDDEN scan wins, so TRANSIENT heuristic is</a:t>
            </a:r>
          </a:p>
          <a:p>
            <a:pPr>
              <a:spcAft>
                <a:spcPts val="100"/>
              </a:spcAft>
            </a:pPr>
            <a:r>
              <a:rPr sz="1100">
                <a:solidFill>
                  <a:srgbClr val="F8FAFC"/>
                </a:solidFill>
                <a:latin typeface="Consolas"/>
              </a:rPr>
              <a:t>#    unreachable from heuristics today; only fires via explicit --class)</a:t>
            </a:r>
          </a:p>
          <a:p>
            <a:pPr>
              <a:spcAft>
                <a:spcPts val="100"/>
              </a:spcAft>
            </a:pPr>
            <a:r>
              <a:rPr sz="1100">
                <a:solidFill>
                  <a:srgbClr val="F8FAFC"/>
                </a:solidFill>
                <a:latin typeface="Consolas"/>
              </a:rPr>
              <a:t>$ squad memory classify "CI build failed at 14:32"</a:t>
            </a:r>
          </a:p>
          <a:p>
            <a:pPr>
              <a:spcAft>
                <a:spcPts val="100"/>
              </a:spcAft>
            </a:pPr>
            <a:r>
              <a:rPr sz="1100">
                <a:solidFill>
                  <a:srgbClr val="CBD5E1"/>
                </a:solidFill>
                <a:latin typeface="Consolas"/>
              </a:rPr>
              <a:t>  class: FORBIDDEN    allowed: FALSE      reason: transient CI/PR status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3. POLICY: /^(always|never|must|do not)/i</a:t>
            </a:r>
          </a:p>
          <a:p>
            <a:pPr>
              <a:spcAft>
                <a:spcPts val="100"/>
              </a:spcAft>
            </a:pPr>
            <a:r>
              <a:rPr sz="1100">
                <a:solidFill>
                  <a:srgbClr val="F8FAFC"/>
                </a:solidFill>
                <a:latin typeface="Consolas"/>
              </a:rPr>
              <a:t>$ squad memory classify "Always deploy on Tuesdays"</a:t>
            </a:r>
          </a:p>
          <a:p>
            <a:pPr>
              <a:spcAft>
                <a:spcPts val="100"/>
              </a:spcAft>
            </a:pPr>
            <a:r>
              <a:rPr sz="1100">
                <a:solidFill>
                  <a:srgbClr val="CBD5E1"/>
                </a:solidFill>
                <a:latin typeface="Consolas"/>
              </a:rPr>
              <a:t>  class: POLICY       allowed: true       loadGuidance: ALWAYS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4. DECISION: /decision|decided|adopt|standardize/</a:t>
            </a:r>
          </a:p>
          <a:p>
            <a:pPr>
              <a:spcAft>
                <a:spcPts val="100"/>
              </a:spcAft>
            </a:pPr>
            <a:r>
              <a:rPr sz="1100">
                <a:solidFill>
                  <a:srgbClr val="F8FAFC"/>
                </a:solidFill>
                <a:latin typeface="Consolas"/>
              </a:rPr>
              <a:t>$ squad memory classify "We decided to use PostgreSQL"</a:t>
            </a:r>
          </a:p>
          <a:p>
            <a:pPr>
              <a:spcAft>
                <a:spcPts val="100"/>
              </a:spcAft>
            </a:pPr>
            <a:r>
              <a:rPr sz="1100">
                <a:solidFill>
                  <a:srgbClr val="CBD5E1"/>
                </a:solidFill>
                <a:latin typeface="Consolas"/>
              </a:rPr>
              <a:t>  class: DECISION     allowed: true       loadGuidance: ALWAYS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5. LOCAL fallthrough — no signal, no danger</a:t>
            </a:r>
          </a:p>
          <a:p>
            <a:pPr>
              <a:spcAft>
                <a:spcPts val="100"/>
              </a:spcAft>
            </a:pPr>
            <a:r>
              <a:rPr sz="1100">
                <a:solidFill>
                  <a:srgbClr val="F8FAFC"/>
                </a:solidFill>
                <a:latin typeface="Consolas"/>
              </a:rPr>
              <a:t>$ squad memory classify "hello"</a:t>
            </a:r>
          </a:p>
          <a:p>
            <a:pPr>
              <a:spcAft>
                <a:spcPts val="100"/>
              </a:spcAft>
            </a:pPr>
            <a:r>
              <a:rPr sz="1100">
                <a:solidFill>
                  <a:srgbClr val="CBD5E1"/>
                </a:solidFill>
                <a:latin typeface="Consolas"/>
              </a:rPr>
              <a:t>  class: LOCAL        allowed: true       loadGuidance: ON-DEMAND</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6. explicit override — caller can force a class</a:t>
            </a:r>
          </a:p>
          <a:p>
            <a:pPr>
              <a:spcAft>
                <a:spcPts val="100"/>
              </a:spcAft>
            </a:pPr>
            <a:r>
              <a:rPr sz="1100">
                <a:solidFill>
                  <a:srgbClr val="F8FAFC"/>
                </a:solidFill>
                <a:latin typeface="Consolas"/>
              </a:rPr>
              <a:t>$ squad memory classify "hello" --class POLICY</a:t>
            </a:r>
          </a:p>
          <a:p>
            <a:pPr>
              <a:spcAft>
                <a:spcPts val="100"/>
              </a:spcAft>
            </a:pPr>
            <a:r>
              <a:rPr sz="1100">
                <a:solidFill>
                  <a:srgbClr val="CBD5E1"/>
                </a:solidFill>
                <a:latin typeface="Consolas"/>
              </a:rPr>
              <a:t>  class: POLICY       allowed: true       loadGuidance: ALWAYS</a:t>
            </a:r>
          </a:p>
        </p:txBody>
      </p:sp>
      <p:sp>
        <p:nvSpPr>
          <p:cNvPr id="13" name="Rounded Rectangle 12"/>
          <p:cNvSpPr/>
          <p:nvPr/>
        </p:nvSpPr>
        <p:spPr>
          <a:xfrm>
            <a:off x="7132320" y="1874519"/>
            <a:ext cx="4480560" cy="40233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0" y="1874519"/>
            <a:ext cx="44805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691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6" name="TextBox 15"/>
          <p:cNvSpPr txBox="1"/>
          <p:nvPr/>
        </p:nvSpPr>
        <p:spPr>
          <a:xfrm>
            <a:off x="7818120" y="2039112"/>
            <a:ext cx="3703320" cy="411480"/>
          </a:xfrm>
          <a:prstGeom prst="rect">
            <a:avLst/>
          </a:prstGeom>
          <a:noFill/>
        </p:spPr>
        <p:txBody>
          <a:bodyPr wrap="square" lIns="36576" rIns="36576" tIns="18288" bIns="18288" anchor="ctr">
            <a:spAutoFit/>
          </a:bodyPr>
          <a:lstStyle/>
          <a:p>
            <a:r>
              <a:rPr sz="1500" b="1">
                <a:solidFill>
                  <a:srgbClr val="F8FAFC"/>
                </a:solidFill>
                <a:latin typeface="Segoe UI"/>
              </a:rPr>
              <a:t>What classify actually does</a:t>
            </a:r>
          </a:p>
        </p:txBody>
      </p:sp>
      <p:sp>
        <p:nvSpPr>
          <p:cNvPr id="17" name="TextBox 16"/>
          <p:cNvSpPr txBox="1"/>
          <p:nvPr/>
        </p:nvSpPr>
        <p:spPr>
          <a:xfrm>
            <a:off x="7296912" y="2560320"/>
            <a:ext cx="4206240" cy="324612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Vets content. NO storage.</a:t>
            </a:r>
          </a:p>
          <a:p>
            <a:pPr>
              <a:spcAft>
                <a:spcPts val="300"/>
              </a:spcAft>
            </a:pPr>
            <a:r>
              <a:rPr sz="1200" b="1">
                <a:solidFill>
                  <a:srgbClr val="38BDF8"/>
                </a:solidFill>
                <a:latin typeface="Segoe UI"/>
              </a:rPr>
              <a:t>•  </a:t>
            </a:r>
            <a:r>
              <a:rPr sz="1200">
                <a:solidFill>
                  <a:srgbClr val="CBD5E1"/>
                </a:solidFill>
                <a:latin typeface="Segoe UI"/>
              </a:rPr>
              <a:t>Returns the verdict the WRITE would get.</a:t>
            </a:r>
          </a:p>
          <a:p>
            <a:pPr>
              <a:spcAft>
                <a:spcPts val="300"/>
              </a:spcAft>
            </a:pPr>
            <a:r>
              <a:rPr sz="1200" b="1">
                <a:solidFill>
                  <a:srgbClr val="38BDF8"/>
                </a:solidFill>
                <a:latin typeface="Segoe UI"/>
              </a:rPr>
              <a:t>•  </a:t>
            </a:r>
            <a:r>
              <a:rPr sz="1200">
                <a:solidFill>
                  <a:srgbClr val="CBD5E1"/>
                </a:solidFill>
                <a:latin typeface="Segoe UI"/>
              </a:rPr>
              <a:t/>
            </a:r>
          </a:p>
          <a:p>
            <a:pPr>
              <a:spcAft>
                <a:spcPts val="300"/>
              </a:spcAft>
            </a:pPr>
            <a:r>
              <a:rPr sz="1200" b="1">
                <a:solidFill>
                  <a:srgbClr val="38BDF8"/>
                </a:solidFill>
                <a:latin typeface="Segoe UI"/>
              </a:rPr>
              <a:t>•  </a:t>
            </a:r>
            <a:r>
              <a:rPr sz="1200">
                <a:solidFill>
                  <a:srgbClr val="CBD5E1"/>
                </a:solidFill>
                <a:latin typeface="Segoe UI"/>
              </a:rPr>
              <a:t>Real evaluation order (memory/index.ts:594-621):</a:t>
            </a:r>
          </a:p>
          <a:p>
            <a:pPr>
              <a:spcAft>
                <a:spcPts val="300"/>
              </a:spcAft>
            </a:pPr>
            <a:r>
              <a:rPr sz="1200" b="1">
                <a:solidFill>
                  <a:srgbClr val="38BDF8"/>
                </a:solidFill>
                <a:latin typeface="Segoe UI"/>
              </a:rPr>
              <a:t>•  </a:t>
            </a:r>
            <a:r>
              <a:rPr sz="1200">
                <a:solidFill>
                  <a:srgbClr val="CBD5E1"/>
                </a:solidFill>
                <a:latin typeface="Segoe UI"/>
              </a:rPr>
              <a:t>  1. FORBIDDEN scan — wins over everything</a:t>
            </a:r>
          </a:p>
          <a:p>
            <a:pPr>
              <a:spcAft>
                <a:spcPts val="300"/>
              </a:spcAft>
            </a:pPr>
            <a:r>
              <a:rPr sz="1200" b="1">
                <a:solidFill>
                  <a:srgbClr val="38BDF8"/>
                </a:solidFill>
                <a:latin typeface="Segoe UI"/>
              </a:rPr>
              <a:t>•  </a:t>
            </a:r>
            <a:r>
              <a:rPr sz="1200">
                <a:solidFill>
                  <a:srgbClr val="CBD5E1"/>
                </a:solidFill>
                <a:latin typeface="Segoe UI"/>
              </a:rPr>
              <a:t>  2. ⚠ Heuristics block (TRANSIENT first,</a:t>
            </a:r>
          </a:p>
          <a:p>
            <a:pPr>
              <a:spcAft>
                <a:spcPts val="300"/>
              </a:spcAft>
            </a:pPr>
            <a:r>
              <a:rPr sz="1200" b="1">
                <a:solidFill>
                  <a:srgbClr val="38BDF8"/>
                </a:solidFill>
                <a:latin typeface="Segoe UI"/>
              </a:rPr>
              <a:t>•  </a:t>
            </a:r>
            <a:r>
              <a:rPr sz="1200">
                <a:solidFill>
                  <a:srgbClr val="CBD5E1"/>
                </a:solidFill>
                <a:latin typeface="Segoe UI"/>
              </a:rPr>
              <a:t>     then POLICY/DECISION/COPILOT_MEMORY,</a:t>
            </a:r>
          </a:p>
          <a:p>
            <a:pPr>
              <a:spcAft>
                <a:spcPts val="300"/>
              </a:spcAft>
            </a:pPr>
            <a:r>
              <a:rPr sz="1200" b="1">
                <a:solidFill>
                  <a:srgbClr val="38BDF8"/>
                </a:solidFill>
                <a:latin typeface="Segoe UI"/>
              </a:rPr>
              <a:t>•  </a:t>
            </a:r>
            <a:r>
              <a:rPr sz="1200">
                <a:solidFill>
                  <a:srgbClr val="CBD5E1"/>
                </a:solidFill>
                <a:latin typeface="Segoe UI"/>
              </a:rPr>
              <a:t>     LOCAL fallthrough)</a:t>
            </a:r>
          </a:p>
          <a:p>
            <a:pPr>
              <a:spcAft>
                <a:spcPts val="300"/>
              </a:spcAft>
            </a:pPr>
            <a:r>
              <a:rPr sz="1200" b="1">
                <a:solidFill>
                  <a:srgbClr val="38BDF8"/>
                </a:solidFill>
                <a:latin typeface="Segoe UI"/>
              </a:rPr>
              <a:t>•  </a:t>
            </a:r>
            <a:r>
              <a:rPr sz="1200">
                <a:solidFill>
                  <a:srgbClr val="CBD5E1"/>
                </a:solidFill>
                <a:latin typeface="Segoe UI"/>
              </a:rPr>
              <a:t/>
            </a:r>
          </a:p>
          <a:p>
            <a:pPr>
              <a:spcAft>
                <a:spcPts val="300"/>
              </a:spcAft>
            </a:pPr>
            <a:r>
              <a:rPr sz="1200" b="1">
                <a:solidFill>
                  <a:srgbClr val="38BDF8"/>
                </a:solidFill>
                <a:latin typeface="Segoe UI"/>
              </a:rPr>
              <a:t>•  </a:t>
            </a:r>
            <a:r>
              <a:rPr sz="1200">
                <a:solidFill>
                  <a:srgbClr val="CBD5E1"/>
                </a:solidFill>
                <a:latin typeface="Segoe UI"/>
              </a:rPr>
              <a:t>Honest finding worth knowing:</a:t>
            </a:r>
          </a:p>
          <a:p>
            <a:pPr>
              <a:spcAft>
                <a:spcPts val="300"/>
              </a:spcAft>
            </a:pPr>
            <a:r>
              <a:rPr sz="1200" b="1">
                <a:solidFill>
                  <a:srgbClr val="38BDF8"/>
                </a:solidFill>
                <a:latin typeface="Segoe UI"/>
              </a:rPr>
              <a:t>•  </a:t>
            </a:r>
            <a:r>
              <a:rPr sz="1200">
                <a:solidFill>
                  <a:srgbClr val="CBD5E1"/>
                </a:solidFill>
                <a:latin typeface="Segoe UI"/>
              </a:rPr>
              <a:t>the (CI|PR|build) regex sits in BOTH lists —</a:t>
            </a:r>
          </a:p>
          <a:p>
            <a:pPr>
              <a:spcAft>
                <a:spcPts val="300"/>
              </a:spcAft>
            </a:pPr>
            <a:r>
              <a:rPr sz="1200" b="1">
                <a:solidFill>
                  <a:srgbClr val="38BDF8"/>
                </a:solidFill>
                <a:latin typeface="Segoe UI"/>
              </a:rPr>
              <a:t>•  </a:t>
            </a:r>
            <a:r>
              <a:rPr sz="1200">
                <a:solidFill>
                  <a:srgbClr val="CBD5E1"/>
                </a:solidFill>
                <a:latin typeface="Segoe UI"/>
              </a:rPr>
              <a:t>FORBIDDEN catches it first, so the TRANSIENT</a:t>
            </a:r>
          </a:p>
          <a:p>
            <a:pPr>
              <a:spcAft>
                <a:spcPts val="300"/>
              </a:spcAft>
            </a:pPr>
            <a:r>
              <a:rPr sz="1200" b="1">
                <a:solidFill>
                  <a:srgbClr val="38BDF8"/>
                </a:solidFill>
                <a:latin typeface="Segoe UI"/>
              </a:rPr>
              <a:t>•  </a:t>
            </a:r>
            <a:r>
              <a:rPr sz="1200">
                <a:solidFill>
                  <a:srgbClr val="CBD5E1"/>
                </a:solidFill>
                <a:latin typeface="Segoe UI"/>
              </a:rPr>
              <a:t>heuristic is unreachable for those inputs.</a:t>
            </a:r>
          </a:p>
          <a:p>
            <a:pPr>
              <a:spcAft>
                <a:spcPts val="300"/>
              </a:spcAft>
            </a:pPr>
            <a:r>
              <a:rPr sz="1200" b="1">
                <a:solidFill>
                  <a:srgbClr val="38BDF8"/>
                </a:solidFill>
                <a:latin typeface="Segoe UI"/>
              </a:rPr>
              <a:t>•  </a:t>
            </a:r>
            <a:r>
              <a:rPr sz="1200">
                <a:solidFill>
                  <a:srgbClr val="CBD5E1"/>
                </a:solidFill>
                <a:latin typeface="Segoe UI"/>
              </a:rPr>
              <a:t>Belt-and-suspenders by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RETRIEVAL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How classes shape what actually loads into context</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Class on write → load guidance on read. Memory becomes a queryable index.</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packages/squad-sdk/src/memory/index.ts:863-966 — search() with class-aware filtering</a:t>
            </a:r>
          </a:p>
        </p:txBody>
      </p:sp>
      <p:sp>
        <p:nvSpPr>
          <p:cNvPr id="9" name="Rounded Rectangle 8"/>
          <p:cNvSpPr/>
          <p:nvPr/>
        </p:nvSpPr>
        <p:spPr>
          <a:xfrm>
            <a:off x="548640"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query</a:t>
            </a:r>
          </a:p>
        </p:txBody>
      </p:sp>
      <p:sp>
        <p:nvSpPr>
          <p:cNvPr id="11" name="TextBox 10"/>
          <p:cNvSpPr txBox="1"/>
          <p:nvPr/>
        </p:nvSpPr>
        <p:spPr>
          <a:xfrm>
            <a:off x="1898425" y="1874519"/>
            <a:ext cx="274320" cy="50292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2" name="Rounded Rectangle 11"/>
          <p:cNvSpPr/>
          <p:nvPr/>
        </p:nvSpPr>
        <p:spPr>
          <a:xfrm>
            <a:off x="2172745"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18465"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classify query</a:t>
            </a:r>
          </a:p>
        </p:txBody>
      </p:sp>
      <p:sp>
        <p:nvSpPr>
          <p:cNvPr id="14" name="TextBox 13"/>
          <p:cNvSpPr txBox="1"/>
          <p:nvPr/>
        </p:nvSpPr>
        <p:spPr>
          <a:xfrm>
            <a:off x="3522530" y="1874519"/>
            <a:ext cx="274320" cy="50292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5" name="Rounded Rectangle 14"/>
          <p:cNvSpPr/>
          <p:nvPr/>
        </p:nvSpPr>
        <p:spPr>
          <a:xfrm>
            <a:off x="3796850"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2570"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reject FORBIDDEN</a:t>
            </a:r>
          </a:p>
        </p:txBody>
      </p:sp>
      <p:sp>
        <p:nvSpPr>
          <p:cNvPr id="17" name="TextBox 16"/>
          <p:cNvSpPr txBox="1"/>
          <p:nvPr/>
        </p:nvSpPr>
        <p:spPr>
          <a:xfrm>
            <a:off x="5146635" y="1874519"/>
            <a:ext cx="274320" cy="50292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8" name="Rounded Rectangle 17"/>
          <p:cNvSpPr/>
          <p:nvPr/>
        </p:nvSpPr>
        <p:spPr>
          <a:xfrm>
            <a:off x="5420955"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66675"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scan active index</a:t>
            </a:r>
          </a:p>
        </p:txBody>
      </p:sp>
      <p:sp>
        <p:nvSpPr>
          <p:cNvPr id="20" name="TextBox 19"/>
          <p:cNvSpPr txBox="1"/>
          <p:nvPr/>
        </p:nvSpPr>
        <p:spPr>
          <a:xfrm>
            <a:off x="6770740" y="1874519"/>
            <a:ext cx="274320" cy="50292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21" name="Rounded Rectangle 20"/>
          <p:cNvSpPr/>
          <p:nvPr/>
        </p:nvSpPr>
        <p:spPr>
          <a:xfrm>
            <a:off x="7045060"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90780"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skip COPILOT_MEMORY*</a:t>
            </a:r>
          </a:p>
        </p:txBody>
      </p:sp>
      <p:sp>
        <p:nvSpPr>
          <p:cNvPr id="23" name="TextBox 22"/>
          <p:cNvSpPr txBox="1"/>
          <p:nvPr/>
        </p:nvSpPr>
        <p:spPr>
          <a:xfrm>
            <a:off x="8394845" y="1874519"/>
            <a:ext cx="274320" cy="50292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24" name="Rounded Rectangle 23"/>
          <p:cNvSpPr/>
          <p:nvPr/>
        </p:nvSpPr>
        <p:spPr>
          <a:xfrm>
            <a:off x="8669165"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14885"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match</a:t>
            </a:r>
          </a:p>
        </p:txBody>
      </p:sp>
      <p:sp>
        <p:nvSpPr>
          <p:cNvPr id="26" name="TextBox 25"/>
          <p:cNvSpPr txBox="1"/>
          <p:nvPr/>
        </p:nvSpPr>
        <p:spPr>
          <a:xfrm>
            <a:off x="10018950" y="1874519"/>
            <a:ext cx="274320" cy="50292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27" name="Rounded Rectangle 26"/>
          <p:cNvSpPr/>
          <p:nvPr/>
        </p:nvSpPr>
        <p:spPr>
          <a:xfrm>
            <a:off x="10293270" y="1874519"/>
            <a:ext cx="1349785" cy="50292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990" y="1874519"/>
            <a:ext cx="1258345" cy="502920"/>
          </a:xfrm>
          <a:prstGeom prst="rect">
            <a:avLst/>
          </a:prstGeom>
          <a:noFill/>
        </p:spPr>
        <p:txBody>
          <a:bodyPr wrap="square" lIns="36576" rIns="36576" tIns="18288" bIns="18288" anchor="ctr">
            <a:spAutoFit/>
          </a:bodyPr>
          <a:lstStyle/>
          <a:p>
            <a:pPr algn="ctr"/>
            <a:r>
              <a:rPr sz="1200" b="1">
                <a:solidFill>
                  <a:srgbClr val="F8FAFC"/>
                </a:solidFill>
                <a:latin typeface="Segoe UI Semibold"/>
              </a:rPr>
              <a:t>return + guidance</a:t>
            </a:r>
          </a:p>
        </p:txBody>
      </p:sp>
      <p:sp>
        <p:nvSpPr>
          <p:cNvPr id="29" name="Rounded Rectangle 28"/>
          <p:cNvSpPr/>
          <p:nvPr/>
        </p:nvSpPr>
        <p:spPr>
          <a:xfrm>
            <a:off x="548640" y="2697479"/>
            <a:ext cx="5212080" cy="30175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2697479"/>
            <a:ext cx="521208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286207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32" name="TextBox 31"/>
          <p:cNvSpPr txBox="1"/>
          <p:nvPr/>
        </p:nvSpPr>
        <p:spPr>
          <a:xfrm>
            <a:off x="1234440" y="2862072"/>
            <a:ext cx="4434840" cy="411480"/>
          </a:xfrm>
          <a:prstGeom prst="rect">
            <a:avLst/>
          </a:prstGeom>
          <a:noFill/>
        </p:spPr>
        <p:txBody>
          <a:bodyPr wrap="square" lIns="36576" rIns="36576" tIns="18288" bIns="18288" anchor="ctr">
            <a:spAutoFit/>
          </a:bodyPr>
          <a:lstStyle/>
          <a:p>
            <a:r>
              <a:rPr sz="1400" b="1">
                <a:solidFill>
                  <a:srgbClr val="F8FAFC"/>
                </a:solidFill>
                <a:latin typeface="Segoe UI"/>
              </a:rPr>
              <a:t>Retrieval rules (memory.search)</a:t>
            </a:r>
          </a:p>
        </p:txBody>
      </p:sp>
      <p:sp>
        <p:nvSpPr>
          <p:cNvPr id="33" name="TextBox 32"/>
          <p:cNvSpPr txBox="1"/>
          <p:nvPr/>
        </p:nvSpPr>
        <p:spPr>
          <a:xfrm>
            <a:off x="713232" y="3383279"/>
            <a:ext cx="4937760" cy="2240279"/>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Query is itself classified — FORBIDDEN → []</a:t>
            </a:r>
          </a:p>
          <a:p>
            <a:pPr>
              <a:spcAft>
                <a:spcPts val="300"/>
              </a:spcAft>
            </a:pPr>
            <a:r>
              <a:rPr sz="1200" b="1">
                <a:solidFill>
                  <a:srgbClr val="38BDF8"/>
                </a:solidFill>
                <a:latin typeface="Segoe UI"/>
              </a:rPr>
              <a:t>•  </a:t>
            </a:r>
            <a:r>
              <a:rPr sz="1200">
                <a:solidFill>
                  <a:srgbClr val="CBD5E1"/>
                </a:solidFill>
                <a:latin typeface="Segoe UI"/>
              </a:rPr>
              <a:t>provider=copilot fails closed without a bridge</a:t>
            </a:r>
          </a:p>
          <a:p>
            <a:pPr>
              <a:spcAft>
                <a:spcPts val="300"/>
              </a:spcAft>
            </a:pPr>
            <a:r>
              <a:rPr sz="1200" b="1">
                <a:solidFill>
                  <a:srgbClr val="38BDF8"/>
                </a:solidFill>
                <a:latin typeface="Segoe UI"/>
              </a:rPr>
              <a:t>•  </a:t>
            </a:r>
            <a:r>
              <a:rPr sz="1200">
                <a:solidFill>
                  <a:srgbClr val="CBD5E1"/>
                </a:solidFill>
                <a:latin typeface="Segoe UI"/>
              </a:rPr>
              <a:t>Only status='active' entries are scanned</a:t>
            </a:r>
          </a:p>
          <a:p>
            <a:pPr>
              <a:spcAft>
                <a:spcPts val="300"/>
              </a:spcAft>
            </a:pPr>
            <a:r>
              <a:rPr sz="1200" b="1">
                <a:solidFill>
                  <a:srgbClr val="38BDF8"/>
                </a:solidFill>
                <a:latin typeface="Segoe UI"/>
              </a:rPr>
              <a:t>•  </a:t>
            </a:r>
            <a:r>
              <a:rPr sz="1200">
                <a:solidFill>
                  <a:srgbClr val="CBD5E1"/>
                </a:solidFill>
                <a:latin typeface="Segoe UI"/>
              </a:rPr>
              <a:t>COPILOT_MEMORY skipped unless host adapter present</a:t>
            </a:r>
          </a:p>
          <a:p>
            <a:pPr>
              <a:spcAft>
                <a:spcPts val="300"/>
              </a:spcAft>
            </a:pPr>
            <a:r>
              <a:rPr sz="1200" b="1">
                <a:solidFill>
                  <a:srgbClr val="38BDF8"/>
                </a:solidFill>
                <a:latin typeface="Segoe UI"/>
              </a:rPr>
              <a:t>•  </a:t>
            </a:r>
            <a:r>
              <a:rPr sz="1200">
                <a:solidFill>
                  <a:srgbClr val="CBD5E1"/>
                </a:solidFill>
                <a:latin typeface="Segoe UI"/>
              </a:rPr>
              <a:t>Each result returns class + loadGuidance</a:t>
            </a:r>
          </a:p>
          <a:p>
            <a:pPr>
              <a:spcAft>
                <a:spcPts val="300"/>
              </a:spcAft>
            </a:pPr>
            <a:r>
              <a:rPr sz="1200" b="1">
                <a:solidFill>
                  <a:srgbClr val="38BDF8"/>
                </a:solidFill>
                <a:latin typeface="Segoe UI"/>
              </a:rPr>
              <a:t>•  </a:t>
            </a:r>
            <a:r>
              <a:rPr sz="1200">
                <a:solidFill>
                  <a:srgbClr val="CBD5E1"/>
                </a:solidFill>
                <a:latin typeface="Segoe UI"/>
              </a:rPr>
              <a:t>Caller pins ALWAYS, surfaces ON-DEMAND, excludes ARCHIVE/NEVER</a:t>
            </a:r>
          </a:p>
        </p:txBody>
      </p:sp>
      <p:sp>
        <p:nvSpPr>
          <p:cNvPr id="34" name="Rounded Rectangle 33"/>
          <p:cNvSpPr/>
          <p:nvPr/>
        </p:nvSpPr>
        <p:spPr>
          <a:xfrm>
            <a:off x="5943600" y="2697479"/>
            <a:ext cx="5669280" cy="301752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2697479"/>
            <a:ext cx="566928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08192" y="2743199"/>
            <a:ext cx="5394960" cy="228600"/>
          </a:xfrm>
          <a:prstGeom prst="rect">
            <a:avLst/>
          </a:prstGeom>
          <a:noFill/>
        </p:spPr>
        <p:txBody>
          <a:bodyPr wrap="square" lIns="36576" rIns="36576" tIns="18288" bIns="18288">
            <a:spAutoFit/>
          </a:bodyPr>
          <a:lstStyle/>
          <a:p>
            <a:r>
              <a:rPr sz="1000" b="1">
                <a:solidFill>
                  <a:srgbClr val="38BDF8"/>
                </a:solidFill>
                <a:latin typeface="Segoe UI Semibold"/>
              </a:rPr>
              <a:t>real squad memory search output (run live)</a:t>
            </a:r>
          </a:p>
        </p:txBody>
      </p:sp>
      <p:sp>
        <p:nvSpPr>
          <p:cNvPr id="37" name="TextBox 36"/>
          <p:cNvSpPr txBox="1"/>
          <p:nvPr/>
        </p:nvSpPr>
        <p:spPr>
          <a:xfrm>
            <a:off x="6108192" y="2990087"/>
            <a:ext cx="5394960" cy="2670048"/>
          </a:xfrm>
          <a:prstGeom prst="rect">
            <a:avLst/>
          </a:prstGeom>
          <a:noFill/>
        </p:spPr>
        <p:txBody>
          <a:bodyPr wrap="square" lIns="36576" rIns="36576">
            <a:spAutoFit/>
          </a:bodyPr>
          <a:lstStyle/>
          <a:p>
            <a:pPr>
              <a:spcAft>
                <a:spcPts val="100"/>
              </a:spcAft>
            </a:pPr>
            <a:r>
              <a:rPr sz="1100">
                <a:solidFill>
                  <a:srgbClr val="F8FAFC"/>
                </a:solidFill>
                <a:latin typeface="Consolas"/>
              </a:rPr>
              <a:t>$ squad memory search --query "advanced demo snippet"</a:t>
            </a:r>
          </a:p>
          <a:p>
            <a:pPr>
              <a:spcAft>
                <a:spcPts val="100"/>
              </a:spcAft>
            </a:pPr>
            <a:r>
              <a:rPr sz="1100">
                <a:solidFill>
                  <a:srgbClr val="CBD5E1"/>
                </a:solidFill>
                <a:latin typeface="Consolas"/>
              </a:rPr>
              <a:t>search.complete  count=1  providers=local  elapsedMs=315</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"id": "e96f9d99-dbfc-492d-9e39-...",</a:t>
            </a:r>
          </a:p>
          <a:p>
            <a:pPr>
              <a:spcAft>
                <a:spcPts val="100"/>
              </a:spcAft>
            </a:pPr>
            <a:r>
              <a:rPr sz="1100">
                <a:solidFill>
                  <a:srgbClr val="CBD5E1"/>
                </a:solidFill>
                <a:latin typeface="Consolas"/>
              </a:rPr>
              <a:t>    "class": "DECISION",</a:t>
            </a:r>
          </a:p>
          <a:p>
            <a:pPr>
              <a:spcAft>
                <a:spcPts val="100"/>
              </a:spcAft>
            </a:pPr>
            <a:r>
              <a:rPr sz="1100">
                <a:solidFill>
                  <a:srgbClr val="CBD5E1"/>
                </a:solidFill>
                <a:latin typeface="Consolas"/>
              </a:rPr>
              <a:t>    "loadGuidance": "ALWAYS",</a:t>
            </a:r>
          </a:p>
          <a:p>
            <a:pPr>
              <a:spcAft>
                <a:spcPts val="100"/>
              </a:spcAft>
            </a:pPr>
            <a:r>
              <a:rPr sz="1100">
                <a:solidFill>
                  <a:srgbClr val="CBD5E1"/>
                </a:solidFill>
                <a:latin typeface="Consolas"/>
              </a:rPr>
              <a:t>    "title": "Advanced demo snippet structure",</a:t>
            </a:r>
          </a:p>
          <a:p>
            <a:pPr>
              <a:spcAft>
                <a:spcPts val="100"/>
              </a:spcAft>
            </a:pPr>
            <a:r>
              <a:rPr sz="1100">
                <a:solidFill>
                  <a:srgbClr val="CBD5E1"/>
                </a:solidFill>
                <a:latin typeface="Consolas"/>
              </a:rPr>
              <a:t>    "path": ".squad/decisions/inbox/pao-...md",</a:t>
            </a:r>
          </a:p>
          <a:p>
            <a:pPr>
              <a:spcAft>
                <a:spcPts val="100"/>
              </a:spcAft>
            </a:pPr>
            <a:r>
              <a:rPr sz="1100">
                <a:solidFill>
                  <a:srgbClr val="CBD5E1"/>
                </a:solidFill>
                <a:latin typeface="Consolas"/>
              </a:rPr>
              <a:t>    "snippet": "title: Advanced demo snippet...",</a:t>
            </a:r>
          </a:p>
          <a:p>
            <a:pPr>
              <a:spcAft>
                <a:spcPts val="100"/>
              </a:spcAft>
            </a:pPr>
            <a:r>
              <a:rPr sz="1100">
                <a:solidFill>
                  <a:srgbClr val="CBD5E1"/>
                </a:solidFill>
                <a:latin typeface="Consolas"/>
              </a:rPr>
              <a:t>    "provider": "local"</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14</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VERBATIM CLI OUTPUT</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Memory tools are really called — and audited</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Local governed memory is proven. Remote Copilot Memory is not claimed.</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packages/squad-cli/src/cli/commands/memory.ts:177-332 — provider, write, audit subcommands</a:t>
            </a:r>
          </a:p>
        </p:txBody>
      </p:sp>
      <p:sp>
        <p:nvSpPr>
          <p:cNvPr id="9" name="Rounded Rectangle 8"/>
          <p:cNvSpPr/>
          <p:nvPr/>
        </p:nvSpPr>
        <p:spPr>
          <a:xfrm>
            <a:off x="548640" y="1874519"/>
            <a:ext cx="5943600" cy="393192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38BDF8"/>
                </a:solidFill>
                <a:latin typeface="Segoe UI Semibold"/>
              </a:rPr>
              <a:t>provider + write (verbatim)</a:t>
            </a:r>
          </a:p>
        </p:txBody>
      </p:sp>
      <p:sp>
        <p:nvSpPr>
          <p:cNvPr id="12" name="TextBox 11"/>
          <p:cNvSpPr txBox="1"/>
          <p:nvPr/>
        </p:nvSpPr>
        <p:spPr>
          <a:xfrm>
            <a:off x="713232" y="2167127"/>
            <a:ext cx="5669280" cy="3584448"/>
          </a:xfrm>
          <a:prstGeom prst="rect">
            <a:avLst/>
          </a:prstGeom>
          <a:noFill/>
        </p:spPr>
        <p:txBody>
          <a:bodyPr wrap="square" lIns="36576" rIns="36576">
            <a:spAutoFit/>
          </a:bodyPr>
          <a:lstStyle/>
          <a:p>
            <a:pPr>
              <a:spcAft>
                <a:spcPts val="100"/>
              </a:spcAft>
            </a:pPr>
            <a:r>
              <a:rPr sz="1100">
                <a:solidFill>
                  <a:srgbClr val="F8FAFC"/>
                </a:solidFill>
                <a:latin typeface="Consolas"/>
              </a:rPr>
              <a:t>$ squad memory provider --log-level info</a:t>
            </a:r>
          </a:p>
          <a:p>
            <a:pPr>
              <a:spcAft>
                <a:spcPts val="100"/>
              </a:spcAft>
            </a:pPr>
            <a:r>
              <a:rPr sz="1100">
                <a:solidFill>
                  <a:srgbClr val="CBD5E1"/>
                </a:solidFill>
                <a:latin typeface="Consolas"/>
              </a:rPr>
              <a:t>provider.status.complete  defaultProvider=local</a:t>
            </a:r>
          </a:p>
          <a:p>
            <a:pPr>
              <a:spcAft>
                <a:spcPts val="100"/>
              </a:spcAft>
            </a:pPr>
            <a:r>
              <a:rPr sz="1100">
                <a:solidFill>
                  <a:srgbClr val="CBD5E1"/>
                </a:solidFill>
                <a:latin typeface="Consolas"/>
              </a:rPr>
              <a:t>                          realCopilotConfigured=false</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"defaultProvider": "local",</a:t>
            </a:r>
          </a:p>
          <a:p>
            <a:pPr>
              <a:spcAft>
                <a:spcPts val="100"/>
              </a:spcAft>
            </a:pPr>
            <a:r>
              <a:rPr sz="1100">
                <a:solidFill>
                  <a:srgbClr val="CBD5E1"/>
                </a:solidFill>
                <a:latin typeface="Consolas"/>
              </a:rPr>
              <a:t>  "realCopilotMemory": {</a:t>
            </a:r>
          </a:p>
          <a:p>
            <a:pPr>
              <a:spcAft>
                <a:spcPts val="100"/>
              </a:spcAft>
            </a:pPr>
            <a:r>
              <a:rPr sz="1100">
                <a:solidFill>
                  <a:srgbClr val="CBD5E1"/>
                </a:solidFill>
                <a:latin typeface="Consolas"/>
              </a:rPr>
              <a:t>    "available": false,</a:t>
            </a:r>
          </a:p>
          <a:p>
            <a:pPr>
              <a:spcAft>
                <a:spcPts val="100"/>
              </a:spcAft>
            </a:pPr>
            <a:r>
              <a:rPr sz="1100">
                <a:solidFill>
                  <a:srgbClr val="CBD5E1"/>
                </a:solidFill>
                <a:latin typeface="Consolas"/>
              </a:rPr>
              <a:t>    "reason": "No callable Copilot API found."</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squad memory write --class DECISION --approved \</a:t>
            </a:r>
          </a:p>
          <a:p>
            <a:pPr>
              <a:spcAft>
                <a:spcPts val="100"/>
              </a:spcAft>
            </a:pPr>
            <a:r>
              <a:rPr sz="1100">
                <a:solidFill>
                  <a:srgbClr val="CBD5E1"/>
                </a:solidFill>
                <a:latin typeface="Consolas"/>
              </a:rPr>
              <a:t>    --content "Advanced demo snippets include ..."</a:t>
            </a:r>
          </a:p>
          <a:p>
            <a:pPr>
              <a:spcAft>
                <a:spcPts val="100"/>
              </a:spcAft>
            </a:pPr>
            <a:r>
              <a:rPr sz="1100">
                <a:solidFill>
                  <a:srgbClr val="CBD5E1"/>
                </a:solidFill>
                <a:latin typeface="Consolas"/>
              </a:rPr>
              <a:t>write.complete  stored=true  class=DECISION</a:t>
            </a:r>
          </a:p>
          <a:p>
            <a:pPr>
              <a:spcAft>
                <a:spcPts val="100"/>
              </a:spcAft>
            </a:pPr>
            <a:r>
              <a:rPr sz="1100">
                <a:solidFill>
                  <a:srgbClr val="CBD5E1"/>
                </a:solidFill>
                <a:latin typeface="Consolas"/>
              </a:rPr>
              <a:t>                provider=local  loadGuidance=ALWAYS</a:t>
            </a:r>
          </a:p>
          <a:p>
            <a:pPr>
              <a:spcAft>
                <a:spcPts val="100"/>
              </a:spcAft>
            </a:pPr>
            <a:r>
              <a:rPr sz="1100">
                <a:solidFill>
                  <a:srgbClr val="CBD5E1"/>
                </a:solidFill>
                <a:latin typeface="Consolas"/>
              </a:rPr>
              <a:t>                path=.squad/decisions/inbox/pao-...md</a:t>
            </a:r>
          </a:p>
        </p:txBody>
      </p:sp>
      <p:sp>
        <p:nvSpPr>
          <p:cNvPr id="13" name="Rounded Rectangle 12"/>
          <p:cNvSpPr/>
          <p:nvPr/>
        </p:nvSpPr>
        <p:spPr>
          <a:xfrm>
            <a:off x="6675120" y="1874519"/>
            <a:ext cx="4937760" cy="393192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493776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1920239"/>
            <a:ext cx="4663440" cy="228600"/>
          </a:xfrm>
          <a:prstGeom prst="rect">
            <a:avLst/>
          </a:prstGeom>
          <a:noFill/>
        </p:spPr>
        <p:txBody>
          <a:bodyPr wrap="square" lIns="36576" rIns="36576" tIns="18288" bIns="18288">
            <a:spAutoFit/>
          </a:bodyPr>
          <a:lstStyle/>
          <a:p>
            <a:r>
              <a:rPr sz="1000" b="1">
                <a:solidFill>
                  <a:srgbClr val="34D399"/>
                </a:solidFill>
                <a:latin typeface="Segoe UI Semibold"/>
              </a:rPr>
              <a:t>audit (verbatim)</a:t>
            </a:r>
          </a:p>
        </p:txBody>
      </p:sp>
      <p:sp>
        <p:nvSpPr>
          <p:cNvPr id="16" name="TextBox 15"/>
          <p:cNvSpPr txBox="1"/>
          <p:nvPr/>
        </p:nvSpPr>
        <p:spPr>
          <a:xfrm>
            <a:off x="6839712" y="2167127"/>
            <a:ext cx="4663440" cy="3584448"/>
          </a:xfrm>
          <a:prstGeom prst="rect">
            <a:avLst/>
          </a:prstGeom>
          <a:noFill/>
        </p:spPr>
        <p:txBody>
          <a:bodyPr wrap="square" lIns="36576" rIns="36576">
            <a:spAutoFit/>
          </a:bodyPr>
          <a:lstStyle/>
          <a:p>
            <a:pPr>
              <a:spcAft>
                <a:spcPts val="100"/>
              </a:spcAft>
            </a:pPr>
            <a:r>
              <a:rPr sz="1100">
                <a:solidFill>
                  <a:srgbClr val="F8FAFC"/>
                </a:solidFill>
                <a:latin typeface="Consolas"/>
              </a:rPr>
              <a:t>$ squad memory audit</a:t>
            </a:r>
          </a:p>
          <a:p>
            <a:pPr>
              <a:spcAft>
                <a:spcPts val="100"/>
              </a:spcAft>
            </a:pPr>
            <a:r>
              <a:rPr sz="1100">
                <a:solidFill>
                  <a:srgbClr val="CBD5E1"/>
                </a:solidFill>
                <a:latin typeface="Consolas"/>
              </a:rPr>
              <a:t>audit.complete  count=2</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"timestamp": "2026-06-07T15:32:15Z",</a:t>
            </a:r>
          </a:p>
          <a:p>
            <a:pPr>
              <a:spcAft>
                <a:spcPts val="100"/>
              </a:spcAft>
            </a:pPr>
            <a:r>
              <a:rPr sz="1100">
                <a:solidFill>
                  <a:srgbClr val="CBD5E1"/>
                </a:solidFill>
                <a:latin typeface="Consolas"/>
              </a:rPr>
              <a:t>    "action": "write",</a:t>
            </a:r>
          </a:p>
          <a:p>
            <a:pPr>
              <a:spcAft>
                <a:spcPts val="100"/>
              </a:spcAft>
            </a:pPr>
            <a:r>
              <a:rPr sz="1100">
                <a:solidFill>
                  <a:srgbClr val="CBD5E1"/>
                </a:solidFill>
                <a:latin typeface="Consolas"/>
              </a:rPr>
              <a:t>    "id": "e96f9d99-...",</a:t>
            </a:r>
          </a:p>
          <a:p>
            <a:pPr>
              <a:spcAft>
                <a:spcPts val="100"/>
              </a:spcAft>
            </a:pPr>
            <a:r>
              <a:rPr sz="1100">
                <a:solidFill>
                  <a:srgbClr val="CBD5E1"/>
                </a:solidFill>
                <a:latin typeface="Consolas"/>
              </a:rPr>
              <a:t>    "class": "DECISION",</a:t>
            </a:r>
          </a:p>
          <a:p>
            <a:pPr>
              <a:spcAft>
                <a:spcPts val="100"/>
              </a:spcAft>
            </a:pPr>
            <a:r>
              <a:rPr sz="1100">
                <a:solidFill>
                  <a:srgbClr val="CBD5E1"/>
                </a:solidFill>
                <a:latin typeface="Consolas"/>
              </a:rPr>
              <a:t>    "actor": "pao",</a:t>
            </a:r>
          </a:p>
          <a:p>
            <a:pPr>
              <a:spcAft>
                <a:spcPts val="100"/>
              </a:spcAft>
            </a:pPr>
            <a:r>
              <a:rPr sz="1100">
                <a:solidFill>
                  <a:srgbClr val="CBD5E1"/>
                </a:solidFill>
                <a:latin typeface="Consolas"/>
              </a:rPr>
              <a:t>    "provider": "local"</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"timestamp": "2026-06-07T15:32:18Z",</a:t>
            </a:r>
          </a:p>
          <a:p>
            <a:pPr>
              <a:spcAft>
                <a:spcPts val="100"/>
              </a:spcAft>
            </a:pPr>
            <a:r>
              <a:rPr sz="1100">
                <a:solidFill>
                  <a:srgbClr val="CBD5E1"/>
                </a:solidFill>
                <a:latin typeface="Consolas"/>
              </a:rPr>
              <a:t>    "action": "search",</a:t>
            </a:r>
          </a:p>
          <a:p>
            <a:pPr>
              <a:spcAft>
                <a:spcPts val="100"/>
              </a:spcAft>
            </a:pPr>
            <a:r>
              <a:rPr sz="1100">
                <a:solidFill>
                  <a:srgbClr val="CBD5E1"/>
                </a:solidFill>
                <a:latin typeface="Consolas"/>
              </a:rPr>
              <a:t>    "reason": "returned 1 result"</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15</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SESSION EVIDENCE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Agents actually use the memory layer</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Paired A/B harness from PR #1145 — governance-on raises memory operations from 0 to N.</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PR #1145 — paired real Copilot CLI A/B harness with isolated COPILOT_HOME</a:t>
            </a:r>
          </a:p>
        </p:txBody>
      </p:sp>
      <p:sp>
        <p:nvSpPr>
          <p:cNvPr id="9" name="Rounded Rectangle 8"/>
          <p:cNvSpPr/>
          <p:nvPr/>
        </p:nvSpPr>
        <p:spPr>
          <a:xfrm>
            <a:off x="548640" y="1874519"/>
            <a:ext cx="11094415" cy="237744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1094415"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10820095" cy="228600"/>
          </a:xfrm>
          <a:prstGeom prst="rect">
            <a:avLst/>
          </a:prstGeom>
          <a:noFill/>
        </p:spPr>
        <p:txBody>
          <a:bodyPr wrap="square" lIns="36576" rIns="36576" tIns="18288" bIns="18288">
            <a:spAutoFit/>
          </a:bodyPr>
          <a:lstStyle/>
          <a:p>
            <a:r>
              <a:rPr sz="1000" b="1">
                <a:solidFill>
                  <a:srgbClr val="34D399"/>
                </a:solidFill>
                <a:latin typeface="Segoe UI Semibold"/>
              </a:rPr>
              <a:t>paired A/B harness extract from PR #1145</a:t>
            </a:r>
          </a:p>
        </p:txBody>
      </p:sp>
      <p:sp>
        <p:nvSpPr>
          <p:cNvPr id="12" name="TextBox 11"/>
          <p:cNvSpPr txBox="1"/>
          <p:nvPr/>
        </p:nvSpPr>
        <p:spPr>
          <a:xfrm>
            <a:off x="713232" y="2167127"/>
            <a:ext cx="10820095" cy="2029968"/>
          </a:xfrm>
          <a:prstGeom prst="rect">
            <a:avLst/>
          </a:prstGeom>
          <a:noFill/>
        </p:spPr>
        <p:txBody>
          <a:bodyPr wrap="square" lIns="36576" rIns="36576">
            <a:spAutoFit/>
          </a:bodyPr>
          <a:lstStyle/>
          <a:p>
            <a:pPr>
              <a:spcAft>
                <a:spcPts val="100"/>
              </a:spcAft>
            </a:pPr>
            <a:r>
              <a:rPr sz="1100">
                <a:solidFill>
                  <a:srgbClr val="CBD5E1"/>
                </a:solidFill>
                <a:latin typeface="Consolas"/>
              </a:rPr>
              <a:t>PR #1145 — paired real Copilot CLI A/B harness, isolated COPILOT_HOME:</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External Squad-using project demo:</a:t>
            </a:r>
          </a:p>
          <a:p>
            <a:pPr>
              <a:spcAft>
                <a:spcPts val="100"/>
              </a:spcAft>
            </a:pPr>
            <a:r>
              <a:rPr sz="1100">
                <a:solidFill>
                  <a:srgbClr val="CBD5E1"/>
                </a:solidFill>
                <a:latin typeface="Consolas"/>
              </a:rPr>
              <a:t>  baseline                   :  0 memory diagnostic events</a:t>
            </a:r>
          </a:p>
          <a:p>
            <a:pPr>
              <a:spcAft>
                <a:spcPts val="100"/>
              </a:spcAft>
            </a:pPr>
            <a:r>
              <a:rPr sz="1100">
                <a:solidFill>
                  <a:srgbClr val="CBD5E1"/>
                </a:solidFill>
                <a:latin typeface="Consolas"/>
              </a:rPr>
              <a:t>  memory-governance variant  : 10 memory diagnostic events</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Squad repo:</a:t>
            </a:r>
          </a:p>
          <a:p>
            <a:pPr>
              <a:spcAft>
                <a:spcPts val="100"/>
              </a:spcAft>
            </a:pPr>
            <a:r>
              <a:rPr sz="1100">
                <a:solidFill>
                  <a:srgbClr val="CBD5E1"/>
                </a:solidFill>
                <a:latin typeface="Consolas"/>
              </a:rPr>
              <a:t>  baseline                   :  0 memory diagnostic events</a:t>
            </a:r>
          </a:p>
          <a:p>
            <a:pPr>
              <a:spcAft>
                <a:spcPts val="100"/>
              </a:spcAft>
            </a:pPr>
            <a:r>
              <a:rPr sz="1100">
                <a:solidFill>
                  <a:srgbClr val="CBD5E1"/>
                </a:solidFill>
                <a:latin typeface="Consolas"/>
              </a:rPr>
              <a:t>  memory-governance variant  :  9 memory diagnostic events</a:t>
            </a:r>
          </a:p>
        </p:txBody>
      </p:sp>
      <p:sp>
        <p:nvSpPr>
          <p:cNvPr id="13" name="TextBox 12"/>
          <p:cNvSpPr txBox="1"/>
          <p:nvPr/>
        </p:nvSpPr>
        <p:spPr>
          <a:xfrm>
            <a:off x="548640" y="4480560"/>
            <a:ext cx="11094415" cy="1097280"/>
          </a:xfrm>
          <a:prstGeom prst="rect">
            <a:avLst/>
          </a:prstGeom>
          <a:noFill/>
        </p:spPr>
        <p:txBody>
          <a:bodyPr wrap="square" lIns="36576" rIns="36576" tIns="18288" bIns="18288">
            <a:spAutoFit/>
          </a:bodyPr>
          <a:lstStyle/>
          <a:p>
            <a:r>
              <a:rPr sz="1500" b="0">
                <a:solidFill>
                  <a:srgbClr val="CBD5E1"/>
                </a:solidFill>
                <a:latin typeface="Segoe UI"/>
              </a:rPr>
              <a:t>Same prompt, same model, same repo — only memory governance is switched on. The signal jumps from zero to a measurable count of memory operations.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16</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STEP BY STEP</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Directive capture: the fastest way to teach the team</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Use natural language. The system turns it into durable team memory.</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docs/.../concepts/memory-and-knowledge.md:103-150</a:t>
            </a:r>
          </a:p>
        </p:txBody>
      </p:sp>
      <p:sp>
        <p:nvSpPr>
          <p:cNvPr id="9" name="Rounded Rectangle 8"/>
          <p:cNvSpPr/>
          <p:nvPr/>
        </p:nvSpPr>
        <p:spPr>
          <a:xfrm>
            <a:off x="548640" y="1874519"/>
            <a:ext cx="2087209"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72204" y="2148839"/>
            <a:ext cx="640080" cy="640080"/>
          </a:xfrm>
          <a:prstGeom prst="ellipse">
            <a:avLst/>
          </a:prstGeom>
          <a:solidFill>
            <a:srgbClr val="0A182A"/>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38BDF8"/>
                </a:solidFill>
                <a:latin typeface="Segoe UI"/>
              </a:rPr>
              <a:t>1</a:t>
            </a:r>
          </a:p>
        </p:txBody>
      </p:sp>
      <p:sp>
        <p:nvSpPr>
          <p:cNvPr id="12" name="TextBox 11"/>
          <p:cNvSpPr txBox="1"/>
          <p:nvPr/>
        </p:nvSpPr>
        <p:spPr>
          <a:xfrm>
            <a:off x="640080" y="2926079"/>
            <a:ext cx="1904329" cy="457200"/>
          </a:xfrm>
          <a:prstGeom prst="rect">
            <a:avLst/>
          </a:prstGeom>
          <a:noFill/>
        </p:spPr>
        <p:txBody>
          <a:bodyPr wrap="square" lIns="36576" rIns="36576" tIns="18288" bIns="18288">
            <a:spAutoFit/>
          </a:bodyPr>
          <a:lstStyle/>
          <a:p>
            <a:pPr algn="ctr"/>
            <a:r>
              <a:rPr sz="1500" b="1">
                <a:solidFill>
                  <a:srgbClr val="F8FAFC"/>
                </a:solidFill>
                <a:latin typeface="Segoe UI"/>
              </a:rPr>
              <a:t>You say</a:t>
            </a:r>
          </a:p>
        </p:txBody>
      </p:sp>
      <p:sp>
        <p:nvSpPr>
          <p:cNvPr id="13" name="TextBox 12"/>
          <p:cNvSpPr txBox="1"/>
          <p:nvPr/>
        </p:nvSpPr>
        <p:spPr>
          <a:xfrm>
            <a:off x="640080" y="3429000"/>
            <a:ext cx="1904329" cy="1554480"/>
          </a:xfrm>
          <a:prstGeom prst="rect">
            <a:avLst/>
          </a:prstGeom>
          <a:noFill/>
        </p:spPr>
        <p:txBody>
          <a:bodyPr wrap="square" lIns="36576" rIns="36576" tIns="18288" bIns="18288">
            <a:spAutoFit/>
          </a:bodyPr>
          <a:lstStyle/>
          <a:p>
            <a:pPr algn="ctr"/>
            <a:r>
              <a:rPr sz="1200" b="0">
                <a:solidFill>
                  <a:srgbClr val="CBD5E1"/>
                </a:solidFill>
                <a:latin typeface="Segoe UI"/>
              </a:rPr>
              <a:t>“Always run the SDK tests before merging.”</a:t>
            </a:r>
          </a:p>
        </p:txBody>
      </p:sp>
      <p:sp>
        <p:nvSpPr>
          <p:cNvPr id="14" name="Rounded Rectangle 13"/>
          <p:cNvSpPr/>
          <p:nvPr/>
        </p:nvSpPr>
        <p:spPr>
          <a:xfrm>
            <a:off x="2800441" y="1874519"/>
            <a:ext cx="2087209"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00441"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24006" y="2148839"/>
            <a:ext cx="640080" cy="640080"/>
          </a:xfrm>
          <a:prstGeom prst="ellipse">
            <a:avLst/>
          </a:prstGeom>
          <a:solidFill>
            <a:srgbClr val="0A182A"/>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38BDF8"/>
                </a:solidFill>
                <a:latin typeface="Segoe UI"/>
              </a:rPr>
              <a:t>2</a:t>
            </a:r>
          </a:p>
        </p:txBody>
      </p:sp>
      <p:sp>
        <p:nvSpPr>
          <p:cNvPr id="17" name="TextBox 16"/>
          <p:cNvSpPr txBox="1"/>
          <p:nvPr/>
        </p:nvSpPr>
        <p:spPr>
          <a:xfrm>
            <a:off x="2891881" y="2926079"/>
            <a:ext cx="1904329" cy="457200"/>
          </a:xfrm>
          <a:prstGeom prst="rect">
            <a:avLst/>
          </a:prstGeom>
          <a:noFill/>
        </p:spPr>
        <p:txBody>
          <a:bodyPr wrap="square" lIns="36576" rIns="36576" tIns="18288" bIns="18288">
            <a:spAutoFit/>
          </a:bodyPr>
          <a:lstStyle/>
          <a:p>
            <a:pPr algn="ctr"/>
            <a:r>
              <a:rPr sz="1500" b="1">
                <a:solidFill>
                  <a:srgbClr val="F8FAFC"/>
                </a:solidFill>
                <a:latin typeface="Segoe UI"/>
              </a:rPr>
              <a:t>Coordinator</a:t>
            </a:r>
          </a:p>
        </p:txBody>
      </p:sp>
      <p:sp>
        <p:nvSpPr>
          <p:cNvPr id="18" name="TextBox 17"/>
          <p:cNvSpPr txBox="1"/>
          <p:nvPr/>
        </p:nvSpPr>
        <p:spPr>
          <a:xfrm>
            <a:off x="2891881" y="3429000"/>
            <a:ext cx="1904329" cy="1554480"/>
          </a:xfrm>
          <a:prstGeom prst="rect">
            <a:avLst/>
          </a:prstGeom>
          <a:noFill/>
        </p:spPr>
        <p:txBody>
          <a:bodyPr wrap="square" lIns="36576" rIns="36576" tIns="18288" bIns="18288">
            <a:spAutoFit/>
          </a:bodyPr>
          <a:lstStyle/>
          <a:p>
            <a:pPr algn="ctr"/>
            <a:r>
              <a:rPr sz="1200" b="0">
                <a:solidFill>
                  <a:srgbClr val="CBD5E1"/>
                </a:solidFill>
                <a:latin typeface="Segoe UI"/>
              </a:rPr>
              <a:t>Detects signals: always / never / must / do not</a:t>
            </a:r>
          </a:p>
        </p:txBody>
      </p:sp>
      <p:sp>
        <p:nvSpPr>
          <p:cNvPr id="19" name="Rounded Rectangle 18"/>
          <p:cNvSpPr/>
          <p:nvPr/>
        </p:nvSpPr>
        <p:spPr>
          <a:xfrm>
            <a:off x="5052242" y="1874519"/>
            <a:ext cx="2087209"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52242"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75807" y="2148839"/>
            <a:ext cx="640080" cy="640080"/>
          </a:xfrm>
          <a:prstGeom prst="ellipse">
            <a:avLst/>
          </a:prstGeom>
          <a:solidFill>
            <a:srgbClr val="0A182A"/>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38BDF8"/>
                </a:solidFill>
                <a:latin typeface="Segoe UI"/>
              </a:rPr>
              <a:t>3</a:t>
            </a:r>
          </a:p>
        </p:txBody>
      </p:sp>
      <p:sp>
        <p:nvSpPr>
          <p:cNvPr id="22" name="TextBox 21"/>
          <p:cNvSpPr txBox="1"/>
          <p:nvPr/>
        </p:nvSpPr>
        <p:spPr>
          <a:xfrm>
            <a:off x="5143682" y="2926079"/>
            <a:ext cx="1904329" cy="457200"/>
          </a:xfrm>
          <a:prstGeom prst="rect">
            <a:avLst/>
          </a:prstGeom>
          <a:noFill/>
        </p:spPr>
        <p:txBody>
          <a:bodyPr wrap="square" lIns="36576" rIns="36576" tIns="18288" bIns="18288">
            <a:spAutoFit/>
          </a:bodyPr>
          <a:lstStyle/>
          <a:p>
            <a:pPr algn="ctr"/>
            <a:r>
              <a:rPr sz="1500" b="1">
                <a:solidFill>
                  <a:srgbClr val="F8FAFC"/>
                </a:solidFill>
                <a:latin typeface="Segoe UI"/>
              </a:rPr>
              <a:t>State write</a:t>
            </a:r>
          </a:p>
        </p:txBody>
      </p:sp>
      <p:sp>
        <p:nvSpPr>
          <p:cNvPr id="23" name="TextBox 22"/>
          <p:cNvSpPr txBox="1"/>
          <p:nvPr/>
        </p:nvSpPr>
        <p:spPr>
          <a:xfrm>
            <a:off x="5143682" y="3429000"/>
            <a:ext cx="1904329" cy="1554480"/>
          </a:xfrm>
          <a:prstGeom prst="rect">
            <a:avLst/>
          </a:prstGeom>
          <a:noFill/>
        </p:spPr>
        <p:txBody>
          <a:bodyPr wrap="square" lIns="36576" rIns="36576" tIns="18288" bIns="18288">
            <a:spAutoFit/>
          </a:bodyPr>
          <a:lstStyle/>
          <a:p>
            <a:pPr algn="ctr"/>
            <a:r>
              <a:rPr sz="1200" b="0">
                <a:solidFill>
                  <a:srgbClr val="CBD5E1"/>
                </a:solidFill>
                <a:latin typeface="Segoe UI"/>
              </a:rPr>
              <a:t>Creates decisions/inbox/directive-*.md</a:t>
            </a:r>
          </a:p>
        </p:txBody>
      </p:sp>
      <p:sp>
        <p:nvSpPr>
          <p:cNvPr id="24" name="Rounded Rectangle 23"/>
          <p:cNvSpPr/>
          <p:nvPr/>
        </p:nvSpPr>
        <p:spPr>
          <a:xfrm>
            <a:off x="7304044" y="1874519"/>
            <a:ext cx="2087209"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4044"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27609" y="2148839"/>
            <a:ext cx="640080" cy="640080"/>
          </a:xfrm>
          <a:prstGeom prst="ellipse">
            <a:avLst/>
          </a:prstGeom>
          <a:solidFill>
            <a:srgbClr val="0A182A"/>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38BDF8"/>
                </a:solidFill>
                <a:latin typeface="Segoe UI"/>
              </a:rPr>
              <a:t>4</a:t>
            </a:r>
          </a:p>
        </p:txBody>
      </p:sp>
      <p:sp>
        <p:nvSpPr>
          <p:cNvPr id="27" name="TextBox 26"/>
          <p:cNvSpPr txBox="1"/>
          <p:nvPr/>
        </p:nvSpPr>
        <p:spPr>
          <a:xfrm>
            <a:off x="7395484" y="2926079"/>
            <a:ext cx="1904329" cy="457200"/>
          </a:xfrm>
          <a:prstGeom prst="rect">
            <a:avLst/>
          </a:prstGeom>
          <a:noFill/>
        </p:spPr>
        <p:txBody>
          <a:bodyPr wrap="square" lIns="36576" rIns="36576" tIns="18288" bIns="18288">
            <a:spAutoFit/>
          </a:bodyPr>
          <a:lstStyle/>
          <a:p>
            <a:pPr algn="ctr"/>
            <a:r>
              <a:rPr sz="1500" b="1">
                <a:solidFill>
                  <a:srgbClr val="F8FAFC"/>
                </a:solidFill>
                <a:latin typeface="Segoe UI"/>
              </a:rPr>
              <a:t>Scribe merges</a:t>
            </a:r>
          </a:p>
        </p:txBody>
      </p:sp>
      <p:sp>
        <p:nvSpPr>
          <p:cNvPr id="28" name="TextBox 27"/>
          <p:cNvSpPr txBox="1"/>
          <p:nvPr/>
        </p:nvSpPr>
        <p:spPr>
          <a:xfrm>
            <a:off x="7395484" y="3429000"/>
            <a:ext cx="1904329" cy="1554480"/>
          </a:xfrm>
          <a:prstGeom prst="rect">
            <a:avLst/>
          </a:prstGeom>
          <a:noFill/>
        </p:spPr>
        <p:txBody>
          <a:bodyPr wrap="square" lIns="36576" rIns="36576" tIns="18288" bIns="18288">
            <a:spAutoFit/>
          </a:bodyPr>
          <a:lstStyle/>
          <a:p>
            <a:pPr algn="ctr"/>
            <a:r>
              <a:rPr sz="1200" b="0">
                <a:solidFill>
                  <a:srgbClr val="CBD5E1"/>
                </a:solidFill>
                <a:latin typeface="Segoe UI"/>
              </a:rPr>
              <a:t>Deduplicates into decisions.md</a:t>
            </a:r>
          </a:p>
        </p:txBody>
      </p:sp>
      <p:sp>
        <p:nvSpPr>
          <p:cNvPr id="29" name="Rounded Rectangle 28"/>
          <p:cNvSpPr/>
          <p:nvPr/>
        </p:nvSpPr>
        <p:spPr>
          <a:xfrm>
            <a:off x="9555845" y="1874519"/>
            <a:ext cx="2087209"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55845"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79410" y="2148839"/>
            <a:ext cx="640080" cy="640080"/>
          </a:xfrm>
          <a:prstGeom prst="ellipse">
            <a:avLst/>
          </a:prstGeom>
          <a:solidFill>
            <a:srgbClr val="0A182A"/>
          </a:solidFill>
          <a:ln w="1905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38BDF8"/>
                </a:solidFill>
                <a:latin typeface="Segoe UI"/>
              </a:rPr>
              <a:t>5</a:t>
            </a:r>
          </a:p>
        </p:txBody>
      </p:sp>
      <p:sp>
        <p:nvSpPr>
          <p:cNvPr id="32" name="TextBox 31"/>
          <p:cNvSpPr txBox="1"/>
          <p:nvPr/>
        </p:nvSpPr>
        <p:spPr>
          <a:xfrm>
            <a:off x="9647285" y="2926079"/>
            <a:ext cx="1904329" cy="457200"/>
          </a:xfrm>
          <a:prstGeom prst="rect">
            <a:avLst/>
          </a:prstGeom>
          <a:noFill/>
        </p:spPr>
        <p:txBody>
          <a:bodyPr wrap="square" lIns="36576" rIns="36576" tIns="18288" bIns="18288">
            <a:spAutoFit/>
          </a:bodyPr>
          <a:lstStyle/>
          <a:p>
            <a:pPr algn="ctr"/>
            <a:r>
              <a:rPr sz="1500" b="1">
                <a:solidFill>
                  <a:srgbClr val="F8FAFC"/>
                </a:solidFill>
                <a:latin typeface="Segoe UI"/>
              </a:rPr>
              <a:t>Agents reload</a:t>
            </a:r>
          </a:p>
        </p:txBody>
      </p:sp>
      <p:sp>
        <p:nvSpPr>
          <p:cNvPr id="33" name="TextBox 32"/>
          <p:cNvSpPr txBox="1"/>
          <p:nvPr/>
        </p:nvSpPr>
        <p:spPr>
          <a:xfrm>
            <a:off x="9647285" y="3429000"/>
            <a:ext cx="1904329" cy="1554480"/>
          </a:xfrm>
          <a:prstGeom prst="rect">
            <a:avLst/>
          </a:prstGeom>
          <a:noFill/>
        </p:spPr>
        <p:txBody>
          <a:bodyPr wrap="square" lIns="36576" rIns="36576" tIns="18288" bIns="18288">
            <a:spAutoFit/>
          </a:bodyPr>
          <a:lstStyle/>
          <a:p>
            <a:pPr algn="ctr"/>
            <a:r>
              <a:rPr sz="1200" b="0">
                <a:solidFill>
                  <a:srgbClr val="CBD5E1"/>
                </a:solidFill>
                <a:latin typeface="Segoe UI"/>
              </a:rPr>
              <a:t>Every future agent reads the shared rule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17</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WHAT NOT TO PERSIST</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Memory anti-patterns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memory model is only useful if it stays safe, current, and intentional.</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docs/.../features/memory.md:21-24, 93-109, 162-166</a:t>
            </a:r>
          </a:p>
        </p:txBody>
      </p:sp>
      <p:sp>
        <p:nvSpPr>
          <p:cNvPr id="9" name="Rounded Rectangle 8"/>
          <p:cNvSpPr/>
          <p:nvPr/>
        </p:nvSpPr>
        <p:spPr>
          <a:xfrm>
            <a:off x="548640" y="1874519"/>
            <a:ext cx="2636443"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2636443"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12" name="TextBox 11"/>
          <p:cNvSpPr txBox="1"/>
          <p:nvPr/>
        </p:nvSpPr>
        <p:spPr>
          <a:xfrm>
            <a:off x="1234440"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Secrets are never memory</a:t>
            </a:r>
          </a:p>
        </p:txBody>
      </p:sp>
      <p:sp>
        <p:nvSpPr>
          <p:cNvPr id="13" name="TextBox 12"/>
          <p:cNvSpPr txBox="1"/>
          <p:nvPr/>
        </p:nvSpPr>
        <p:spPr>
          <a:xfrm>
            <a:off x="713232" y="2560320"/>
            <a:ext cx="2362123" cy="288036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Tokens, passwords, keys</a:t>
            </a:r>
          </a:p>
          <a:p>
            <a:pPr>
              <a:spcAft>
                <a:spcPts val="300"/>
              </a:spcAft>
            </a:pPr>
            <a:r>
              <a:rPr sz="1200" b="1">
                <a:solidFill>
                  <a:srgbClr val="FB7185"/>
                </a:solidFill>
                <a:latin typeface="Segoe UI"/>
              </a:rPr>
              <a:t>•  </a:t>
            </a:r>
            <a:r>
              <a:rPr sz="1200">
                <a:solidFill>
                  <a:srgbClr val="CBD5E1"/>
                </a:solidFill>
                <a:latin typeface="Segoe UI"/>
              </a:rPr>
              <a:t>Raw customer data</a:t>
            </a:r>
          </a:p>
        </p:txBody>
      </p:sp>
      <p:sp>
        <p:nvSpPr>
          <p:cNvPr id="14" name="Rounded Rectangle 13"/>
          <p:cNvSpPr/>
          <p:nvPr/>
        </p:nvSpPr>
        <p:spPr>
          <a:xfrm>
            <a:off x="3367963" y="1874519"/>
            <a:ext cx="2636443"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7963" y="1874519"/>
            <a:ext cx="2636443"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2555"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7" name="TextBox 16"/>
          <p:cNvSpPr txBox="1"/>
          <p:nvPr/>
        </p:nvSpPr>
        <p:spPr>
          <a:xfrm>
            <a:off x="4053763"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Transient data expires</a:t>
            </a:r>
          </a:p>
        </p:txBody>
      </p:sp>
      <p:sp>
        <p:nvSpPr>
          <p:cNvPr id="18" name="TextBox 17"/>
          <p:cNvSpPr txBox="1"/>
          <p:nvPr/>
        </p:nvSpPr>
        <p:spPr>
          <a:xfrm>
            <a:off x="3532555" y="2560320"/>
            <a:ext cx="2362123" cy="288036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CI blips, one-off logs</a:t>
            </a:r>
          </a:p>
          <a:p>
            <a:pPr>
              <a:spcAft>
                <a:spcPts val="300"/>
              </a:spcAft>
            </a:pPr>
            <a:r>
              <a:rPr sz="1200" b="1">
                <a:solidFill>
                  <a:srgbClr val="FBBF24"/>
                </a:solidFill>
                <a:latin typeface="Segoe UI"/>
              </a:rPr>
              <a:t>•  </a:t>
            </a:r>
            <a:r>
              <a:rPr sz="1200">
                <a:solidFill>
                  <a:srgbClr val="CBD5E1"/>
                </a:solidFill>
                <a:latin typeface="Segoe UI"/>
              </a:rPr>
              <a:t>Stale PR status</a:t>
            </a:r>
          </a:p>
          <a:p>
            <a:pPr>
              <a:spcAft>
                <a:spcPts val="300"/>
              </a:spcAft>
            </a:pPr>
            <a:r>
              <a:rPr sz="1200" b="1">
                <a:solidFill>
                  <a:srgbClr val="FBBF24"/>
                </a:solidFill>
                <a:latin typeface="Segoe UI"/>
              </a:rPr>
              <a:t>•  </a:t>
            </a:r>
            <a:r>
              <a:rPr sz="1200">
                <a:solidFill>
                  <a:srgbClr val="CBD5E1"/>
                </a:solidFill>
                <a:latin typeface="Segoe UI"/>
              </a:rPr>
              <a:t>Don't promote to DECISION</a:t>
            </a:r>
          </a:p>
        </p:txBody>
      </p:sp>
      <p:sp>
        <p:nvSpPr>
          <p:cNvPr id="19" name="Rounded Rectangle 18"/>
          <p:cNvSpPr/>
          <p:nvPr/>
        </p:nvSpPr>
        <p:spPr>
          <a:xfrm>
            <a:off x="6187287" y="1874519"/>
            <a:ext cx="2636443"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1874519"/>
            <a:ext cx="2636443"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1879" y="2039112"/>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22" name="TextBox 21"/>
          <p:cNvSpPr txBox="1"/>
          <p:nvPr/>
        </p:nvSpPr>
        <p:spPr>
          <a:xfrm>
            <a:off x="6873087"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Don't fake providers</a:t>
            </a:r>
          </a:p>
        </p:txBody>
      </p:sp>
      <p:sp>
        <p:nvSpPr>
          <p:cNvPr id="23" name="TextBox 22"/>
          <p:cNvSpPr txBox="1"/>
          <p:nvPr/>
        </p:nvSpPr>
        <p:spPr>
          <a:xfrm>
            <a:off x="6351879" y="2560320"/>
            <a:ext cx="2362123" cy="288036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Copilot Memory needs a real bridge</a:t>
            </a:r>
          </a:p>
          <a:p>
            <a:pPr>
              <a:spcAft>
                <a:spcPts val="300"/>
              </a:spcAft>
            </a:pPr>
            <a:r>
              <a:rPr sz="1200" b="1">
                <a:solidFill>
                  <a:srgbClr val="FB7185"/>
                </a:solidFill>
                <a:latin typeface="Segoe UI"/>
              </a:rPr>
              <a:t>•  </a:t>
            </a:r>
            <a:r>
              <a:rPr sz="1200">
                <a:solidFill>
                  <a:srgbClr val="CBD5E1"/>
                </a:solidFill>
                <a:latin typeface="Segoe UI"/>
              </a:rPr>
              <a:t>provider=copilot fails closed</a:t>
            </a:r>
          </a:p>
          <a:p>
            <a:pPr>
              <a:spcAft>
                <a:spcPts val="300"/>
              </a:spcAft>
            </a:pPr>
            <a:r>
              <a:rPr sz="1200" b="1">
                <a:solidFill>
                  <a:srgbClr val="FB7185"/>
                </a:solidFill>
                <a:latin typeface="Segoe UI"/>
              </a:rPr>
              <a:t>•  </a:t>
            </a:r>
            <a:r>
              <a:rPr sz="1200">
                <a:solidFill>
                  <a:srgbClr val="CBD5E1"/>
                </a:solidFill>
                <a:latin typeface="Segoe UI"/>
              </a:rPr>
              <a:t>Audit honest provider boundary</a:t>
            </a:r>
          </a:p>
        </p:txBody>
      </p:sp>
      <p:sp>
        <p:nvSpPr>
          <p:cNvPr id="24" name="Rounded Rectangle 23"/>
          <p:cNvSpPr/>
          <p:nvPr/>
        </p:nvSpPr>
        <p:spPr>
          <a:xfrm>
            <a:off x="9006611" y="1874519"/>
            <a:ext cx="2636443"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611" y="1874519"/>
            <a:ext cx="2636443"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203"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27" name="TextBox 26"/>
          <p:cNvSpPr txBox="1"/>
          <p:nvPr/>
        </p:nvSpPr>
        <p:spPr>
          <a:xfrm>
            <a:off x="9692411"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Don't load everything</a:t>
            </a:r>
          </a:p>
        </p:txBody>
      </p:sp>
      <p:sp>
        <p:nvSpPr>
          <p:cNvPr id="28" name="TextBox 27"/>
          <p:cNvSpPr txBox="1"/>
          <p:nvPr/>
        </p:nvSpPr>
        <p:spPr>
          <a:xfrm>
            <a:off x="9171203" y="2560320"/>
            <a:ext cx="2362123" cy="288036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Archive old decisions</a:t>
            </a:r>
          </a:p>
          <a:p>
            <a:pPr>
              <a:spcAft>
                <a:spcPts val="300"/>
              </a:spcAft>
            </a:pPr>
            <a:r>
              <a:rPr sz="1200" b="1">
                <a:solidFill>
                  <a:srgbClr val="38BDF8"/>
                </a:solidFill>
                <a:latin typeface="Segoe UI"/>
              </a:rPr>
              <a:t>•  </a:t>
            </a:r>
            <a:r>
              <a:rPr sz="1200">
                <a:solidFill>
                  <a:srgbClr val="CBD5E1"/>
                </a:solidFill>
                <a:latin typeface="Segoe UI"/>
              </a:rPr>
              <a:t>Summarize long histories</a:t>
            </a:r>
          </a:p>
          <a:p>
            <a:pPr>
              <a:spcAft>
                <a:spcPts val="300"/>
              </a:spcAft>
            </a:pPr>
            <a:r>
              <a:rPr sz="1200" b="1">
                <a:solidFill>
                  <a:srgbClr val="38BDF8"/>
                </a:solidFill>
                <a:latin typeface="Segoe UI"/>
              </a:rPr>
              <a:t>•  </a:t>
            </a:r>
            <a:r>
              <a:rPr sz="1200">
                <a:solidFill>
                  <a:srgbClr val="CBD5E1"/>
                </a:solidFill>
                <a:latin typeface="Segoe UI"/>
              </a:rPr>
              <a:t>ALWAYS budget is small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64592" cy="228600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18</a:t>
            </a:r>
          </a:p>
        </p:txBody>
      </p:sp>
      <p:sp>
        <p:nvSpPr>
          <p:cNvPr id="5" name="TextBox 4"/>
          <p:cNvSpPr txBox="1"/>
          <p:nvPr/>
        </p:nvSpPr>
        <p:spPr>
          <a:xfrm>
            <a:off x="960120" y="2331720"/>
            <a:ext cx="11094415" cy="457200"/>
          </a:xfrm>
          <a:prstGeom prst="rect">
            <a:avLst/>
          </a:prstGeom>
          <a:noFill/>
        </p:spPr>
        <p:txBody>
          <a:bodyPr wrap="square" lIns="36576" rIns="36576" tIns="18288" bIns="18288">
            <a:spAutoFit/>
          </a:bodyPr>
          <a:lstStyle/>
          <a:p>
            <a:r>
              <a:rPr sz="1400" b="1">
                <a:solidFill>
                  <a:srgbClr val="A78BFA"/>
                </a:solidFill>
                <a:latin typeface="Segoe UI Semibold"/>
              </a:rPr>
              <a:t>PATTERN 2</a:t>
            </a:r>
          </a:p>
        </p:txBody>
      </p:sp>
      <p:sp>
        <p:nvSpPr>
          <p:cNvPr id="6" name="TextBox 5"/>
          <p:cNvSpPr txBox="1"/>
          <p:nvPr/>
        </p:nvSpPr>
        <p:spPr>
          <a:xfrm>
            <a:off x="960120" y="2788920"/>
            <a:ext cx="11094415" cy="1828800"/>
          </a:xfrm>
          <a:prstGeom prst="rect">
            <a:avLst/>
          </a:prstGeom>
          <a:noFill/>
        </p:spPr>
        <p:txBody>
          <a:bodyPr wrap="square" lIns="36576" rIns="36576" tIns="18288" bIns="18288">
            <a:spAutoFit/>
          </a:bodyPr>
          <a:lstStyle/>
          <a:p>
            <a:r>
              <a:rPr sz="5400" b="1">
                <a:solidFill>
                  <a:srgbClr val="F8FAFC"/>
                </a:solidFill>
                <a:latin typeface="Segoe UI"/>
              </a:rPr>
              <a:t>➁ State that
stays out of the PR</a:t>
            </a:r>
          </a:p>
        </p:txBody>
      </p:sp>
      <p:sp>
        <p:nvSpPr>
          <p:cNvPr id="7" name="TextBox 6"/>
          <p:cNvSpPr txBox="1"/>
          <p:nvPr/>
        </p:nvSpPr>
        <p:spPr>
          <a:xfrm>
            <a:off x="960120" y="4526280"/>
            <a:ext cx="11094415" cy="1280160"/>
          </a:xfrm>
          <a:prstGeom prst="rect">
            <a:avLst/>
          </a:prstGeom>
          <a:noFill/>
        </p:spPr>
        <p:txBody>
          <a:bodyPr wrap="square" lIns="36576" rIns="36576" tIns="18288" bIns="18288">
            <a:spAutoFit/>
          </a:bodyPr>
          <a:lstStyle/>
          <a:p>
            <a:r>
              <a:rPr sz="2000" b="0">
                <a:solidFill>
                  <a:srgbClr val="CBD5E1"/>
                </a:solidFill>
                <a:latin typeface="Segoe UI"/>
              </a:rPr>
              <a:t>Code and squad state are different workflows. Treat them like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19</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THE PROBLEM TWO-LAYER SOLVES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Your team produces two completely different kinds of files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One is for humans. One is for the runtime. They want different storage.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tamirdresher.com Part 7 / 7b • PR #1004 • state-backend.ts</a:t>
            </a:r>
          </a:p>
        </p:txBody>
      </p:sp>
      <p:sp>
        <p:nvSpPr>
          <p:cNvPr id="9" name="Rounded Rectangle 8"/>
          <p:cNvSpPr/>
          <p:nvPr/>
        </p:nvSpPr>
        <p:spPr>
          <a:xfrm>
            <a:off x="548640" y="1874519"/>
            <a:ext cx="5440680"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44068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234440" y="2039112"/>
            <a:ext cx="4663440" cy="411480"/>
          </a:xfrm>
          <a:prstGeom prst="rect">
            <a:avLst/>
          </a:prstGeom>
          <a:noFill/>
        </p:spPr>
        <p:txBody>
          <a:bodyPr wrap="square" lIns="36576" rIns="36576" tIns="18288" bIns="18288" anchor="ctr">
            <a:spAutoFit/>
          </a:bodyPr>
          <a:lstStyle/>
          <a:p>
            <a:r>
              <a:rPr sz="1600" b="1">
                <a:solidFill>
                  <a:srgbClr val="F8FAFC"/>
                </a:solidFill>
                <a:latin typeface="Segoe UI"/>
              </a:rPr>
              <a:t>Things humans review</a:t>
            </a:r>
          </a:p>
        </p:txBody>
      </p:sp>
      <p:sp>
        <p:nvSpPr>
          <p:cNvPr id="13" name="TextBox 12"/>
          <p:cNvSpPr txBox="1"/>
          <p:nvPr/>
        </p:nvSpPr>
        <p:spPr>
          <a:xfrm>
            <a:off x="713232" y="2560320"/>
            <a:ext cx="5166360" cy="2423160"/>
          </a:xfrm>
          <a:prstGeom prst="rect">
            <a:avLst/>
          </a:prstGeom>
          <a:noFill/>
        </p:spPr>
        <p:txBody>
          <a:bodyPr wrap="square" lIns="45720" rIns="45720">
            <a:spAutoFit/>
          </a:bodyPr>
          <a:lstStyle/>
          <a:p>
            <a:pPr>
              <a:spcAft>
                <a:spcPts val="300"/>
              </a:spcAft>
            </a:pPr>
            <a:r>
              <a:rPr sz="1300" b="1">
                <a:solidFill>
                  <a:srgbClr val="38BDF8"/>
                </a:solidFill>
                <a:latin typeface="Segoe UI"/>
              </a:rPr>
              <a:t>•  </a:t>
            </a:r>
            <a:r>
              <a:rPr sz="1300">
                <a:solidFill>
                  <a:srgbClr val="CBD5E1"/>
                </a:solidFill>
                <a:latin typeface="Segoe UI"/>
              </a:rPr>
              <a:t>Code, tests, configs</a:t>
            </a:r>
          </a:p>
          <a:p>
            <a:pPr>
              <a:spcAft>
                <a:spcPts val="300"/>
              </a:spcAft>
            </a:pPr>
            <a:r>
              <a:rPr sz="1300" b="1">
                <a:solidFill>
                  <a:srgbClr val="38BDF8"/>
                </a:solidFill>
                <a:latin typeface="Segoe UI"/>
              </a:rPr>
              <a:t>•  </a:t>
            </a:r>
            <a:r>
              <a:rPr sz="1300">
                <a:solidFill>
                  <a:srgbClr val="CBD5E1"/>
                </a:solidFill>
                <a:latin typeface="Segoe UI"/>
              </a:rPr>
              <a:t>Agent charters, team.md, routing.md</a:t>
            </a:r>
          </a:p>
          <a:p>
            <a:pPr>
              <a:spcAft>
                <a:spcPts val="300"/>
              </a:spcAft>
            </a:pPr>
            <a:r>
              <a:rPr sz="1300" b="1">
                <a:solidFill>
                  <a:srgbClr val="38BDF8"/>
                </a:solidFill>
                <a:latin typeface="Segoe UI"/>
              </a:rPr>
              <a:t>•  </a:t>
            </a:r>
            <a:r>
              <a:rPr sz="1300">
                <a:solidFill>
                  <a:srgbClr val="CBD5E1"/>
                </a:solidFill>
                <a:latin typeface="Segoe UI"/>
              </a:rPr>
              <a:t>Shows in PR diffs</a:t>
            </a:r>
          </a:p>
          <a:p>
            <a:pPr>
              <a:spcAft>
                <a:spcPts val="300"/>
              </a:spcAft>
            </a:pPr>
            <a:r>
              <a:rPr sz="1300" b="1">
                <a:solidFill>
                  <a:srgbClr val="38BDF8"/>
                </a:solidFill>
                <a:latin typeface="Segoe UI"/>
              </a:rPr>
              <a:t>•  </a:t>
            </a:r>
            <a:r>
              <a:rPr sz="1300">
                <a:solidFill>
                  <a:srgbClr val="CBD5E1"/>
                </a:solidFill>
                <a:latin typeface="Segoe UI"/>
              </a:rPr>
              <a:t>Shows in git log</a:t>
            </a:r>
          </a:p>
          <a:p>
            <a:pPr>
              <a:spcAft>
                <a:spcPts val="300"/>
              </a:spcAft>
            </a:pPr>
            <a:r>
              <a:rPr sz="1300" b="1">
                <a:solidFill>
                  <a:srgbClr val="38BDF8"/>
                </a:solidFill>
                <a:latin typeface="Segoe UI"/>
              </a:rPr>
              <a:t>•  </a:t>
            </a:r>
            <a:r>
              <a:rPr sz="1300">
                <a:solidFill>
                  <a:srgbClr val="CBD5E1"/>
                </a:solidFill>
                <a:latin typeface="Segoe UI"/>
              </a:rPr>
              <a:t>Cadence: per feature — reviewed, gated</a:t>
            </a:r>
          </a:p>
        </p:txBody>
      </p:sp>
      <p:sp>
        <p:nvSpPr>
          <p:cNvPr id="14" name="Rounded Rectangle 13"/>
          <p:cNvSpPr/>
          <p:nvPr/>
        </p:nvSpPr>
        <p:spPr>
          <a:xfrm>
            <a:off x="6199631" y="1874519"/>
            <a:ext cx="5440680"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1" y="1874519"/>
            <a:ext cx="544068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3"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7" name="TextBox 16"/>
          <p:cNvSpPr txBox="1"/>
          <p:nvPr/>
        </p:nvSpPr>
        <p:spPr>
          <a:xfrm>
            <a:off x="6885431" y="2039112"/>
            <a:ext cx="4663440" cy="411480"/>
          </a:xfrm>
          <a:prstGeom prst="rect">
            <a:avLst/>
          </a:prstGeom>
          <a:noFill/>
        </p:spPr>
        <p:txBody>
          <a:bodyPr wrap="square" lIns="36576" rIns="36576" tIns="18288" bIns="18288" anchor="ctr">
            <a:spAutoFit/>
          </a:bodyPr>
          <a:lstStyle/>
          <a:p>
            <a:r>
              <a:rPr sz="1600" b="1">
                <a:solidFill>
                  <a:srgbClr val="F8FAFC"/>
                </a:solidFill>
                <a:latin typeface="Segoe UI"/>
              </a:rPr>
              <a:t>Things only the runtime cares about</a:t>
            </a:r>
          </a:p>
        </p:txBody>
      </p:sp>
      <p:sp>
        <p:nvSpPr>
          <p:cNvPr id="18" name="TextBox 17"/>
          <p:cNvSpPr txBox="1"/>
          <p:nvPr/>
        </p:nvSpPr>
        <p:spPr>
          <a:xfrm>
            <a:off x="6364223" y="2560320"/>
            <a:ext cx="5166360" cy="2423160"/>
          </a:xfrm>
          <a:prstGeom prst="rect">
            <a:avLst/>
          </a:prstGeom>
          <a:noFill/>
        </p:spPr>
        <p:txBody>
          <a:bodyPr wrap="square" lIns="45720" rIns="45720">
            <a:spAutoFit/>
          </a:bodyPr>
          <a:lstStyle/>
          <a:p>
            <a:pPr>
              <a:spcAft>
                <a:spcPts val="300"/>
              </a:spcAft>
            </a:pPr>
            <a:r>
              <a:rPr sz="1300" b="1">
                <a:solidFill>
                  <a:srgbClr val="A78BFA"/>
                </a:solidFill>
                <a:latin typeface="Segoe UI"/>
              </a:rPr>
              <a:t>•  </a:t>
            </a:r>
            <a:r>
              <a:rPr sz="1300">
                <a:solidFill>
                  <a:srgbClr val="CBD5E1"/>
                </a:solidFill>
                <a:latin typeface="Segoe UI"/>
              </a:rPr>
              <a:t>Every decision recorded</a:t>
            </a:r>
          </a:p>
          <a:p>
            <a:pPr>
              <a:spcAft>
                <a:spcPts val="300"/>
              </a:spcAft>
            </a:pPr>
            <a:r>
              <a:rPr sz="1300" b="1">
                <a:solidFill>
                  <a:srgbClr val="A78BFA"/>
                </a:solidFill>
                <a:latin typeface="Segoe UI"/>
              </a:rPr>
              <a:t>•  </a:t>
            </a:r>
            <a:r>
              <a:rPr sz="1300">
                <a:solidFill>
                  <a:srgbClr val="CBD5E1"/>
                </a:solidFill>
                <a:latin typeface="Segoe UI"/>
              </a:rPr>
              <a:t>Every orchestration log line</a:t>
            </a:r>
          </a:p>
          <a:p>
            <a:pPr>
              <a:spcAft>
                <a:spcPts val="300"/>
              </a:spcAft>
            </a:pPr>
            <a:r>
              <a:rPr sz="1300" b="1">
                <a:solidFill>
                  <a:srgbClr val="A78BFA"/>
                </a:solidFill>
                <a:latin typeface="Segoe UI"/>
              </a:rPr>
              <a:t>•  </a:t>
            </a:r>
            <a:r>
              <a:rPr sz="1300">
                <a:solidFill>
                  <a:srgbClr val="CBD5E1"/>
                </a:solidFill>
                <a:latin typeface="Segoe UI"/>
              </a:rPr>
              <a:t>Every agent's history.md</a:t>
            </a:r>
          </a:p>
          <a:p>
            <a:pPr>
              <a:spcAft>
                <a:spcPts val="300"/>
              </a:spcAft>
            </a:pPr>
            <a:r>
              <a:rPr sz="1300" b="1">
                <a:solidFill>
                  <a:srgbClr val="A78BFA"/>
                </a:solidFill>
                <a:latin typeface="Segoe UI"/>
              </a:rPr>
              <a:t>•  </a:t>
            </a:r>
            <a:r>
              <a:rPr sz="1300">
                <a:solidFill>
                  <a:srgbClr val="CBD5E1"/>
                </a:solidFill>
                <a:latin typeface="Segoe UI"/>
              </a:rPr>
              <a:t>Changes dozens of times per session</a:t>
            </a:r>
          </a:p>
          <a:p>
            <a:pPr>
              <a:spcAft>
                <a:spcPts val="300"/>
              </a:spcAft>
            </a:pPr>
            <a:r>
              <a:rPr sz="1300" b="1">
                <a:solidFill>
                  <a:srgbClr val="A78BFA"/>
                </a:solidFill>
                <a:latin typeface="Segoe UI"/>
              </a:rPr>
              <a:t>•  </a:t>
            </a:r>
            <a:r>
              <a:rPr sz="1300">
                <a:solidFill>
                  <a:srgbClr val="CBD5E1"/>
                </a:solidFill>
                <a:latin typeface="Segoe UI"/>
              </a:rPr>
              <a:t>On main → drowns git log + merge conflicts</a:t>
            </a:r>
          </a:p>
        </p:txBody>
      </p:sp>
      <p:sp>
        <p:nvSpPr>
          <p:cNvPr id="19" name="Rounded Rectangle 18"/>
          <p:cNvSpPr/>
          <p:nvPr/>
        </p:nvSpPr>
        <p:spPr>
          <a:xfrm>
            <a:off x="548640" y="5303520"/>
            <a:ext cx="11094415" cy="960120"/>
          </a:xfrm>
          <a:prstGeom prst="roundRect">
            <a:avLst/>
          </a:prstGeom>
          <a:solidFill>
            <a:srgbClr val="0A182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394960"/>
            <a:ext cx="10545775" cy="365760"/>
          </a:xfrm>
          <a:prstGeom prst="rect">
            <a:avLst/>
          </a:prstGeom>
          <a:noFill/>
        </p:spPr>
        <p:txBody>
          <a:bodyPr wrap="square" lIns="36576" rIns="36576" tIns="18288" bIns="18288">
            <a:spAutoFit/>
          </a:bodyPr>
          <a:lstStyle/>
          <a:p>
            <a:r>
              <a:rPr sz="1200" b="1">
                <a:solidFill>
                  <a:srgbClr val="A78BFA"/>
                </a:solidFill>
                <a:latin typeface="Segoe UI Semibold"/>
              </a:rPr>
              <a:t>Two-layer’s job, in one sentence</a:t>
            </a:r>
          </a:p>
        </p:txBody>
      </p:sp>
      <p:sp>
        <p:nvSpPr>
          <p:cNvPr id="21" name="TextBox 20"/>
          <p:cNvSpPr txBox="1"/>
          <p:nvPr/>
        </p:nvSpPr>
        <p:spPr>
          <a:xfrm>
            <a:off x="822959" y="5715000"/>
            <a:ext cx="10545775" cy="502920"/>
          </a:xfrm>
          <a:prstGeom prst="rect">
            <a:avLst/>
          </a:prstGeom>
          <a:noFill/>
        </p:spPr>
        <p:txBody>
          <a:bodyPr wrap="square" lIns="36576" rIns="36576" tIns="18288" bIns="18288">
            <a:spAutoFit/>
          </a:bodyPr>
          <a:lstStyle/>
          <a:p>
            <a:pPr algn="ctr"/>
            <a:r>
              <a:rPr sz="1600" b="1">
                <a:solidFill>
                  <a:srgbClr val="F8FAFC"/>
                </a:solidFill>
                <a:latin typeface="Segoe UI"/>
              </a:rPr>
              <a:t>Keep the things humans review on main (clean PRs) and shove the things only the runtime cares about somewhere else (no noise).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20</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0.10 PERSISTENCE MODEL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State backends: where the memory lives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Agents use the same state protocol; the backend decides where state is stored.</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docs/.../features/state-backends.md:21-41, 63-156</a:t>
            </a:r>
          </a:p>
        </p:txBody>
      </p:sp>
      <p:graphicFrame>
        <p:nvGraphicFramePr>
          <p:cNvPr id="9" name="Table 8"/>
          <p:cNvGraphicFramePr>
            <a:graphicFrameLocks noGrp="1"/>
          </p:cNvGraphicFramePr>
          <p:nvPr/>
        </p:nvGraphicFramePr>
        <p:xfrm>
          <a:off x="548640" y="1874519"/>
          <a:ext cx="11094415" cy="2651760"/>
        </p:xfrm>
        <a:graphic>
          <a:graphicData uri="http://schemas.openxmlformats.org/drawingml/2006/table">
            <a:tbl>
              <a:tblPr firstRow="1" bandRow="1">
                <a:tableStyleId>{5C22544A-7EE6-4342-B048-85BDC9FD1C3A}</a:tableStyleId>
              </a:tblPr>
              <a:tblGrid>
                <a:gridCol w="2773603"/>
                <a:gridCol w="2773603"/>
                <a:gridCol w="2773603"/>
                <a:gridCol w="2773606"/>
              </a:tblGrid>
              <a:tr h="530352">
                <a:tc>
                  <a:txBody>
                    <a:bodyPr lIns="64008" rIns="64008" tIns="36576" bIns="36576"/>
                    <a:lstStyle/>
                    <a:p>
                      <a:r>
                        <a:rPr sz="1300" b="1">
                          <a:solidFill>
                            <a:srgbClr val="F8FAFC"/>
                          </a:solidFill>
                          <a:latin typeface="Segoe UI Semibold"/>
                        </a:rPr>
                        <a:t/>
                      </a:r>
                    </a:p>
                  </a:txBody>
                  <a:tcPr>
                    <a:solidFill>
                      <a:srgbClr val="172554"/>
                    </a:solidFill>
                  </a:tcPr>
                </a:tc>
                <a:tc>
                  <a:txBody>
                    <a:bodyPr lIns="64008" rIns="64008" tIns="36576" bIns="36576"/>
                    <a:lstStyle/>
                    <a:p>
                      <a:r>
                        <a:rPr sz="1300" b="1">
                          <a:solidFill>
                            <a:srgbClr val="F8FAFC"/>
                          </a:solidFill>
                          <a:latin typeface="Segoe UI Semibold"/>
                        </a:rPr>
                        <a:t>Local</a:t>
                      </a:r>
                    </a:p>
                  </a:txBody>
                  <a:tcPr>
                    <a:solidFill>
                      <a:srgbClr val="172554"/>
                    </a:solidFill>
                  </a:tcPr>
                </a:tc>
                <a:tc>
                  <a:txBody>
                    <a:bodyPr lIns="64008" rIns="64008" tIns="36576" bIns="36576"/>
                    <a:lstStyle/>
                    <a:p>
                      <a:r>
                        <a:rPr sz="1300" b="1">
                          <a:solidFill>
                            <a:srgbClr val="F8FAFC"/>
                          </a:solidFill>
                          <a:latin typeface="Segoe UI Semibold"/>
                        </a:rPr>
                        <a:t>Orphan branch</a:t>
                      </a:r>
                    </a:p>
                  </a:txBody>
                  <a:tcPr>
                    <a:solidFill>
                      <a:srgbClr val="172554"/>
                    </a:solidFill>
                  </a:tcPr>
                </a:tc>
                <a:tc>
                  <a:txBody>
                    <a:bodyPr lIns="64008" rIns="64008" tIns="36576" bIns="36576"/>
                    <a:lstStyle/>
                    <a:p>
                      <a:r>
                        <a:rPr sz="1300" b="1">
                          <a:solidFill>
                            <a:srgbClr val="F8FAFC"/>
                          </a:solidFill>
                          <a:latin typeface="Segoe UI Semibold"/>
                        </a:rPr>
                        <a:t>Two-layer</a:t>
                      </a:r>
                    </a:p>
                  </a:txBody>
                  <a:tcPr>
                    <a:solidFill>
                      <a:srgbClr val="172554"/>
                    </a:solidFill>
                  </a:tcPr>
                </a:tc>
              </a:tr>
              <a:tr h="530352">
                <a:tc>
                  <a:txBody>
                    <a:bodyPr lIns="64008" rIns="64008" tIns="36576" bIns="36576"/>
                    <a:lstStyle/>
                    <a:p>
                      <a:r>
                        <a:rPr sz="1200" b="0">
                          <a:solidFill>
                            <a:srgbClr val="CBD5E1"/>
                          </a:solidFill>
                          <a:latin typeface="Segoe UI"/>
                        </a:rPr>
                        <a:t>Location</a:t>
                      </a:r>
                    </a:p>
                  </a:txBody>
                  <a:tcPr>
                    <a:solidFill>
                      <a:srgbClr val="0F2338"/>
                    </a:solidFill>
                  </a:tcPr>
                </a:tc>
                <a:tc>
                  <a:txBody>
                    <a:bodyPr lIns="64008" rIns="64008" tIns="36576" bIns="36576"/>
                    <a:lstStyle/>
                    <a:p>
                      <a:r>
                        <a:rPr sz="1200" b="0">
                          <a:solidFill>
                            <a:srgbClr val="CBD5E1"/>
                          </a:solidFill>
                          <a:latin typeface="Segoe UI"/>
                        </a:rPr>
                        <a:t>.squad/ files</a:t>
                      </a:r>
                    </a:p>
                  </a:txBody>
                  <a:tcPr>
                    <a:solidFill>
                      <a:srgbClr val="0F2338"/>
                    </a:solidFill>
                  </a:tcPr>
                </a:tc>
                <a:tc>
                  <a:txBody>
                    <a:bodyPr lIns="64008" rIns="64008" tIns="36576" bIns="36576"/>
                    <a:lstStyle/>
                    <a:p>
                      <a:r>
                        <a:rPr sz="1200" b="0">
                          <a:solidFill>
                            <a:srgbClr val="CBD5E1"/>
                          </a:solidFill>
                          <a:latin typeface="Segoe UI"/>
                        </a:rPr>
                        <a:t>squad-state branch</a:t>
                      </a:r>
                    </a:p>
                  </a:txBody>
                  <a:tcPr>
                    <a:solidFill>
                      <a:srgbClr val="0F2338"/>
                    </a:solidFill>
                  </a:tcPr>
                </a:tc>
                <a:tc>
                  <a:txBody>
                    <a:bodyPr lIns="64008" rIns="64008" tIns="36576" bIns="36576"/>
                    <a:lstStyle/>
                    <a:p>
                      <a:r>
                        <a:rPr sz="1200" b="0">
                          <a:solidFill>
                            <a:srgbClr val="CBD5E1"/>
                          </a:solidFill>
                          <a:latin typeface="Segoe UI"/>
                        </a:rPr>
                        <a:t>orphan branch + notes</a:t>
                      </a:r>
                    </a:p>
                  </a:txBody>
                  <a:tcPr>
                    <a:solidFill>
                      <a:srgbClr val="0F2338"/>
                    </a:solidFill>
                  </a:tcPr>
                </a:tc>
              </a:tr>
              <a:tr h="530352">
                <a:tc>
                  <a:txBody>
                    <a:bodyPr lIns="64008" rIns="64008" tIns="36576" bIns="36576"/>
                    <a:lstStyle/>
                    <a:p>
                      <a:r>
                        <a:rPr sz="1200" b="0">
                          <a:solidFill>
                            <a:srgbClr val="CBD5E1"/>
                          </a:solidFill>
                          <a:latin typeface="Segoe UI"/>
                        </a:rPr>
                        <a:t>PR cleanliness</a:t>
                      </a:r>
                    </a:p>
                  </a:txBody>
                  <a:tcPr>
                    <a:solidFill>
                      <a:srgbClr val="0F2338"/>
                    </a:solidFill>
                  </a:tcPr>
                </a:tc>
                <a:tc>
                  <a:txBody>
                    <a:bodyPr lIns="64008" rIns="64008" tIns="36576" bIns="36576"/>
                    <a:lstStyle/>
                    <a:p>
                      <a:r>
                        <a:rPr sz="1200" b="0">
                          <a:solidFill>
                            <a:srgbClr val="CBD5E1"/>
                          </a:solidFill>
                          <a:latin typeface="Segoe UI"/>
                        </a:rPr>
                        <a:t>Appears if committed</a:t>
                      </a:r>
                    </a:p>
                  </a:txBody>
                  <a:tcPr>
                    <a:solidFill>
                      <a:srgbClr val="0F2338"/>
                    </a:solidFill>
                  </a:tcPr>
                </a:tc>
                <a:tc>
                  <a:txBody>
                    <a:bodyPr lIns="64008" rIns="64008" tIns="36576" bIns="36576"/>
                    <a:lstStyle/>
                    <a:p>
                      <a:r>
                        <a:rPr sz="1200" b="0">
                          <a:solidFill>
                            <a:srgbClr val="CBD5E1"/>
                          </a:solidFill>
                          <a:latin typeface="Segoe UI"/>
                        </a:rPr>
                        <a:t>Clean</a:t>
                      </a:r>
                    </a:p>
                  </a:txBody>
                  <a:tcPr>
                    <a:solidFill>
                      <a:srgbClr val="0F2338"/>
                    </a:solidFill>
                  </a:tcPr>
                </a:tc>
                <a:tc>
                  <a:txBody>
                    <a:bodyPr lIns="64008" rIns="64008" tIns="36576" bIns="36576"/>
                    <a:lstStyle/>
                    <a:p>
                      <a:r>
                        <a:rPr sz="1200" b="0">
                          <a:solidFill>
                            <a:srgbClr val="CBD5E1"/>
                          </a:solidFill>
                          <a:latin typeface="Segoe UI"/>
                        </a:rPr>
                        <a:t>Clean</a:t>
                      </a:r>
                    </a:p>
                  </a:txBody>
                  <a:tcPr>
                    <a:solidFill>
                      <a:srgbClr val="0F2338"/>
                    </a:solidFill>
                  </a:tcPr>
                </a:tc>
              </a:tr>
              <a:tr h="530352">
                <a:tc>
                  <a:txBody>
                    <a:bodyPr lIns="64008" rIns="64008" tIns="36576" bIns="36576"/>
                    <a:lstStyle/>
                    <a:p>
                      <a:r>
                        <a:rPr sz="1200" b="0">
                          <a:solidFill>
                            <a:srgbClr val="CBD5E1"/>
                          </a:solidFill>
                          <a:latin typeface="Segoe UI"/>
                        </a:rPr>
                        <a:t>Branch-switch</a:t>
                      </a:r>
                    </a:p>
                  </a:txBody>
                  <a:tcPr>
                    <a:solidFill>
                      <a:srgbClr val="0F2338"/>
                    </a:solidFill>
                  </a:tcPr>
                </a:tc>
                <a:tc>
                  <a:txBody>
                    <a:bodyPr lIns="64008" rIns="64008" tIns="36576" bIns="36576"/>
                    <a:lstStyle/>
                    <a:p>
                      <a:r>
                        <a:rPr sz="1200" b="0">
                          <a:solidFill>
                            <a:srgbClr val="CBD5E1"/>
                          </a:solidFill>
                          <a:latin typeface="Segoe UI"/>
                        </a:rPr>
                        <a:t>Risk if uncommitted</a:t>
                      </a:r>
                    </a:p>
                  </a:txBody>
                  <a:tcPr>
                    <a:solidFill>
                      <a:srgbClr val="0F2338"/>
                    </a:solidFill>
                  </a:tcPr>
                </a:tc>
                <a:tc>
                  <a:txBody>
                    <a:bodyPr lIns="64008" rIns="64008" tIns="36576" bIns="36576"/>
                    <a:lstStyle/>
                    <a:p>
                      <a:r>
                        <a:rPr sz="1200" b="0">
                          <a:solidFill>
                            <a:srgbClr val="CBD5E1"/>
                          </a:solidFill>
                          <a:latin typeface="Segoe UI"/>
                        </a:rPr>
                        <a:t>Safe</a:t>
                      </a:r>
                    </a:p>
                  </a:txBody>
                  <a:tcPr>
                    <a:solidFill>
                      <a:srgbClr val="0F2338"/>
                    </a:solidFill>
                  </a:tcPr>
                </a:tc>
                <a:tc>
                  <a:txBody>
                    <a:bodyPr lIns="64008" rIns="64008" tIns="36576" bIns="36576"/>
                    <a:lstStyle/>
                    <a:p>
                      <a:r>
                        <a:rPr sz="1200" b="0">
                          <a:solidFill>
                            <a:srgbClr val="CBD5E1"/>
                          </a:solidFill>
                          <a:latin typeface="Segoe UI"/>
                        </a:rPr>
                        <a:t>Safe</a:t>
                      </a:r>
                    </a:p>
                  </a:txBody>
                  <a:tcPr>
                    <a:solidFill>
                      <a:srgbClr val="0F2338"/>
                    </a:solidFill>
                  </a:tcPr>
                </a:tc>
              </a:tr>
              <a:tr h="530352">
                <a:tc>
                  <a:txBody>
                    <a:bodyPr lIns="64008" rIns="64008" tIns="36576" bIns="36576"/>
                    <a:lstStyle/>
                    <a:p>
                      <a:r>
                        <a:rPr sz="1200" b="0">
                          <a:solidFill>
                            <a:srgbClr val="CBD5E1"/>
                          </a:solidFill>
                          <a:latin typeface="Segoe UI"/>
                        </a:rPr>
                        <a:t>Team concurrency</a:t>
                      </a:r>
                    </a:p>
                  </a:txBody>
                  <a:tcPr>
                    <a:solidFill>
                      <a:srgbClr val="0F2338"/>
                    </a:solidFill>
                  </a:tcPr>
                </a:tc>
                <a:tc>
                  <a:txBody>
                    <a:bodyPr lIns="64008" rIns="64008" tIns="36576" bIns="36576"/>
                    <a:lstStyle/>
                    <a:p>
                      <a:r>
                        <a:rPr sz="1200" b="0">
                          <a:solidFill>
                            <a:srgbClr val="CBD5E1"/>
                          </a:solidFill>
                          <a:latin typeface="Segoe UI"/>
                        </a:rPr>
                        <a:t>Filesystem / git merge</a:t>
                      </a:r>
                    </a:p>
                  </a:txBody>
                  <a:tcPr>
                    <a:solidFill>
                      <a:srgbClr val="0F2338"/>
                    </a:solidFill>
                  </a:tcPr>
                </a:tc>
                <a:tc>
                  <a:txBody>
                    <a:bodyPr lIns="64008" rIns="64008" tIns="36576" bIns="36576"/>
                    <a:lstStyle/>
                    <a:p>
                      <a:r>
                        <a:rPr sz="1200" b="0">
                          <a:solidFill>
                            <a:srgbClr val="CBD5E1"/>
                          </a:solidFill>
                          <a:latin typeface="Segoe UI"/>
                        </a:rPr>
                        <a:t>Single-writer preferred</a:t>
                      </a:r>
                    </a:p>
                  </a:txBody>
                  <a:tcPr>
                    <a:solidFill>
                      <a:srgbClr val="0F2338"/>
                    </a:solidFill>
                  </a:tcPr>
                </a:tc>
                <a:tc>
                  <a:txBody>
                    <a:bodyPr lIns="64008" rIns="64008" tIns="36576" bIns="36576"/>
                    <a:lstStyle/>
                    <a:p>
                      <a:r>
                        <a:rPr sz="1200" b="0">
                          <a:solidFill>
                            <a:srgbClr val="CBD5E1"/>
                          </a:solidFill>
                          <a:latin typeface="Segoe UI"/>
                        </a:rPr>
                        <a:t>Designed for teams</a:t>
                      </a:r>
                    </a:p>
                  </a:txBody>
                  <a:tcPr>
                    <a:solidFill>
                      <a:srgbClr val="0F2338"/>
                    </a:solidFill>
                  </a:tcPr>
                </a:tc>
              </a:tr>
            </a:tbl>
          </a:graphicData>
        </a:graphic>
      </p:graphicFrame>
      <p:sp>
        <p:nvSpPr>
          <p:cNvPr id="10" name="Rounded Rectangle 9"/>
          <p:cNvSpPr/>
          <p:nvPr/>
        </p:nvSpPr>
        <p:spPr>
          <a:xfrm>
            <a:off x="548640" y="4800600"/>
            <a:ext cx="11094415" cy="13258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800600"/>
            <a:ext cx="11094415" cy="4572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983480"/>
            <a:ext cx="10820095" cy="1097280"/>
          </a:xfrm>
          <a:prstGeom prst="rect">
            <a:avLst/>
          </a:prstGeom>
          <a:noFill/>
        </p:spPr>
        <p:txBody>
          <a:bodyPr wrap="square" lIns="36576" rIns="36576">
            <a:spAutoFit/>
          </a:bodyPr>
          <a:lstStyle/>
          <a:p>
            <a:pPr>
              <a:spcAft>
                <a:spcPts val="100"/>
              </a:spcAft>
            </a:pPr>
            <a:r>
              <a:rPr sz="1100">
                <a:solidFill>
                  <a:srgbClr val="CBD5E1"/>
                </a:solidFill>
                <a:latin typeface="Consolas"/>
              </a:rPr>
              <a:t>squad init --state-backend two-layer   # recommended for teams who want clean PRs + shared state</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Preconditions:  inside a git repo  •  `git remote -v` shows origin  •  working tree clean</a:t>
            </a:r>
          </a:p>
          <a:p>
            <a:pPr>
              <a:spcAft>
                <a:spcPts val="100"/>
              </a:spcAft>
            </a:pPr>
            <a:r>
              <a:rPr sz="1100">
                <a:solidFill>
                  <a:srgbClr val="F8FAFC"/>
                </a:solidFill>
                <a:latin typeface="Consolas"/>
              </a:rPr>
              <a:t># Verify after:   squad doctor   (silent fallback to local if backend init fails — doctor surfaces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21</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WHERE “SOMEWHERE ELSE” ACTUALLY IS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Two-layer is three storages — same library, different bindings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main is the book. squad-state is the journal. refs/notes/squad are sticky notes on specific pages.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PR #1004 • state-backend.ts: TwoLayerBackend (composes orphan + notes)</a:t>
            </a:r>
          </a:p>
        </p:txBody>
      </p:sp>
      <p:sp>
        <p:nvSpPr>
          <p:cNvPr id="9" name="Rounded Rectangle 8"/>
          <p:cNvSpPr/>
          <p:nvPr/>
        </p:nvSpPr>
        <p:spPr>
          <a:xfrm>
            <a:off x="548640" y="1874519"/>
            <a:ext cx="11094415" cy="11887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64592" cy="1188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57400"/>
            <a:ext cx="640080" cy="502920"/>
          </a:xfrm>
          <a:prstGeom prst="rect">
            <a:avLst/>
          </a:prstGeom>
          <a:noFill/>
        </p:spPr>
        <p:txBody>
          <a:bodyPr wrap="square" lIns="36576" rIns="36576" tIns="18288" bIns="18288" anchor="ctr">
            <a:spAutoFit/>
          </a:bodyPr>
          <a:lstStyle/>
          <a:p>
            <a:r>
              <a:rPr sz="2800" b="1">
                <a:solidFill>
                  <a:srgbClr val="38BDF8"/>
                </a:solidFill>
                <a:latin typeface="Segoe UI"/>
              </a:rPr>
              <a:t>⧈</a:t>
            </a:r>
          </a:p>
        </p:txBody>
      </p:sp>
      <p:sp>
        <p:nvSpPr>
          <p:cNvPr id="12" name="TextBox 11"/>
          <p:cNvSpPr txBox="1"/>
          <p:nvPr/>
        </p:nvSpPr>
        <p:spPr>
          <a:xfrm>
            <a:off x="1554480" y="1965960"/>
            <a:ext cx="3291840" cy="411480"/>
          </a:xfrm>
          <a:prstGeom prst="rect">
            <a:avLst/>
          </a:prstGeom>
          <a:noFill/>
        </p:spPr>
        <p:txBody>
          <a:bodyPr wrap="square" lIns="36576" rIns="36576" tIns="18288" bIns="18288">
            <a:spAutoFit/>
          </a:bodyPr>
          <a:lstStyle/>
          <a:p>
            <a:r>
              <a:rPr sz="2000" b="1">
                <a:solidFill>
                  <a:srgbClr val="F8FAFC"/>
                </a:solidFill>
                <a:latin typeface="Consolas"/>
              </a:rPr>
              <a:t>main</a:t>
            </a:r>
          </a:p>
        </p:txBody>
      </p:sp>
      <p:sp>
        <p:nvSpPr>
          <p:cNvPr id="13" name="TextBox 12"/>
          <p:cNvSpPr txBox="1"/>
          <p:nvPr/>
        </p:nvSpPr>
        <p:spPr>
          <a:xfrm>
            <a:off x="1554480" y="2404872"/>
            <a:ext cx="3291840" cy="274320"/>
          </a:xfrm>
          <a:prstGeom prst="rect">
            <a:avLst/>
          </a:prstGeom>
          <a:noFill/>
        </p:spPr>
        <p:txBody>
          <a:bodyPr wrap="square" lIns="36576" rIns="36576" tIns="18288" bIns="18288">
            <a:spAutoFit/>
          </a:bodyPr>
          <a:lstStyle/>
          <a:p>
            <a:r>
              <a:rPr sz="1000" b="0">
                <a:solidFill>
                  <a:srgbClr val="94A3B8"/>
                </a:solidFill>
                <a:latin typeface="Consolas"/>
              </a:rPr>
              <a:t>refs/heads/main</a:t>
            </a:r>
          </a:p>
        </p:txBody>
      </p:sp>
      <p:sp>
        <p:nvSpPr>
          <p:cNvPr id="14" name="TextBox 13"/>
          <p:cNvSpPr txBox="1"/>
          <p:nvPr/>
        </p:nvSpPr>
        <p:spPr>
          <a:xfrm>
            <a:off x="4983479" y="1965960"/>
            <a:ext cx="4023360" cy="274320"/>
          </a:xfrm>
          <a:prstGeom prst="rect">
            <a:avLst/>
          </a:prstGeom>
          <a:noFill/>
        </p:spPr>
        <p:txBody>
          <a:bodyPr wrap="square" lIns="36576" rIns="36576" tIns="18288" bIns="18288">
            <a:spAutoFit/>
          </a:bodyPr>
          <a:lstStyle/>
          <a:p>
            <a:r>
              <a:rPr sz="900" b="1">
                <a:solidFill>
                  <a:srgbClr val="38BDF8"/>
                </a:solidFill>
                <a:latin typeface="Segoe UI Semibold"/>
              </a:rPr>
              <a:t>WHAT IT IS</a:t>
            </a:r>
          </a:p>
        </p:txBody>
      </p:sp>
      <p:sp>
        <p:nvSpPr>
          <p:cNvPr id="15" name="TextBox 14"/>
          <p:cNvSpPr txBox="1"/>
          <p:nvPr/>
        </p:nvSpPr>
        <p:spPr>
          <a:xfrm>
            <a:off x="4983479" y="2240279"/>
            <a:ext cx="4023360" cy="731520"/>
          </a:xfrm>
          <a:prstGeom prst="rect">
            <a:avLst/>
          </a:prstGeom>
          <a:noFill/>
        </p:spPr>
        <p:txBody>
          <a:bodyPr wrap="square" lIns="36576" rIns="36576" tIns="18288" bIns="18288">
            <a:spAutoFit/>
          </a:bodyPr>
          <a:lstStyle/>
          <a:p>
            <a:r>
              <a:rPr sz="1200" b="0">
                <a:solidFill>
                  <a:srgbClr val="CBD5E1"/>
                </a:solidFill>
                <a:latin typeface="Segoe UI"/>
              </a:rPr>
              <a:t>Your normal branch</a:t>
            </a:r>
          </a:p>
        </p:txBody>
      </p:sp>
      <p:sp>
        <p:nvSpPr>
          <p:cNvPr id="16" name="TextBox 15"/>
          <p:cNvSpPr txBox="1"/>
          <p:nvPr/>
        </p:nvSpPr>
        <p:spPr>
          <a:xfrm>
            <a:off x="9144000" y="1965960"/>
            <a:ext cx="2361895" cy="274320"/>
          </a:xfrm>
          <a:prstGeom prst="rect">
            <a:avLst/>
          </a:prstGeom>
          <a:noFill/>
        </p:spPr>
        <p:txBody>
          <a:bodyPr wrap="square" lIns="36576" rIns="36576" tIns="18288" bIns="18288">
            <a:spAutoFit/>
          </a:bodyPr>
          <a:lstStyle/>
          <a:p>
            <a:r>
              <a:rPr sz="900" b="1">
                <a:solidFill>
                  <a:srgbClr val="38BDF8"/>
                </a:solidFill>
                <a:latin typeface="Segoe UI Semibold"/>
              </a:rPr>
              <a:t>ANALOGY</a:t>
            </a:r>
          </a:p>
        </p:txBody>
      </p:sp>
      <p:sp>
        <p:nvSpPr>
          <p:cNvPr id="17" name="TextBox 16"/>
          <p:cNvSpPr txBox="1"/>
          <p:nvPr/>
        </p:nvSpPr>
        <p:spPr>
          <a:xfrm>
            <a:off x="9144000" y="2240279"/>
            <a:ext cx="2361895" cy="731520"/>
          </a:xfrm>
          <a:prstGeom prst="rect">
            <a:avLst/>
          </a:prstGeom>
          <a:noFill/>
        </p:spPr>
        <p:txBody>
          <a:bodyPr wrap="square" lIns="36576" rIns="36576" tIns="18288" bIns="18288">
            <a:spAutoFit/>
          </a:bodyPr>
          <a:lstStyle/>
          <a:p>
            <a:r>
              <a:rPr sz="1200" b="0">
                <a:solidFill>
                  <a:srgbClr val="F8FAFC"/>
                </a:solidFill>
                <a:latin typeface="Segoe UI"/>
              </a:rPr>
              <a:t>“The published book”</a:t>
            </a:r>
          </a:p>
        </p:txBody>
      </p:sp>
      <p:sp>
        <p:nvSpPr>
          <p:cNvPr id="18" name="Rounded Rectangle 17"/>
          <p:cNvSpPr/>
          <p:nvPr/>
        </p:nvSpPr>
        <p:spPr>
          <a:xfrm>
            <a:off x="548640" y="3227832"/>
            <a:ext cx="11094415" cy="11887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27832"/>
            <a:ext cx="164592" cy="1188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10712"/>
            <a:ext cx="640080" cy="502920"/>
          </a:xfrm>
          <a:prstGeom prst="rect">
            <a:avLst/>
          </a:prstGeom>
          <a:noFill/>
        </p:spPr>
        <p:txBody>
          <a:bodyPr wrap="square" lIns="36576" rIns="36576" tIns="18288" bIns="18288" anchor="ctr">
            <a:spAutoFit/>
          </a:bodyPr>
          <a:lstStyle/>
          <a:p>
            <a:r>
              <a:rPr sz="2800" b="1">
                <a:solidFill>
                  <a:srgbClr val="34D399"/>
                </a:solidFill>
                <a:latin typeface="Segoe UI"/>
              </a:rPr>
              <a:t>✎</a:t>
            </a:r>
          </a:p>
        </p:txBody>
      </p:sp>
      <p:sp>
        <p:nvSpPr>
          <p:cNvPr id="21" name="TextBox 20"/>
          <p:cNvSpPr txBox="1"/>
          <p:nvPr/>
        </p:nvSpPr>
        <p:spPr>
          <a:xfrm>
            <a:off x="1554480" y="3319272"/>
            <a:ext cx="3291840" cy="411480"/>
          </a:xfrm>
          <a:prstGeom prst="rect">
            <a:avLst/>
          </a:prstGeom>
          <a:noFill/>
        </p:spPr>
        <p:txBody>
          <a:bodyPr wrap="square" lIns="36576" rIns="36576" tIns="18288" bIns="18288">
            <a:spAutoFit/>
          </a:bodyPr>
          <a:lstStyle/>
          <a:p>
            <a:r>
              <a:rPr sz="2000" b="1">
                <a:solidFill>
                  <a:srgbClr val="F8FAFC"/>
                </a:solidFill>
                <a:latin typeface="Consolas"/>
              </a:rPr>
              <a:t>squad-state</a:t>
            </a:r>
          </a:p>
        </p:txBody>
      </p:sp>
      <p:sp>
        <p:nvSpPr>
          <p:cNvPr id="22" name="TextBox 21"/>
          <p:cNvSpPr txBox="1"/>
          <p:nvPr/>
        </p:nvSpPr>
        <p:spPr>
          <a:xfrm>
            <a:off x="1554480" y="3758183"/>
            <a:ext cx="3291840" cy="274320"/>
          </a:xfrm>
          <a:prstGeom prst="rect">
            <a:avLst/>
          </a:prstGeom>
          <a:noFill/>
        </p:spPr>
        <p:txBody>
          <a:bodyPr wrap="square" lIns="36576" rIns="36576" tIns="18288" bIns="18288">
            <a:spAutoFit/>
          </a:bodyPr>
          <a:lstStyle/>
          <a:p>
            <a:r>
              <a:rPr sz="1000" b="0">
                <a:solidFill>
                  <a:srgbClr val="94A3B8"/>
                </a:solidFill>
                <a:latin typeface="Consolas"/>
              </a:rPr>
              <a:t>refs/heads/squad-state (orphan)</a:t>
            </a:r>
          </a:p>
        </p:txBody>
      </p:sp>
      <p:sp>
        <p:nvSpPr>
          <p:cNvPr id="23" name="TextBox 22"/>
          <p:cNvSpPr txBox="1"/>
          <p:nvPr/>
        </p:nvSpPr>
        <p:spPr>
          <a:xfrm>
            <a:off x="4983479" y="3319272"/>
            <a:ext cx="4023360" cy="274320"/>
          </a:xfrm>
          <a:prstGeom prst="rect">
            <a:avLst/>
          </a:prstGeom>
          <a:noFill/>
        </p:spPr>
        <p:txBody>
          <a:bodyPr wrap="square" lIns="36576" rIns="36576" tIns="18288" bIns="18288">
            <a:spAutoFit/>
          </a:bodyPr>
          <a:lstStyle/>
          <a:p>
            <a:r>
              <a:rPr sz="900" b="1">
                <a:solidFill>
                  <a:srgbClr val="34D399"/>
                </a:solidFill>
                <a:latin typeface="Segoe UI Semibold"/>
              </a:rPr>
              <a:t>WHAT IT IS</a:t>
            </a:r>
          </a:p>
        </p:txBody>
      </p:sp>
      <p:sp>
        <p:nvSpPr>
          <p:cNvPr id="24" name="TextBox 23"/>
          <p:cNvSpPr txBox="1"/>
          <p:nvPr/>
        </p:nvSpPr>
        <p:spPr>
          <a:xfrm>
            <a:off x="4983479" y="3593591"/>
            <a:ext cx="4023360" cy="731520"/>
          </a:xfrm>
          <a:prstGeom prst="rect">
            <a:avLst/>
          </a:prstGeom>
          <a:noFill/>
        </p:spPr>
        <p:txBody>
          <a:bodyPr wrap="square" lIns="36576" rIns="36576" tIns="18288" bIns="18288">
            <a:spAutoFit/>
          </a:bodyPr>
          <a:lstStyle/>
          <a:p>
            <a:r>
              <a:rPr sz="1200" b="0">
                <a:solidFill>
                  <a:srgbClr val="CBD5E1"/>
                </a:solidFill>
                <a:latin typeface="Segoe UI"/>
              </a:rPr>
              <a:t>A second branch with no shared history — you can't merge it. A parallel filesystem hiding in the same .git folder.</a:t>
            </a:r>
          </a:p>
        </p:txBody>
      </p:sp>
      <p:sp>
        <p:nvSpPr>
          <p:cNvPr id="25" name="TextBox 24"/>
          <p:cNvSpPr txBox="1"/>
          <p:nvPr/>
        </p:nvSpPr>
        <p:spPr>
          <a:xfrm>
            <a:off x="9144000" y="3319272"/>
            <a:ext cx="2361895" cy="274320"/>
          </a:xfrm>
          <a:prstGeom prst="rect">
            <a:avLst/>
          </a:prstGeom>
          <a:noFill/>
        </p:spPr>
        <p:txBody>
          <a:bodyPr wrap="square" lIns="36576" rIns="36576" tIns="18288" bIns="18288">
            <a:spAutoFit/>
          </a:bodyPr>
          <a:lstStyle/>
          <a:p>
            <a:r>
              <a:rPr sz="900" b="1">
                <a:solidFill>
                  <a:srgbClr val="34D399"/>
                </a:solidFill>
                <a:latin typeface="Segoe UI Semibold"/>
              </a:rPr>
              <a:t>ANALOGY</a:t>
            </a:r>
          </a:p>
        </p:txBody>
      </p:sp>
      <p:sp>
        <p:nvSpPr>
          <p:cNvPr id="26" name="TextBox 25"/>
          <p:cNvSpPr txBox="1"/>
          <p:nvPr/>
        </p:nvSpPr>
        <p:spPr>
          <a:xfrm>
            <a:off x="9144000" y="3593591"/>
            <a:ext cx="2361895" cy="731520"/>
          </a:xfrm>
          <a:prstGeom prst="rect">
            <a:avLst/>
          </a:prstGeom>
          <a:noFill/>
        </p:spPr>
        <p:txBody>
          <a:bodyPr wrap="square" lIns="36576" rIns="36576" tIns="18288" bIns="18288">
            <a:spAutoFit/>
          </a:bodyPr>
          <a:lstStyle/>
          <a:p>
            <a:r>
              <a:rPr sz="1200" b="0">
                <a:solidFill>
                  <a:srgbClr val="F8FAFC"/>
                </a:solidFill>
                <a:latin typeface="Segoe UI"/>
              </a:rPr>
              <a:t>“A separate author’s journal — same library, never bound into the book”</a:t>
            </a:r>
          </a:p>
        </p:txBody>
      </p:sp>
      <p:sp>
        <p:nvSpPr>
          <p:cNvPr id="27" name="Rounded Rectangle 26"/>
          <p:cNvSpPr/>
          <p:nvPr/>
        </p:nvSpPr>
        <p:spPr>
          <a:xfrm>
            <a:off x="548640" y="4581144"/>
            <a:ext cx="11094415" cy="11887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581144"/>
            <a:ext cx="164592" cy="11887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764024"/>
            <a:ext cx="640080" cy="502920"/>
          </a:xfrm>
          <a:prstGeom prst="rect">
            <a:avLst/>
          </a:prstGeom>
          <a:noFill/>
        </p:spPr>
        <p:txBody>
          <a:bodyPr wrap="square" lIns="36576" rIns="36576" tIns="18288" bIns="18288" anchor="ctr">
            <a:spAutoFit/>
          </a:bodyPr>
          <a:lstStyle/>
          <a:p>
            <a:r>
              <a:rPr sz="2800" b="1">
                <a:solidFill>
                  <a:srgbClr val="FBBF24"/>
                </a:solidFill>
                <a:latin typeface="Segoe UI"/>
              </a:rPr>
              <a:t>⧚</a:t>
            </a:r>
          </a:p>
        </p:txBody>
      </p:sp>
      <p:sp>
        <p:nvSpPr>
          <p:cNvPr id="30" name="TextBox 29"/>
          <p:cNvSpPr txBox="1"/>
          <p:nvPr/>
        </p:nvSpPr>
        <p:spPr>
          <a:xfrm>
            <a:off x="1554480" y="4672583"/>
            <a:ext cx="3291840" cy="411480"/>
          </a:xfrm>
          <a:prstGeom prst="rect">
            <a:avLst/>
          </a:prstGeom>
          <a:noFill/>
        </p:spPr>
        <p:txBody>
          <a:bodyPr wrap="square" lIns="36576" rIns="36576" tIns="18288" bIns="18288">
            <a:spAutoFit/>
          </a:bodyPr>
          <a:lstStyle/>
          <a:p>
            <a:r>
              <a:rPr sz="2000" b="1">
                <a:solidFill>
                  <a:srgbClr val="F8FAFC"/>
                </a:solidFill>
                <a:latin typeface="Consolas"/>
              </a:rPr>
              <a:t>refs/notes/squad</a:t>
            </a:r>
          </a:p>
        </p:txBody>
      </p:sp>
      <p:sp>
        <p:nvSpPr>
          <p:cNvPr id="31" name="TextBox 30"/>
          <p:cNvSpPr txBox="1"/>
          <p:nvPr/>
        </p:nvSpPr>
        <p:spPr>
          <a:xfrm>
            <a:off x="1554480" y="5111496"/>
            <a:ext cx="3291840" cy="274320"/>
          </a:xfrm>
          <a:prstGeom prst="rect">
            <a:avLst/>
          </a:prstGeom>
          <a:noFill/>
        </p:spPr>
        <p:txBody>
          <a:bodyPr wrap="square" lIns="36576" rIns="36576" tIns="18288" bIns="18288">
            <a:spAutoFit/>
          </a:bodyPr>
          <a:lstStyle/>
          <a:p>
            <a:r>
              <a:rPr sz="1000" b="0">
                <a:solidFill>
                  <a:srgbClr val="94A3B8"/>
                </a:solidFill>
                <a:latin typeface="Consolas"/>
              </a:rPr>
              <a:t>refs/notes/squad</a:t>
            </a:r>
          </a:p>
        </p:txBody>
      </p:sp>
      <p:sp>
        <p:nvSpPr>
          <p:cNvPr id="32" name="TextBox 31"/>
          <p:cNvSpPr txBox="1"/>
          <p:nvPr/>
        </p:nvSpPr>
        <p:spPr>
          <a:xfrm>
            <a:off x="4983479" y="4672583"/>
            <a:ext cx="4023360" cy="274320"/>
          </a:xfrm>
          <a:prstGeom prst="rect">
            <a:avLst/>
          </a:prstGeom>
          <a:noFill/>
        </p:spPr>
        <p:txBody>
          <a:bodyPr wrap="square" lIns="36576" rIns="36576" tIns="18288" bIns="18288">
            <a:spAutoFit/>
          </a:bodyPr>
          <a:lstStyle/>
          <a:p>
            <a:r>
              <a:rPr sz="900" b="1">
                <a:solidFill>
                  <a:srgbClr val="FBBF24"/>
                </a:solidFill>
                <a:latin typeface="Segoe UI Semibold"/>
              </a:rPr>
              <a:t>WHAT IT IS</a:t>
            </a:r>
          </a:p>
        </p:txBody>
      </p:sp>
      <p:sp>
        <p:nvSpPr>
          <p:cNvPr id="33" name="TextBox 32"/>
          <p:cNvSpPr txBox="1"/>
          <p:nvPr/>
        </p:nvSpPr>
        <p:spPr>
          <a:xfrm>
            <a:off x="4983479" y="4946904"/>
            <a:ext cx="4023360" cy="731520"/>
          </a:xfrm>
          <a:prstGeom prst="rect">
            <a:avLst/>
          </a:prstGeom>
          <a:noFill/>
        </p:spPr>
        <p:txBody>
          <a:bodyPr wrap="square" lIns="36576" rIns="36576" tIns="18288" bIns="18288">
            <a:spAutoFit/>
          </a:bodyPr>
          <a:lstStyle/>
          <a:p>
            <a:r>
              <a:rPr sz="1200" b="0">
                <a:solidFill>
                  <a:srgbClr val="CBD5E1"/>
                </a:solidFill>
                <a:latin typeface="Segoe UI"/>
              </a:rPr>
              <a:t>Tiny attachments stuck onto specific commits. They don't appear in git log by default.</a:t>
            </a:r>
          </a:p>
        </p:txBody>
      </p:sp>
      <p:sp>
        <p:nvSpPr>
          <p:cNvPr id="34" name="TextBox 33"/>
          <p:cNvSpPr txBox="1"/>
          <p:nvPr/>
        </p:nvSpPr>
        <p:spPr>
          <a:xfrm>
            <a:off x="9144000" y="4672583"/>
            <a:ext cx="2361895" cy="274320"/>
          </a:xfrm>
          <a:prstGeom prst="rect">
            <a:avLst/>
          </a:prstGeom>
          <a:noFill/>
        </p:spPr>
        <p:txBody>
          <a:bodyPr wrap="square" lIns="36576" rIns="36576" tIns="18288" bIns="18288">
            <a:spAutoFit/>
          </a:bodyPr>
          <a:lstStyle/>
          <a:p>
            <a:r>
              <a:rPr sz="900" b="1">
                <a:solidFill>
                  <a:srgbClr val="FBBF24"/>
                </a:solidFill>
                <a:latin typeface="Segoe UI Semibold"/>
              </a:rPr>
              <a:t>ANALOGY</a:t>
            </a:r>
          </a:p>
        </p:txBody>
      </p:sp>
      <p:sp>
        <p:nvSpPr>
          <p:cNvPr id="35" name="TextBox 34"/>
          <p:cNvSpPr txBox="1"/>
          <p:nvPr/>
        </p:nvSpPr>
        <p:spPr>
          <a:xfrm>
            <a:off x="9144000" y="4946904"/>
            <a:ext cx="2361895" cy="731520"/>
          </a:xfrm>
          <a:prstGeom prst="rect">
            <a:avLst/>
          </a:prstGeom>
          <a:noFill/>
        </p:spPr>
        <p:txBody>
          <a:bodyPr wrap="square" lIns="36576" rIns="36576" tIns="18288" bIns="18288">
            <a:spAutoFit/>
          </a:bodyPr>
          <a:lstStyle/>
          <a:p>
            <a:r>
              <a:rPr sz="1200" b="0">
                <a:solidFill>
                  <a:srgbClr val="F8FAFC"/>
                </a:solidFill>
                <a:latin typeface="Segoe UI"/>
              </a:rPr>
              <a:t>“Sticky notes peeled onto specific pages of the book”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STEP BY STEP</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How two-layer activates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One config line. Real git plumbing under the hood.</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packages/squad-sdk/src/state-backend.ts:1089-1186</a:t>
            </a:r>
          </a:p>
        </p:txBody>
      </p:sp>
      <p:sp>
        <p:nvSpPr>
          <p:cNvPr id="9" name="Rounded Rectangle 8"/>
          <p:cNvSpPr/>
          <p:nvPr/>
        </p:nvSpPr>
        <p:spPr>
          <a:xfrm>
            <a:off x="548640" y="1874519"/>
            <a:ext cx="1999427" cy="54864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19"/>
            <a:ext cx="1907987" cy="5486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.squad/config.json</a:t>
            </a:r>
          </a:p>
        </p:txBody>
      </p:sp>
      <p:sp>
        <p:nvSpPr>
          <p:cNvPr id="11" name="TextBox 10"/>
          <p:cNvSpPr txBox="1"/>
          <p:nvPr/>
        </p:nvSpPr>
        <p:spPr>
          <a:xfrm>
            <a:off x="2548067" y="1874519"/>
            <a:ext cx="274320" cy="548640"/>
          </a:xfrm>
          <a:prstGeom prst="rect">
            <a:avLst/>
          </a:prstGeom>
          <a:noFill/>
        </p:spPr>
        <p:txBody>
          <a:bodyPr wrap="square" lIns="36576" rIns="36576" tIns="18288" bIns="18288" anchor="ctr">
            <a:spAutoFit/>
          </a:bodyPr>
          <a:lstStyle/>
          <a:p>
            <a:pPr algn="ctr"/>
            <a:r>
              <a:rPr sz="2200" b="1">
                <a:solidFill>
                  <a:srgbClr val="A78BFA"/>
                </a:solidFill>
                <a:latin typeface="Segoe UI"/>
              </a:rPr>
              <a:t>→</a:t>
            </a:r>
          </a:p>
        </p:txBody>
      </p:sp>
      <p:sp>
        <p:nvSpPr>
          <p:cNvPr id="12" name="Rounded Rectangle 11"/>
          <p:cNvSpPr/>
          <p:nvPr/>
        </p:nvSpPr>
        <p:spPr>
          <a:xfrm>
            <a:off x="2822387" y="1874519"/>
            <a:ext cx="1999427" cy="54864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68107" y="1874519"/>
            <a:ext cx="1907987" cy="5486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resolveStateBackend()</a:t>
            </a:r>
          </a:p>
        </p:txBody>
      </p:sp>
      <p:sp>
        <p:nvSpPr>
          <p:cNvPr id="14" name="TextBox 13"/>
          <p:cNvSpPr txBox="1"/>
          <p:nvPr/>
        </p:nvSpPr>
        <p:spPr>
          <a:xfrm>
            <a:off x="4821814" y="1874519"/>
            <a:ext cx="274320" cy="548640"/>
          </a:xfrm>
          <a:prstGeom prst="rect">
            <a:avLst/>
          </a:prstGeom>
          <a:noFill/>
        </p:spPr>
        <p:txBody>
          <a:bodyPr wrap="square" lIns="36576" rIns="36576" tIns="18288" bIns="18288" anchor="ctr">
            <a:spAutoFit/>
          </a:bodyPr>
          <a:lstStyle/>
          <a:p>
            <a:pPr algn="ctr"/>
            <a:r>
              <a:rPr sz="2200" b="1">
                <a:solidFill>
                  <a:srgbClr val="A78BFA"/>
                </a:solidFill>
                <a:latin typeface="Segoe UI"/>
              </a:rPr>
              <a:t>→</a:t>
            </a:r>
          </a:p>
        </p:txBody>
      </p:sp>
      <p:sp>
        <p:nvSpPr>
          <p:cNvPr id="15" name="Rounded Rectangle 14"/>
          <p:cNvSpPr/>
          <p:nvPr/>
        </p:nvSpPr>
        <p:spPr>
          <a:xfrm>
            <a:off x="5096134" y="1874519"/>
            <a:ext cx="1999427" cy="54864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41854" y="1874519"/>
            <a:ext cx="1907987" cy="5486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require git repo</a:t>
            </a:r>
          </a:p>
        </p:txBody>
      </p:sp>
      <p:sp>
        <p:nvSpPr>
          <p:cNvPr id="17" name="TextBox 16"/>
          <p:cNvSpPr txBox="1"/>
          <p:nvPr/>
        </p:nvSpPr>
        <p:spPr>
          <a:xfrm>
            <a:off x="7095561" y="1874519"/>
            <a:ext cx="274320" cy="548640"/>
          </a:xfrm>
          <a:prstGeom prst="rect">
            <a:avLst/>
          </a:prstGeom>
          <a:noFill/>
        </p:spPr>
        <p:txBody>
          <a:bodyPr wrap="square" lIns="36576" rIns="36576" tIns="18288" bIns="18288" anchor="ctr">
            <a:spAutoFit/>
          </a:bodyPr>
          <a:lstStyle/>
          <a:p>
            <a:pPr algn="ctr"/>
            <a:r>
              <a:rPr sz="2200" b="1">
                <a:solidFill>
                  <a:srgbClr val="A78BFA"/>
                </a:solidFill>
                <a:latin typeface="Segoe UI"/>
              </a:rPr>
              <a:t>→</a:t>
            </a:r>
          </a:p>
        </p:txBody>
      </p:sp>
      <p:sp>
        <p:nvSpPr>
          <p:cNvPr id="18" name="Rounded Rectangle 17"/>
          <p:cNvSpPr/>
          <p:nvPr/>
        </p:nvSpPr>
        <p:spPr>
          <a:xfrm>
            <a:off x="7369881" y="1874519"/>
            <a:ext cx="1999427" cy="54864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601" y="1874519"/>
            <a:ext cx="1907987" cy="5486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TwoLayerBackend</a:t>
            </a:r>
          </a:p>
        </p:txBody>
      </p:sp>
      <p:sp>
        <p:nvSpPr>
          <p:cNvPr id="20" name="TextBox 19"/>
          <p:cNvSpPr txBox="1"/>
          <p:nvPr/>
        </p:nvSpPr>
        <p:spPr>
          <a:xfrm>
            <a:off x="9369308" y="1874519"/>
            <a:ext cx="274320" cy="548640"/>
          </a:xfrm>
          <a:prstGeom prst="rect">
            <a:avLst/>
          </a:prstGeom>
          <a:noFill/>
        </p:spPr>
        <p:txBody>
          <a:bodyPr wrap="square" lIns="36576" rIns="36576" tIns="18288" bIns="18288" anchor="ctr">
            <a:spAutoFit/>
          </a:bodyPr>
          <a:lstStyle/>
          <a:p>
            <a:pPr algn="ctr"/>
            <a:r>
              <a:rPr sz="2200" b="1">
                <a:solidFill>
                  <a:srgbClr val="A78BFA"/>
                </a:solidFill>
                <a:latin typeface="Segoe UI"/>
              </a:rPr>
              <a:t>→</a:t>
            </a:r>
          </a:p>
        </p:txBody>
      </p:sp>
      <p:sp>
        <p:nvSpPr>
          <p:cNvPr id="21" name="Rounded Rectangle 20"/>
          <p:cNvSpPr/>
          <p:nvPr/>
        </p:nvSpPr>
        <p:spPr>
          <a:xfrm>
            <a:off x="9643628" y="1874519"/>
            <a:ext cx="1999427" cy="54864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89348" y="1874519"/>
            <a:ext cx="1907987" cy="5486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orphan + notes</a:t>
            </a:r>
          </a:p>
        </p:txBody>
      </p:sp>
      <p:sp>
        <p:nvSpPr>
          <p:cNvPr id="23" name="Rounded Rectangle 22"/>
          <p:cNvSpPr/>
          <p:nvPr/>
        </p:nvSpPr>
        <p:spPr>
          <a:xfrm>
            <a:off x="548640" y="2743200"/>
            <a:ext cx="5486400" cy="21945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5486400" cy="4572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2788920"/>
            <a:ext cx="5212080" cy="228600"/>
          </a:xfrm>
          <a:prstGeom prst="rect">
            <a:avLst/>
          </a:prstGeom>
          <a:noFill/>
        </p:spPr>
        <p:txBody>
          <a:bodyPr wrap="square" lIns="36576" rIns="36576" tIns="18288" bIns="18288">
            <a:spAutoFit/>
          </a:bodyPr>
          <a:lstStyle/>
          <a:p>
            <a:r>
              <a:rPr sz="1000" b="1">
                <a:solidFill>
                  <a:srgbClr val="A78BFA"/>
                </a:solidFill>
                <a:latin typeface="Segoe UI Semibold"/>
              </a:rPr>
              <a:t>one config line</a:t>
            </a:r>
          </a:p>
        </p:txBody>
      </p:sp>
      <p:sp>
        <p:nvSpPr>
          <p:cNvPr id="26" name="TextBox 25"/>
          <p:cNvSpPr txBox="1"/>
          <p:nvPr/>
        </p:nvSpPr>
        <p:spPr>
          <a:xfrm>
            <a:off x="713232" y="3035808"/>
            <a:ext cx="5212080" cy="1847088"/>
          </a:xfrm>
          <a:prstGeom prst="rect">
            <a:avLst/>
          </a:prstGeom>
          <a:noFill/>
        </p:spPr>
        <p:txBody>
          <a:bodyPr wrap="square" lIns="36576" rIns="36576">
            <a:spAutoFit/>
          </a:bodyPr>
          <a:lstStyle/>
          <a:p>
            <a:pPr>
              <a:spcAft>
                <a:spcPts val="100"/>
              </a:spcAft>
            </a:pPr>
            <a:r>
              <a:rPr sz="1100">
                <a:solidFill>
                  <a:srgbClr val="94A3B8"/>
                </a:solidFill>
                <a:latin typeface="Consolas"/>
              </a:rPr>
              <a:t>// .squad/config.json</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"version": 1,</a:t>
            </a:r>
          </a:p>
          <a:p>
            <a:pPr>
              <a:spcAft>
                <a:spcPts val="100"/>
              </a:spcAft>
            </a:pPr>
            <a:r>
              <a:rPr sz="1100">
                <a:solidFill>
                  <a:srgbClr val="CBD5E1"/>
                </a:solidFill>
                <a:latin typeface="Consolas"/>
              </a:rPr>
              <a:t>  "stateBackend": "two-layer"</a:t>
            </a:r>
          </a:p>
          <a:p>
            <a:pPr>
              <a:spcAft>
                <a:spcPts val="100"/>
              </a:spcAft>
            </a:pPr>
            <a:r>
              <a:rPr sz="1100">
                <a:solidFill>
                  <a:srgbClr val="CBD5E1"/>
                </a:solidFill>
                <a:latin typeface="Consolas"/>
              </a:rPr>
              <a:t>}</a:t>
            </a:r>
          </a:p>
        </p:txBody>
      </p:sp>
      <p:sp>
        <p:nvSpPr>
          <p:cNvPr id="27" name="Rounded Rectangle 26"/>
          <p:cNvSpPr/>
          <p:nvPr/>
        </p:nvSpPr>
        <p:spPr>
          <a:xfrm>
            <a:off x="6217920" y="2743200"/>
            <a:ext cx="5394960" cy="21945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2743200"/>
            <a:ext cx="53949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290779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30" name="TextBox 29"/>
          <p:cNvSpPr txBox="1"/>
          <p:nvPr/>
        </p:nvSpPr>
        <p:spPr>
          <a:xfrm>
            <a:off x="6903720" y="2907792"/>
            <a:ext cx="4617720" cy="411480"/>
          </a:xfrm>
          <a:prstGeom prst="rect">
            <a:avLst/>
          </a:prstGeom>
          <a:noFill/>
        </p:spPr>
        <p:txBody>
          <a:bodyPr wrap="square" lIns="36576" rIns="36576" tIns="18288" bIns="18288" anchor="ctr">
            <a:spAutoFit/>
          </a:bodyPr>
          <a:lstStyle/>
          <a:p>
            <a:r>
              <a:rPr sz="1500" b="1">
                <a:solidFill>
                  <a:srgbClr val="F8FAFC"/>
                </a:solidFill>
                <a:latin typeface="Segoe UI"/>
              </a:rPr>
              <a:t>Activation behavior</a:t>
            </a:r>
          </a:p>
        </p:txBody>
      </p:sp>
      <p:sp>
        <p:nvSpPr>
          <p:cNvPr id="31" name="TextBox 30"/>
          <p:cNvSpPr txBox="1"/>
          <p:nvPr/>
        </p:nvSpPr>
        <p:spPr>
          <a:xfrm>
            <a:off x="6382512" y="3429000"/>
            <a:ext cx="5120640" cy="1417319"/>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Composes GitNotesBackend + OrphanBranchBackend</a:t>
            </a:r>
          </a:p>
          <a:p>
            <a:pPr>
              <a:spcAft>
                <a:spcPts val="300"/>
              </a:spcAft>
            </a:pPr>
            <a:r>
              <a:rPr sz="1200" b="1">
                <a:solidFill>
                  <a:srgbClr val="A78BFA"/>
                </a:solidFill>
                <a:latin typeface="Segoe UI"/>
              </a:rPr>
              <a:t>•  </a:t>
            </a:r>
            <a:r>
              <a:rPr sz="1200">
                <a:solidFill>
                  <a:srgbClr val="CBD5E1"/>
                </a:solidFill>
                <a:latin typeface="Segoe UI"/>
              </a:rPr>
              <a:t>Reads come from orphan branch</a:t>
            </a:r>
          </a:p>
          <a:p>
            <a:pPr>
              <a:spcAft>
                <a:spcPts val="300"/>
              </a:spcAft>
            </a:pPr>
            <a:r>
              <a:rPr sz="1200" b="1">
                <a:solidFill>
                  <a:srgbClr val="A78BFA"/>
                </a:solidFill>
                <a:latin typeface="Segoe UI"/>
              </a:rPr>
              <a:t>•  </a:t>
            </a:r>
            <a:r>
              <a:rPr sz="1200">
                <a:solidFill>
                  <a:srgbClr val="CBD5E1"/>
                </a:solidFill>
                <a:latin typeface="Segoe UI"/>
              </a:rPr>
              <a:t>Writes hit orphan + best-effort git note</a:t>
            </a:r>
          </a:p>
          <a:p>
            <a:pPr>
              <a:spcAft>
                <a:spcPts val="300"/>
              </a:spcAft>
            </a:pPr>
            <a:r>
              <a:rPr sz="1200" b="1">
                <a:solidFill>
                  <a:srgbClr val="A78BFA"/>
                </a:solidFill>
                <a:latin typeface="Segoe UI"/>
              </a:rPr>
              <a:t>•  </a:t>
            </a:r>
            <a:r>
              <a:rPr sz="1200">
                <a:solidFill>
                  <a:srgbClr val="CBD5E1"/>
                </a:solidFill>
                <a:latin typeface="Segoe UI"/>
              </a:rPr>
              <a:t>Backend init failure → warn and fall back local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97316"/>
          </a:solidFill>
          <a:ln w="9525">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97316"/>
                </a:solidFill>
                <a:latin typeface="Segoe UI Semibold"/>
              </a:rPr>
              <a:t>⚡ LIVE — RUN NOW</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One command to switch this repo to two-layer</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Real migration, real hooks, real state branch — not a slide aspiration. (Run live during the talk.)</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squad upgrade --state-backend two-layer  •  packages/squad-cli/src/cli-entry.ts</a:t>
            </a:r>
          </a:p>
        </p:txBody>
      </p:sp>
      <p:sp>
        <p:nvSpPr>
          <p:cNvPr id="9" name="Rounded Rectangle 8"/>
          <p:cNvSpPr/>
          <p:nvPr/>
        </p:nvSpPr>
        <p:spPr>
          <a:xfrm>
            <a:off x="548640" y="1874519"/>
            <a:ext cx="11094415" cy="36576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1094415" cy="45720"/>
          </a:xfrm>
          <a:prstGeom prst="rect">
            <a:avLst/>
          </a:prstGeom>
          <a:solidFill>
            <a:srgbClr val="F97316"/>
          </a:solidFill>
          <a:ln w="9525">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10820095" cy="228600"/>
          </a:xfrm>
          <a:prstGeom prst="rect">
            <a:avLst/>
          </a:prstGeom>
          <a:noFill/>
        </p:spPr>
        <p:txBody>
          <a:bodyPr wrap="square" lIns="36576" rIns="36576" tIns="18288" bIns="18288">
            <a:spAutoFit/>
          </a:bodyPr>
          <a:lstStyle/>
          <a:p>
            <a:r>
              <a:rPr sz="1000" b="1">
                <a:solidFill>
                  <a:srgbClr val="F97316"/>
                </a:solidFill>
                <a:latin typeface="Segoe UI Semibold"/>
              </a:rPr>
              <a:t>ran on this deck's worktree, today</a:t>
            </a:r>
          </a:p>
        </p:txBody>
      </p:sp>
      <p:sp>
        <p:nvSpPr>
          <p:cNvPr id="12" name="TextBox 11"/>
          <p:cNvSpPr txBox="1"/>
          <p:nvPr/>
        </p:nvSpPr>
        <p:spPr>
          <a:xfrm>
            <a:off x="713232" y="2167127"/>
            <a:ext cx="10820095" cy="3310128"/>
          </a:xfrm>
          <a:prstGeom prst="rect">
            <a:avLst/>
          </a:prstGeom>
          <a:noFill/>
        </p:spPr>
        <p:txBody>
          <a:bodyPr wrap="square" lIns="36576" rIns="36576">
            <a:spAutoFit/>
          </a:bodyPr>
          <a:lstStyle/>
          <a:p>
            <a:pPr>
              <a:spcAft>
                <a:spcPts val="100"/>
              </a:spcAft>
            </a:pPr>
            <a:r>
              <a:rPr sz="1100">
                <a:solidFill>
                  <a:srgbClr val="F8FAFC"/>
                </a:solidFill>
                <a:latin typeface="Consolas"/>
              </a:rPr>
              <a:t>$ squad upgrade --state-backend two-layer</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Migrating state backend: local → two-layer</a:t>
            </a:r>
          </a:p>
          <a:p>
            <a:pPr>
              <a:spcAft>
                <a:spcPts val="100"/>
              </a:spcAft>
            </a:pPr>
            <a:r>
              <a:rPr sz="1100">
                <a:solidFill>
                  <a:srgbClr val="CBD5E1"/>
                </a:solidFill>
                <a:latin typeface="Consolas"/>
              </a:rPr>
              <a:t>  ✓ squad-state branch ready</a:t>
            </a:r>
          </a:p>
          <a:p>
            <a:pPr>
              <a:spcAft>
                <a:spcPts val="100"/>
              </a:spcAft>
            </a:pPr>
            <a:r>
              <a:rPr sz="1100">
                <a:solidFill>
                  <a:srgbClr val="CBD5E1"/>
                </a:solidFill>
                <a:latin typeface="Consolas"/>
              </a:rPr>
              <a:t>  ✓ migrated 18 state file(s) onto squad-state branch:</a:t>
            </a:r>
          </a:p>
          <a:p>
            <a:pPr>
              <a:spcAft>
                <a:spcPts val="100"/>
              </a:spcAft>
            </a:pPr>
            <a:r>
              <a:rPr sz="1100">
                <a:solidFill>
                  <a:srgbClr val="CBD5E1"/>
                </a:solidFill>
                <a:latin typeface="Consolas"/>
              </a:rPr>
              <a:t>      .squad/decisions.md</a:t>
            </a:r>
          </a:p>
          <a:p>
            <a:pPr>
              <a:spcAft>
                <a:spcPts val="100"/>
              </a:spcAft>
            </a:pPr>
            <a:r>
              <a:rPr sz="1100">
                <a:solidFill>
                  <a:srgbClr val="CBD5E1"/>
                </a:solidFill>
                <a:latin typeface="Consolas"/>
              </a:rPr>
              <a:t>      .squad/agents/{18 agents}/history.md</a:t>
            </a:r>
          </a:p>
          <a:p>
            <a:pPr>
              <a:spcAft>
                <a:spcPts val="100"/>
              </a:spcAft>
            </a:pPr>
            <a:r>
              <a:rPr sz="1100">
                <a:solidFill>
                  <a:srgbClr val="CBD5E1"/>
                </a:solidFill>
                <a:latin typeface="Consolas"/>
              </a:rPr>
              <a:t>  ✓ removed 18 stale working-tree file(s)</a:t>
            </a:r>
          </a:p>
          <a:p>
            <a:pPr>
              <a:spcAft>
                <a:spcPts val="100"/>
              </a:spcAft>
            </a:pPr>
            <a:r>
              <a:rPr sz="1100">
                <a:solidFill>
                  <a:srgbClr val="CBD5E1"/>
                </a:solidFill>
                <a:latin typeface="Consolas"/>
              </a:rPr>
              <a:t>  ✓ config.json updated: stateBackend = two-layer</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Installing squad sync hooks</a:t>
            </a:r>
          </a:p>
          <a:p>
            <a:pPr>
              <a:spcAft>
                <a:spcPts val="100"/>
              </a:spcAft>
            </a:pPr>
            <a:r>
              <a:rPr sz="1100">
                <a:solidFill>
                  <a:srgbClr val="CBD5E1"/>
                </a:solidFill>
                <a:latin typeface="Consolas"/>
              </a:rPr>
              <a:t>  ✓ pre-push, post-merge, post-rewrite, post-checkout, pre-commit, post-commit</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Migration complete. Backend is now 'two-layer'.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97316"/>
          </a:solidFill>
          <a:ln w="9525">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24</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97316"/>
                </a:solidFill>
                <a:latin typeface="Segoe UI Semibold"/>
              </a:rPr>
              <a:t>⚡ LIVE — RUN NOW</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deck's own state is on the orphan branch</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Run these commands during the talk — they all return real content.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run `cat .squad/config.json` and `git ls-tree --name-only -r squad-state` live during the talk</a:t>
            </a:r>
          </a:p>
        </p:txBody>
      </p:sp>
      <p:sp>
        <p:nvSpPr>
          <p:cNvPr id="9" name="Rounded Rectangle 8"/>
          <p:cNvSpPr/>
          <p:nvPr/>
        </p:nvSpPr>
        <p:spPr>
          <a:xfrm>
            <a:off x="548640" y="1874519"/>
            <a:ext cx="5943600"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34D399"/>
                </a:solidFill>
                <a:latin typeface="Segoe UI Semibold"/>
              </a:rPr>
              <a:t>left this worktree clean</a:t>
            </a:r>
          </a:p>
        </p:txBody>
      </p:sp>
      <p:sp>
        <p:nvSpPr>
          <p:cNvPr id="12" name="TextBox 11"/>
          <p:cNvSpPr txBox="1"/>
          <p:nvPr/>
        </p:nvSpPr>
        <p:spPr>
          <a:xfrm>
            <a:off x="713232" y="2167127"/>
            <a:ext cx="5669280" cy="3493008"/>
          </a:xfrm>
          <a:prstGeom prst="rect">
            <a:avLst/>
          </a:prstGeom>
          <a:noFill/>
        </p:spPr>
        <p:txBody>
          <a:bodyPr wrap="square" lIns="36576" rIns="36576">
            <a:spAutoFit/>
          </a:bodyPr>
          <a:lstStyle/>
          <a:p>
            <a:pPr>
              <a:spcAft>
                <a:spcPts val="100"/>
              </a:spcAft>
            </a:pPr>
            <a:r>
              <a:rPr sz="1100">
                <a:solidFill>
                  <a:srgbClr val="F8FAFC"/>
                </a:solidFill>
                <a:latin typeface="Consolas"/>
              </a:rPr>
              <a:t>$ cat .squad/config.json</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"version": 1,</a:t>
            </a:r>
          </a:p>
          <a:p>
            <a:pPr>
              <a:spcAft>
                <a:spcPts val="100"/>
              </a:spcAft>
            </a:pPr>
            <a:r>
              <a:rPr sz="1100">
                <a:solidFill>
                  <a:srgbClr val="CBD5E1"/>
                </a:solidFill>
                <a:latin typeface="Consolas"/>
              </a:rPr>
              <a:t>  "stateBackend": "two-layer"</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git ls-tree --name-only -r squad-state</a:t>
            </a:r>
          </a:p>
          <a:p>
            <a:pPr>
              <a:spcAft>
                <a:spcPts val="100"/>
              </a:spcAft>
            </a:pPr>
            <a:r>
              <a:rPr sz="1100">
                <a:solidFill>
                  <a:srgbClr val="CBD5E1"/>
                </a:solidFill>
                <a:latin typeface="Consolas"/>
              </a:rPr>
              <a:t>README.md</a:t>
            </a:r>
          </a:p>
          <a:p>
            <a:pPr>
              <a:spcAft>
                <a:spcPts val="100"/>
              </a:spcAft>
            </a:pPr>
            <a:r>
              <a:rPr sz="1100">
                <a:solidFill>
                  <a:srgbClr val="CBD5E1"/>
                </a:solidFill>
                <a:latin typeface="Consolas"/>
              </a:rPr>
              <a:t>agents/booster/history.md</a:t>
            </a:r>
          </a:p>
          <a:p>
            <a:pPr>
              <a:spcAft>
                <a:spcPts val="100"/>
              </a:spcAft>
            </a:pPr>
            <a:r>
              <a:rPr sz="1100">
                <a:solidFill>
                  <a:srgbClr val="CBD5E1"/>
                </a:solidFill>
                <a:latin typeface="Consolas"/>
              </a:rPr>
              <a:t>agents/capcom/history.md</a:t>
            </a:r>
          </a:p>
          <a:p>
            <a:pPr>
              <a:spcAft>
                <a:spcPts val="100"/>
              </a:spcAft>
            </a:pPr>
            <a:r>
              <a:rPr sz="1100">
                <a:solidFill>
                  <a:srgbClr val="CBD5E1"/>
                </a:solidFill>
                <a:latin typeface="Consolas"/>
              </a:rPr>
              <a:t>agents/control/history.md</a:t>
            </a:r>
          </a:p>
          <a:p>
            <a:pPr>
              <a:spcAft>
                <a:spcPts val="100"/>
              </a:spcAft>
            </a:pPr>
            <a:r>
              <a:rPr sz="1100">
                <a:solidFill>
                  <a:srgbClr val="CBD5E1"/>
                </a:solidFill>
                <a:latin typeface="Consolas"/>
              </a:rPr>
              <a:t>agents/eecom/history.md</a:t>
            </a:r>
          </a:p>
          <a:p>
            <a:pPr>
              <a:spcAft>
                <a:spcPts val="100"/>
              </a:spcAft>
            </a:pPr>
            <a:r>
              <a:rPr sz="1100">
                <a:solidFill>
                  <a:srgbClr val="CBD5E1"/>
                </a:solidFill>
                <a:latin typeface="Consolas"/>
              </a:rPr>
              <a:t>agents/fido/history.md</a:t>
            </a:r>
          </a:p>
          <a:p>
            <a:pPr>
              <a:spcAft>
                <a:spcPts val="100"/>
              </a:spcAft>
            </a:pPr>
            <a:r>
              <a:rPr sz="1100">
                <a:solidFill>
                  <a:srgbClr val="CBD5E1"/>
                </a:solidFill>
                <a:latin typeface="Consolas"/>
              </a:rPr>
              <a:t>agents/flight/history.md</a:t>
            </a:r>
          </a:p>
          <a:p>
            <a:pPr>
              <a:spcAft>
                <a:spcPts val="100"/>
              </a:spcAft>
            </a:pPr>
            <a:r>
              <a:rPr sz="1100">
                <a:solidFill>
                  <a:srgbClr val="CBD5E1"/>
                </a:solidFill>
                <a:latin typeface="Consolas"/>
              </a:rPr>
              <a:t>  ... 12 more agent histories</a:t>
            </a:r>
          </a:p>
          <a:p>
            <a:pPr>
              <a:spcAft>
                <a:spcPts val="100"/>
              </a:spcAft>
            </a:pPr>
            <a:r>
              <a:rPr sz="1100">
                <a:solidFill>
                  <a:srgbClr val="CBD5E1"/>
                </a:solidFill>
                <a:latin typeface="Consolas"/>
              </a:rPr>
              <a:t>decisions.md</a:t>
            </a:r>
          </a:p>
        </p:txBody>
      </p:sp>
      <p:sp>
        <p:nvSpPr>
          <p:cNvPr id="13" name="Rounded Rectangle 12"/>
          <p:cNvSpPr/>
          <p:nvPr/>
        </p:nvSpPr>
        <p:spPr>
          <a:xfrm>
            <a:off x="6675120" y="1874519"/>
            <a:ext cx="4937760"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493776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1920239"/>
            <a:ext cx="4663440" cy="228600"/>
          </a:xfrm>
          <a:prstGeom prst="rect">
            <a:avLst/>
          </a:prstGeom>
          <a:noFill/>
        </p:spPr>
        <p:txBody>
          <a:bodyPr wrap="square" lIns="36576" rIns="36576" tIns="18288" bIns="18288">
            <a:spAutoFit/>
          </a:bodyPr>
          <a:lstStyle/>
          <a:p>
            <a:r>
              <a:rPr sz="1000" b="1">
                <a:solidFill>
                  <a:srgbClr val="38BDF8"/>
                </a:solidFill>
                <a:latin typeface="Segoe UI Semibold"/>
              </a:rPr>
              <a:t>real decisions, off the working tree</a:t>
            </a:r>
          </a:p>
        </p:txBody>
      </p:sp>
      <p:sp>
        <p:nvSpPr>
          <p:cNvPr id="16" name="TextBox 15"/>
          <p:cNvSpPr txBox="1"/>
          <p:nvPr/>
        </p:nvSpPr>
        <p:spPr>
          <a:xfrm>
            <a:off x="6839712" y="2167127"/>
            <a:ext cx="4663440" cy="3493008"/>
          </a:xfrm>
          <a:prstGeom prst="rect">
            <a:avLst/>
          </a:prstGeom>
          <a:noFill/>
        </p:spPr>
        <p:txBody>
          <a:bodyPr wrap="square" lIns="36576" rIns="36576">
            <a:spAutoFit/>
          </a:bodyPr>
          <a:lstStyle/>
          <a:p>
            <a:pPr>
              <a:spcAft>
                <a:spcPts val="100"/>
              </a:spcAft>
            </a:pPr>
            <a:r>
              <a:rPr sz="1100">
                <a:solidFill>
                  <a:srgbClr val="F8FAFC"/>
                </a:solidFill>
                <a:latin typeface="Consolas"/>
              </a:rPr>
              <a:t>$ git show squad-state:decisions.md</a:t>
            </a:r>
          </a:p>
          <a:p>
            <a:pPr>
              <a:spcAft>
                <a:spcPts val="100"/>
              </a:spcAft>
            </a:pPr>
            <a:r>
              <a:rPr sz="1100">
                <a:solidFill>
                  <a:srgbClr val="F8FAFC"/>
                </a:solidFill>
                <a:latin typeface="Consolas"/>
              </a:rPr>
              <a:t># Decisions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&gt; Team decisions that all agents</a:t>
            </a:r>
          </a:p>
          <a:p>
            <a:pPr>
              <a:spcAft>
                <a:spcPts val="100"/>
              </a:spcAft>
            </a:pPr>
            <a:r>
              <a:rPr sz="1100">
                <a:solidFill>
                  <a:srgbClr val="F8FAFC"/>
                </a:solidFill>
                <a:latin typeface="Consolas"/>
              </a:rPr>
              <a:t>&gt; must respect. Managed by Scribe.</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Type safety — strict mode</a:t>
            </a:r>
          </a:p>
          <a:p>
            <a:pPr>
              <a:spcAft>
                <a:spcPts val="100"/>
              </a:spcAft>
            </a:pPr>
            <a:r>
              <a:rPr sz="1100">
                <a:solidFill>
                  <a:srgbClr val="CBD5E1"/>
                </a:solidFill>
                <a:latin typeface="Consolas"/>
              </a:rPr>
              <a:t>**By:** CONTROL</a:t>
            </a:r>
          </a:p>
          <a:p>
            <a:pPr>
              <a:spcAft>
                <a:spcPts val="100"/>
              </a:spcAft>
            </a:pPr>
            <a:r>
              <a:rPr sz="1100">
                <a:solidFill>
                  <a:srgbClr val="CBD5E1"/>
                </a:solidFill>
                <a:latin typeface="Consolas"/>
              </a:rPr>
              <a:t>**What:** `strict: true`, no</a:t>
            </a:r>
          </a:p>
          <a:p>
            <a:pPr>
              <a:spcAft>
                <a:spcPts val="100"/>
              </a:spcAft>
            </a:pPr>
            <a:r>
              <a:rPr sz="1100">
                <a:solidFill>
                  <a:srgbClr val="CBD5E1"/>
                </a:solidFill>
                <a:latin typeface="Consolas"/>
              </a:rPr>
              <a:t>         `@ts-ignore` allowed.</a:t>
            </a:r>
          </a:p>
          <a:p>
            <a:pPr>
              <a:spcAft>
                <a:spcPts val="100"/>
              </a:spcAft>
            </a:pPr>
            <a:r>
              <a:rPr sz="1100">
                <a:solidFill>
                  <a:srgbClr val="CBD5E1"/>
                </a:solidFill>
                <a:latin typeface="Consolas"/>
              </a:rPr>
              <a:t>**Why:** Types are contracts.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Hook-based governance</a:t>
            </a:r>
          </a:p>
          <a:p>
            <a:pPr>
              <a:spcAft>
                <a:spcPts val="100"/>
              </a:spcAft>
            </a:pPr>
            <a:r>
              <a:rPr sz="1100">
                <a:solidFill>
                  <a:srgbClr val="CBD5E1"/>
                </a:solidFill>
                <a:latin typeface="Consolas"/>
              </a:rPr>
              <a:t>**By:** RETRO</a:t>
            </a:r>
          </a:p>
          <a:p>
            <a:pPr>
              <a:spcAft>
                <a:spcPts val="100"/>
              </a:spcAft>
            </a:pPr>
            <a:r>
              <a:rPr sz="1100">
                <a:solidFill>
                  <a:srgbClr val="CBD5E1"/>
                </a:solidFill>
                <a:latin typeface="Consolas"/>
              </a:rPr>
              <a:t>**What:** Security/PII guards live</a:t>
            </a:r>
          </a:p>
          <a:p>
            <a:pPr>
              <a:spcAft>
                <a:spcPts val="100"/>
              </a:spcAft>
            </a:pPr>
            <a:r>
              <a:rPr sz="1100">
                <a:solidFill>
                  <a:srgbClr val="CBD5E1"/>
                </a:solidFill>
                <a:latin typeface="Consolas"/>
              </a:rPr>
              <a:t>         in the hooks module.</a:t>
            </a:r>
          </a:p>
          <a:p>
            <a:pPr>
              <a:spcAft>
                <a:spcPts val="100"/>
              </a:spcAft>
            </a:pPr>
            <a:r>
              <a:rPr sz="1100">
                <a:solidFill>
                  <a:srgbClr val="CBD5E1"/>
                </a:solidFill>
                <a:latin typeface="Consolas"/>
              </a:rPr>
              <a:t>**Why:** Prompts can be ignored;</a:t>
            </a:r>
          </a:p>
          <a:p>
            <a:pPr>
              <a:spcAft>
                <a:spcPts val="100"/>
              </a:spcAft>
            </a:pPr>
            <a:r>
              <a:rPr sz="1100">
                <a:solidFill>
                  <a:srgbClr val="CBD5E1"/>
                </a:solidFill>
                <a:latin typeface="Consolas"/>
              </a:rPr>
              <a:t>         hooks are code.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25</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WHAT HAPPENED IN THIS SESSION, IN PLAIN TERMS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three storages, in real numbers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Same audience question that built the deck — what does two-layer actually do in one session?</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git log main • git log squad-state • git notes --ref=refs/notes/squad list</a:t>
            </a:r>
          </a:p>
        </p:txBody>
      </p:sp>
      <p:sp>
        <p:nvSpPr>
          <p:cNvPr id="9" name="Rounded Rectangle 8"/>
          <p:cNvSpPr/>
          <p:nvPr/>
        </p:nvSpPr>
        <p:spPr>
          <a:xfrm>
            <a:off x="548640" y="1874519"/>
            <a:ext cx="11094415" cy="365760"/>
          </a:xfrm>
          <a:prstGeom prst="roundRect">
            <a:avLst/>
          </a:prstGeom>
          <a:solidFill>
            <a:srgbClr val="172554"/>
          </a:solidFill>
          <a:ln w="9525">
            <a:solidFill>
              <a:srgbClr val="1725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11095"/>
            <a:ext cx="3200400" cy="292608"/>
          </a:xfrm>
          <a:prstGeom prst="rect">
            <a:avLst/>
          </a:prstGeom>
          <a:noFill/>
        </p:spPr>
        <p:txBody>
          <a:bodyPr wrap="square" lIns="36576" rIns="36576" tIns="18288" bIns="18288">
            <a:spAutoFit/>
          </a:bodyPr>
          <a:lstStyle/>
          <a:p>
            <a:r>
              <a:rPr sz="1100" b="1">
                <a:solidFill>
                  <a:srgbClr val="38BDF8"/>
                </a:solidFill>
                <a:latin typeface="Segoe UI Semibold"/>
              </a:rPr>
              <a:t>WHERE</a:t>
            </a:r>
          </a:p>
        </p:txBody>
      </p:sp>
      <p:sp>
        <p:nvSpPr>
          <p:cNvPr id="11" name="TextBox 10"/>
          <p:cNvSpPr txBox="1"/>
          <p:nvPr/>
        </p:nvSpPr>
        <p:spPr>
          <a:xfrm>
            <a:off x="4480559" y="1911095"/>
            <a:ext cx="2286000" cy="292608"/>
          </a:xfrm>
          <a:prstGeom prst="rect">
            <a:avLst/>
          </a:prstGeom>
          <a:noFill/>
        </p:spPr>
        <p:txBody>
          <a:bodyPr wrap="square" lIns="36576" rIns="36576" tIns="18288" bIns="18288">
            <a:spAutoFit/>
          </a:bodyPr>
          <a:lstStyle/>
          <a:p>
            <a:r>
              <a:rPr sz="1100" b="1">
                <a:solidFill>
                  <a:srgbClr val="38BDF8"/>
                </a:solidFill>
                <a:latin typeface="Segoe UI Semibold"/>
              </a:rPr>
              <a:t>HOW MANY</a:t>
            </a:r>
          </a:p>
        </p:txBody>
      </p:sp>
      <p:sp>
        <p:nvSpPr>
          <p:cNvPr id="12" name="TextBox 11"/>
          <p:cNvSpPr txBox="1"/>
          <p:nvPr/>
        </p:nvSpPr>
        <p:spPr>
          <a:xfrm>
            <a:off x="7040879" y="1911095"/>
            <a:ext cx="4419295" cy="292608"/>
          </a:xfrm>
          <a:prstGeom prst="rect">
            <a:avLst/>
          </a:prstGeom>
          <a:noFill/>
        </p:spPr>
        <p:txBody>
          <a:bodyPr wrap="square" lIns="36576" rIns="36576" tIns="18288" bIns="18288">
            <a:spAutoFit/>
          </a:bodyPr>
          <a:lstStyle/>
          <a:p>
            <a:r>
              <a:rPr sz="1100" b="1">
                <a:solidFill>
                  <a:srgbClr val="38BDF8"/>
                </a:solidFill>
                <a:latin typeface="Segoe UI Semibold"/>
              </a:rPr>
              <a:t>WHAT GOT WRITTEN</a:t>
            </a:r>
          </a:p>
        </p:txBody>
      </p:sp>
      <p:sp>
        <p:nvSpPr>
          <p:cNvPr id="13" name="Rounded Rectangle 12"/>
          <p:cNvSpPr/>
          <p:nvPr/>
        </p:nvSpPr>
        <p:spPr>
          <a:xfrm>
            <a:off x="548640" y="2331720"/>
            <a:ext cx="11094415" cy="1097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31720"/>
            <a:ext cx="164592" cy="109728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514600"/>
            <a:ext cx="594360" cy="411480"/>
          </a:xfrm>
          <a:prstGeom prst="rect">
            <a:avLst/>
          </a:prstGeom>
          <a:noFill/>
        </p:spPr>
        <p:txBody>
          <a:bodyPr wrap="square" lIns="36576" rIns="36576" tIns="18288" bIns="18288" anchor="ctr">
            <a:spAutoFit/>
          </a:bodyPr>
          <a:lstStyle/>
          <a:p>
            <a:r>
              <a:rPr sz="2400" b="1">
                <a:solidFill>
                  <a:srgbClr val="38BDF8"/>
                </a:solidFill>
                <a:latin typeface="Segoe UI"/>
              </a:rPr>
              <a:t>⧈</a:t>
            </a:r>
          </a:p>
        </p:txBody>
      </p:sp>
      <p:sp>
        <p:nvSpPr>
          <p:cNvPr id="16" name="TextBox 15"/>
          <p:cNvSpPr txBox="1"/>
          <p:nvPr/>
        </p:nvSpPr>
        <p:spPr>
          <a:xfrm>
            <a:off x="1508760" y="2514600"/>
            <a:ext cx="2926080" cy="411480"/>
          </a:xfrm>
          <a:prstGeom prst="rect">
            <a:avLst/>
          </a:prstGeom>
          <a:noFill/>
        </p:spPr>
        <p:txBody>
          <a:bodyPr wrap="square" lIns="36576" rIns="36576" tIns="18288" bIns="18288" anchor="ctr">
            <a:spAutoFit/>
          </a:bodyPr>
          <a:lstStyle/>
          <a:p>
            <a:r>
              <a:rPr sz="1800" b="1">
                <a:solidFill>
                  <a:srgbClr val="F8FAFC"/>
                </a:solidFill>
                <a:latin typeface="Consolas"/>
              </a:rPr>
              <a:t>main</a:t>
            </a:r>
          </a:p>
        </p:txBody>
      </p:sp>
      <p:sp>
        <p:nvSpPr>
          <p:cNvPr id="17" name="TextBox 16"/>
          <p:cNvSpPr txBox="1"/>
          <p:nvPr/>
        </p:nvSpPr>
        <p:spPr>
          <a:xfrm>
            <a:off x="4480559" y="2423160"/>
            <a:ext cx="2468880" cy="914400"/>
          </a:xfrm>
          <a:prstGeom prst="rect">
            <a:avLst/>
          </a:prstGeom>
          <a:noFill/>
        </p:spPr>
        <p:txBody>
          <a:bodyPr wrap="square" lIns="36576" rIns="36576" tIns="18288" bIns="18288" anchor="ctr">
            <a:spAutoFit/>
          </a:bodyPr>
          <a:lstStyle/>
          <a:p>
            <a:r>
              <a:rPr sz="1500" b="1">
                <a:solidFill>
                  <a:srgbClr val="38BDF8"/>
                </a:solidFill>
                <a:latin typeface="Segoe UI"/>
              </a:rPr>
              <a:t>1 commit</a:t>
            </a:r>
          </a:p>
        </p:txBody>
      </p:sp>
      <p:sp>
        <p:nvSpPr>
          <p:cNvPr id="18" name="TextBox 17"/>
          <p:cNvSpPr txBox="1"/>
          <p:nvPr/>
        </p:nvSpPr>
        <p:spPr>
          <a:xfrm>
            <a:off x="7040879" y="2423160"/>
            <a:ext cx="4419295" cy="914400"/>
          </a:xfrm>
          <a:prstGeom prst="rect">
            <a:avLst/>
          </a:prstGeom>
          <a:noFill/>
        </p:spPr>
        <p:txBody>
          <a:bodyPr wrap="square" lIns="36576" rIns="36576" tIns="18288" bIns="18288" anchor="ctr">
            <a:spAutoFit/>
          </a:bodyPr>
          <a:lstStyle/>
          <a:p>
            <a:r>
              <a:rPr sz="1100" b="0">
                <a:solidFill>
                  <a:srgbClr val="CBD5E1"/>
                </a:solidFill>
                <a:latin typeface="Segoe UI"/>
              </a:rPr>
              <a:t>4 Futurama charters + team.md / routing.md updates + .gitignore</a:t>
            </a:r>
          </a:p>
        </p:txBody>
      </p:sp>
      <p:sp>
        <p:nvSpPr>
          <p:cNvPr id="19" name="Rounded Rectangle 18"/>
          <p:cNvSpPr/>
          <p:nvPr/>
        </p:nvSpPr>
        <p:spPr>
          <a:xfrm>
            <a:off x="548640" y="3557015"/>
            <a:ext cx="11094415" cy="1097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557015"/>
            <a:ext cx="164592" cy="109728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739896"/>
            <a:ext cx="594360" cy="411480"/>
          </a:xfrm>
          <a:prstGeom prst="rect">
            <a:avLst/>
          </a:prstGeom>
          <a:noFill/>
        </p:spPr>
        <p:txBody>
          <a:bodyPr wrap="square" lIns="36576" rIns="36576" tIns="18288" bIns="18288" anchor="ctr">
            <a:spAutoFit/>
          </a:bodyPr>
          <a:lstStyle/>
          <a:p>
            <a:r>
              <a:rPr sz="2400" b="1">
                <a:solidFill>
                  <a:srgbClr val="34D399"/>
                </a:solidFill>
                <a:latin typeface="Segoe UI"/>
              </a:rPr>
              <a:t>✎</a:t>
            </a:r>
          </a:p>
        </p:txBody>
      </p:sp>
      <p:sp>
        <p:nvSpPr>
          <p:cNvPr id="22" name="TextBox 21"/>
          <p:cNvSpPr txBox="1"/>
          <p:nvPr/>
        </p:nvSpPr>
        <p:spPr>
          <a:xfrm>
            <a:off x="1508760" y="3739896"/>
            <a:ext cx="2926080" cy="411480"/>
          </a:xfrm>
          <a:prstGeom prst="rect">
            <a:avLst/>
          </a:prstGeom>
          <a:noFill/>
        </p:spPr>
        <p:txBody>
          <a:bodyPr wrap="square" lIns="36576" rIns="36576" tIns="18288" bIns="18288" anchor="ctr">
            <a:spAutoFit/>
          </a:bodyPr>
          <a:lstStyle/>
          <a:p>
            <a:r>
              <a:rPr sz="1800" b="1">
                <a:solidFill>
                  <a:srgbClr val="F8FAFC"/>
                </a:solidFill>
                <a:latin typeface="Consolas"/>
              </a:rPr>
              <a:t>squad-state</a:t>
            </a:r>
          </a:p>
        </p:txBody>
      </p:sp>
      <p:sp>
        <p:nvSpPr>
          <p:cNvPr id="23" name="TextBox 22"/>
          <p:cNvSpPr txBox="1"/>
          <p:nvPr/>
        </p:nvSpPr>
        <p:spPr>
          <a:xfrm>
            <a:off x="4480559" y="3648456"/>
            <a:ext cx="2468880" cy="914400"/>
          </a:xfrm>
          <a:prstGeom prst="rect">
            <a:avLst/>
          </a:prstGeom>
          <a:noFill/>
        </p:spPr>
        <p:txBody>
          <a:bodyPr wrap="square" lIns="36576" rIns="36576" tIns="18288" bIns="18288" anchor="ctr">
            <a:spAutoFit/>
          </a:bodyPr>
          <a:lstStyle/>
          <a:p>
            <a:r>
              <a:rPr sz="1500" b="1">
                <a:solidFill>
                  <a:srgbClr val="34D399"/>
                </a:solidFill>
                <a:latin typeface="Segoe UI"/>
              </a:rPr>
              <a:t>7 commits</a:t>
            </a:r>
          </a:p>
        </p:txBody>
      </p:sp>
      <p:sp>
        <p:nvSpPr>
          <p:cNvPr id="24" name="TextBox 23"/>
          <p:cNvSpPr txBox="1"/>
          <p:nvPr/>
        </p:nvSpPr>
        <p:spPr>
          <a:xfrm>
            <a:off x="7040879" y="3648456"/>
            <a:ext cx="4419295" cy="914400"/>
          </a:xfrm>
          <a:prstGeom prst="rect">
            <a:avLst/>
          </a:prstGeom>
          <a:noFill/>
        </p:spPr>
        <p:txBody>
          <a:bodyPr wrap="square" lIns="36576" rIns="36576" tIns="18288" bIns="18288" anchor="ctr">
            <a:spAutoFit/>
          </a:bodyPr>
          <a:lstStyle/>
          <a:p>
            <a:r>
              <a:rPr sz="1100" b="0">
                <a:solidFill>
                  <a:srgbClr val="CBD5E1"/>
                </a:solidFill>
                <a:latin typeface="Segoe UI"/>
              </a:rPr>
              <a:t>3 directive files written to inbox  →  Scribe merged them into decisions.md  →  inbox files deleted  →  orchestration logs for both Leela attempts  →  Leela's history updated</a:t>
            </a:r>
          </a:p>
        </p:txBody>
      </p:sp>
      <p:sp>
        <p:nvSpPr>
          <p:cNvPr id="25" name="Rounded Rectangle 24"/>
          <p:cNvSpPr/>
          <p:nvPr/>
        </p:nvSpPr>
        <p:spPr>
          <a:xfrm>
            <a:off x="548640" y="4782312"/>
            <a:ext cx="11094415" cy="1097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782312"/>
            <a:ext cx="164592" cy="109728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965192"/>
            <a:ext cx="594360" cy="411480"/>
          </a:xfrm>
          <a:prstGeom prst="rect">
            <a:avLst/>
          </a:prstGeom>
          <a:noFill/>
        </p:spPr>
        <p:txBody>
          <a:bodyPr wrap="square" lIns="36576" rIns="36576" tIns="18288" bIns="18288" anchor="ctr">
            <a:spAutoFit/>
          </a:bodyPr>
          <a:lstStyle/>
          <a:p>
            <a:r>
              <a:rPr sz="2400" b="1">
                <a:solidFill>
                  <a:srgbClr val="FBBF24"/>
                </a:solidFill>
                <a:latin typeface="Segoe UI"/>
              </a:rPr>
              <a:t>⧚</a:t>
            </a:r>
          </a:p>
        </p:txBody>
      </p:sp>
      <p:sp>
        <p:nvSpPr>
          <p:cNvPr id="28" name="TextBox 27"/>
          <p:cNvSpPr txBox="1"/>
          <p:nvPr/>
        </p:nvSpPr>
        <p:spPr>
          <a:xfrm>
            <a:off x="1508760" y="4965192"/>
            <a:ext cx="2926080" cy="411480"/>
          </a:xfrm>
          <a:prstGeom prst="rect">
            <a:avLst/>
          </a:prstGeom>
          <a:noFill/>
        </p:spPr>
        <p:txBody>
          <a:bodyPr wrap="square" lIns="36576" rIns="36576" tIns="18288" bIns="18288" anchor="ctr">
            <a:spAutoFit/>
          </a:bodyPr>
          <a:lstStyle/>
          <a:p>
            <a:r>
              <a:rPr sz="1800" b="1">
                <a:solidFill>
                  <a:srgbClr val="F8FAFC"/>
                </a:solidFill>
                <a:latin typeface="Consolas"/>
              </a:rPr>
              <a:t>refs/notes/squad</a:t>
            </a:r>
          </a:p>
        </p:txBody>
      </p:sp>
      <p:sp>
        <p:nvSpPr>
          <p:cNvPr id="29" name="TextBox 28"/>
          <p:cNvSpPr txBox="1"/>
          <p:nvPr/>
        </p:nvSpPr>
        <p:spPr>
          <a:xfrm>
            <a:off x="4480559" y="4873751"/>
            <a:ext cx="2468880" cy="914400"/>
          </a:xfrm>
          <a:prstGeom prst="rect">
            <a:avLst/>
          </a:prstGeom>
          <a:noFill/>
        </p:spPr>
        <p:txBody>
          <a:bodyPr wrap="square" lIns="36576" rIns="36576" tIns="18288" bIns="18288" anchor="ctr">
            <a:spAutoFit/>
          </a:bodyPr>
          <a:lstStyle/>
          <a:p>
            <a:r>
              <a:rPr sz="1500" b="1">
                <a:solidFill>
                  <a:srgbClr val="FBBF24"/>
                </a:solidFill>
                <a:latin typeface="Segoe UI"/>
              </a:rPr>
              <a:t>1 snapshot update</a:t>
            </a:r>
          </a:p>
        </p:txBody>
      </p:sp>
      <p:sp>
        <p:nvSpPr>
          <p:cNvPr id="30" name="TextBox 29"/>
          <p:cNvSpPr txBox="1"/>
          <p:nvPr/>
        </p:nvSpPr>
        <p:spPr>
          <a:xfrm>
            <a:off x="7040879" y="4873751"/>
            <a:ext cx="4419295" cy="914400"/>
          </a:xfrm>
          <a:prstGeom prst="rect">
            <a:avLst/>
          </a:prstGeom>
          <a:noFill/>
        </p:spPr>
        <p:txBody>
          <a:bodyPr wrap="square" lIns="36576" rIns="36576" tIns="18288" bIns="18288" anchor="ctr">
            <a:spAutoFit/>
          </a:bodyPr>
          <a:lstStyle/>
          <a:p>
            <a:r>
              <a:rPr sz="1100" b="0">
                <a:solidFill>
                  <a:srgbClr val="CBD5E1"/>
                </a:solidFill>
                <a:latin typeface="Segoe UI"/>
              </a:rPr>
              <a:t>JSON blob containing decisions.md + all logs + Leela's history, pinned to commit e406cf7</a:t>
            </a:r>
          </a:p>
        </p:txBody>
      </p:sp>
      <p:sp>
        <p:nvSpPr>
          <p:cNvPr id="31" name="Rounded Rectangle 30"/>
          <p:cNvSpPr/>
          <p:nvPr/>
        </p:nvSpPr>
        <p:spPr>
          <a:xfrm>
            <a:off x="548640" y="6053327"/>
            <a:ext cx="11094415" cy="457200"/>
          </a:xfrm>
          <a:prstGeom prst="roundRect">
            <a:avLst/>
          </a:prstGeom>
          <a:solidFill>
            <a:srgbClr val="0A182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6126479"/>
            <a:ext cx="10545775" cy="320040"/>
          </a:xfrm>
          <a:prstGeom prst="rect">
            <a:avLst/>
          </a:prstGeom>
          <a:noFill/>
        </p:spPr>
        <p:txBody>
          <a:bodyPr wrap="square" lIns="36576" rIns="36576" tIns="18288" bIns="18288">
            <a:spAutoFit/>
          </a:bodyPr>
          <a:lstStyle/>
          <a:p>
            <a:pPr algn="ctr"/>
            <a:r>
              <a:rPr sz="1200" b="1">
                <a:solidFill>
                  <a:srgbClr val="F8FAFC"/>
                </a:solidFill>
                <a:latin typeface="Segoe UI Semibold"/>
              </a:rPr>
              <a:t>main got 1 commit (the human-reviewable artifact).  squad-state got 7 (the runtime’s diary).  refs/notes/squad got the frozen snapshot pinned to that main commit.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26</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THE BRANCH TOPOLOGY</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Two parallel git universes — same repo, no shared history</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PR lives on a feature branch. The team’s memory lives on an orphan branch + notes ref. Both ride in the same .git folder.</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files/two-layer-walkthrough.md • captured from squad-advanced-squad-session-slides repo</a:t>
            </a:r>
          </a:p>
        </p:txBody>
      </p:sp>
      <p:sp>
        <p:nvSpPr>
          <p:cNvPr id="9" name="Rounded Rectangle 8"/>
          <p:cNvSpPr/>
          <p:nvPr/>
        </p:nvSpPr>
        <p:spPr>
          <a:xfrm>
            <a:off x="548640" y="1874519"/>
            <a:ext cx="5440680" cy="402336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440680" cy="36576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11095"/>
            <a:ext cx="5029200" cy="292608"/>
          </a:xfrm>
          <a:prstGeom prst="rect">
            <a:avLst/>
          </a:prstGeom>
          <a:noFill/>
        </p:spPr>
        <p:txBody>
          <a:bodyPr wrap="square" lIns="36576" rIns="36576" tIns="18288" bIns="18288">
            <a:spAutoFit/>
          </a:bodyPr>
          <a:lstStyle/>
          <a:p>
            <a:r>
              <a:rPr sz="1200" b="1">
                <a:solidFill>
                  <a:srgbClr val="F8FAFC"/>
                </a:solidFill>
                <a:latin typeface="Segoe UI Semibold"/>
              </a:rPr>
              <a:t>git history (real branches)</a:t>
            </a:r>
          </a:p>
        </p:txBody>
      </p:sp>
      <p:sp>
        <p:nvSpPr>
          <p:cNvPr id="12" name="TextBox 11"/>
          <p:cNvSpPr txBox="1"/>
          <p:nvPr/>
        </p:nvSpPr>
        <p:spPr>
          <a:xfrm>
            <a:off x="777240" y="2377439"/>
            <a:ext cx="5029200" cy="3474720"/>
          </a:xfrm>
          <a:prstGeom prst="rect">
            <a:avLst/>
          </a:prstGeom>
          <a:noFill/>
        </p:spPr>
        <p:txBody>
          <a:bodyPr wrap="square">
            <a:spAutoFit/>
          </a:bodyPr>
          <a:lstStyle/>
          <a:p>
            <a:r>
              <a:rPr sz="1100">
                <a:solidFill>
                  <a:srgbClr val="CBD5E1"/>
                </a:solidFill>
                <a:latin typeface="Consolas"/>
              </a:rPr>
              <a:t>main:    ●─────●─────●─────●</a:t>
            </a:r>
          </a:p>
          <a:p>
            <a:r>
              <a:rPr sz="1100">
                <a:solidFill>
                  <a:srgbClr val="F8FAFC"/>
                </a:solidFill>
                <a:latin typeface="Consolas"/>
              </a:rPr>
              <a:t>         e406  24bf  361d  22f8  ← HEAD</a:t>
            </a:r>
          </a:p>
          <a:p>
            <a:r>
              <a:rPr sz="1100">
                <a:solidFill>
                  <a:srgbClr val="CBD5E1"/>
                </a:solidFill>
                <a:latin typeface="Consolas"/>
              </a:rPr>
              <a:t>         (4 commits — static identity)</a:t>
            </a:r>
          </a:p>
          <a:p>
            <a:r>
              <a:rPr sz="1100">
                <a:solidFill>
                  <a:srgbClr val="CBD5E1"/>
                </a:solidFill>
                <a:latin typeface="Consolas"/>
              </a:rPr>
              <a:t>                                  ╲</a:t>
            </a:r>
          </a:p>
          <a:p>
            <a:r>
              <a:rPr sz="1100">
                <a:solidFill>
                  <a:srgbClr val="CBD5E1"/>
                </a:solidFill>
                <a:latin typeface="Consolas"/>
              </a:rPr>
              <a:t>                                   ╲ checkout -b</a:t>
            </a:r>
          </a:p>
          <a:p>
            <a:r>
              <a:rPr sz="1100">
                <a:solidFill>
                  <a:srgbClr val="CBD5E1"/>
                </a:solidFill>
                <a:latin typeface="Consolas"/>
              </a:rPr>
              <a:t>                                    ╲</a:t>
            </a:r>
          </a:p>
          <a:p>
            <a:r>
              <a:rPr sz="1100" b="1">
                <a:solidFill>
                  <a:srgbClr val="38BDF8"/>
                </a:solidFill>
                <a:latin typeface="Consolas"/>
              </a:rPr>
              <a:t>                                     ●  ← feature/readme-…</a:t>
            </a:r>
          </a:p>
          <a:p>
            <a:r>
              <a:rPr sz="1100" b="1">
                <a:solidFill>
                  <a:srgbClr val="38BDF8"/>
                </a:solidFill>
                <a:latin typeface="Consolas"/>
              </a:rPr>
              <a:t>                                     08da75c</a:t>
            </a:r>
          </a:p>
          <a:p>
            <a:r>
              <a:rPr sz="1100">
                <a:solidFill>
                  <a:srgbClr val="CBD5E1"/>
                </a:solidFill>
                <a:latin typeface="Consolas"/>
              </a:rPr>
              <a:t>                                     README.md (28 lines)</a:t>
            </a:r>
          </a:p>
          <a:p>
            <a:r>
              <a:rPr sz="1100">
                <a:solidFill>
                  <a:srgbClr val="F8FAFC"/>
                </a:solidFill>
                <a:latin typeface="Consolas"/>
              </a:rPr>
              <a:t>                                     ← this is your PR diff</a:t>
            </a:r>
          </a:p>
        </p:txBody>
      </p:sp>
      <p:sp>
        <p:nvSpPr>
          <p:cNvPr id="13" name="Rounded Rectangle 12"/>
          <p:cNvSpPr/>
          <p:nvPr/>
        </p:nvSpPr>
        <p:spPr>
          <a:xfrm>
            <a:off x="6217920" y="1874519"/>
            <a:ext cx="5440680" cy="402336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5440680" cy="36576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911095"/>
            <a:ext cx="5029200" cy="292608"/>
          </a:xfrm>
          <a:prstGeom prst="rect">
            <a:avLst/>
          </a:prstGeom>
          <a:noFill/>
        </p:spPr>
        <p:txBody>
          <a:bodyPr wrap="square" lIns="36576" rIns="36576" tIns="18288" bIns="18288">
            <a:spAutoFit/>
          </a:bodyPr>
          <a:lstStyle/>
          <a:p>
            <a:r>
              <a:rPr sz="1200" b="1">
                <a:solidFill>
                  <a:srgbClr val="F8FAFC"/>
                </a:solidFill>
                <a:latin typeface="Segoe UI Semibold"/>
              </a:rPr>
              <a:t>parallel state world (orphan + notes)</a:t>
            </a:r>
          </a:p>
        </p:txBody>
      </p:sp>
      <p:sp>
        <p:nvSpPr>
          <p:cNvPr id="16" name="TextBox 15"/>
          <p:cNvSpPr txBox="1"/>
          <p:nvPr/>
        </p:nvSpPr>
        <p:spPr>
          <a:xfrm>
            <a:off x="6446520" y="2377439"/>
            <a:ext cx="5029200" cy="3474720"/>
          </a:xfrm>
          <a:prstGeom prst="rect">
            <a:avLst/>
          </a:prstGeom>
          <a:noFill/>
        </p:spPr>
        <p:txBody>
          <a:bodyPr wrap="square">
            <a:spAutoFit/>
          </a:bodyPr>
          <a:lstStyle/>
          <a:p>
            <a:r>
              <a:rPr sz="1100">
                <a:solidFill>
                  <a:srgbClr val="94A3B8"/>
                </a:solidFill>
                <a:latin typeface="Consolas"/>
              </a:rPr>
              <a:t>squad-state:</a:t>
            </a:r>
          </a:p>
          <a:p>
            <a:r>
              <a:rPr sz="1100" b="1">
                <a:solidFill>
                  <a:srgbClr val="34D399"/>
                </a:solidFill>
                <a:latin typeface="Consolas"/>
              </a:rPr>
              <a:t>━━━━━━━━━━━━━━●─●─●─●─●─●─●  ← squad-state HEAD</a:t>
            </a:r>
          </a:p>
          <a:p>
            <a:r>
              <a:rPr sz="1100">
                <a:solidFill>
                  <a:srgbClr val="CBD5E1"/>
                </a:solidFill>
                <a:latin typeface="Consolas"/>
              </a:rPr>
              <a:t>(older sessions)  ╰── 7 commits from THIS task</a:t>
            </a:r>
          </a:p>
          <a:p>
            <a:r>
              <a:rPr sz="1100">
                <a:solidFill>
                  <a:srgbClr val="94A3B8"/>
                </a:solidFill>
                <a:latin typeface="Consolas"/>
              </a:rPr>
              <a:t>                     (1 leela-2 + 6 Scribe)</a:t>
            </a:r>
          </a:p>
          <a:p>
            <a:r>
              <a:rPr sz="1100">
                <a:solidFill>
                  <a:srgbClr val="94A3B8"/>
                </a:solidFill>
                <a:latin typeface="Consolas"/>
              </a:rPr>
              <a:t> </a:t>
            </a:r>
          </a:p>
          <a:p>
            <a:r>
              <a:rPr sz="1100">
                <a:solidFill>
                  <a:srgbClr val="94A3B8"/>
                </a:solidFill>
                <a:latin typeface="Consolas"/>
              </a:rPr>
              <a:t>refs/notes/squad:</a:t>
            </a:r>
          </a:p>
          <a:p>
            <a:r>
              <a:rPr sz="1100">
                <a:solidFill>
                  <a:srgbClr val="FBBF24"/>
                </a:solidFill>
                <a:latin typeface="Consolas"/>
              </a:rPr>
              <a:t>━━━━━━━━━━━━━━●─●─●─●─●─●─●  ← refs/notes/squad</a:t>
            </a:r>
          </a:p>
          <a:p>
            <a:r>
              <a:rPr sz="1100">
                <a:solidFill>
                  <a:srgbClr val="CBD5E1"/>
                </a:solidFill>
                <a:latin typeface="Consolas"/>
              </a:rPr>
              <a:t>(older snapshots) ╰── 7 snapshot refreshes</a:t>
            </a:r>
          </a:p>
          <a:p>
            <a:r>
              <a:rPr sz="1100">
                <a:solidFill>
                  <a:srgbClr val="94A3B8"/>
                </a:solidFill>
                <a:latin typeface="Consolas"/>
              </a:rPr>
              <a:t>                     (one after each ●, pinned</a:t>
            </a:r>
          </a:p>
          <a:p>
            <a:r>
              <a:rPr sz="1100">
                <a:solidFill>
                  <a:srgbClr val="94A3B8"/>
                </a:solidFill>
                <a:latin typeface="Consolas"/>
              </a:rPr>
              <a:t>                      to main commit e406cf7)</a:t>
            </a:r>
          </a:p>
        </p:txBody>
      </p:sp>
      <p:sp>
        <p:nvSpPr>
          <p:cNvPr id="17" name="TextBox 16"/>
          <p:cNvSpPr txBox="1"/>
          <p:nvPr/>
        </p:nvSpPr>
        <p:spPr>
          <a:xfrm>
            <a:off x="5989320" y="3657600"/>
            <a:ext cx="228600" cy="457200"/>
          </a:xfrm>
          <a:prstGeom prst="rect">
            <a:avLst/>
          </a:prstGeom>
          <a:noFill/>
        </p:spPr>
        <p:txBody>
          <a:bodyPr wrap="square" lIns="36576" rIns="36576" tIns="18288" bIns="18288" anchor="ctr">
            <a:spAutoFit/>
          </a:bodyPr>
          <a:lstStyle/>
          <a:p>
            <a:pPr algn="ctr"/>
            <a:r>
              <a:rPr sz="2000" b="1">
                <a:solidFill>
                  <a:srgbClr val="94A3B8"/>
                </a:solidFill>
                <a:latin typeface="Segoe UI"/>
              </a:rPr>
              <a:t>⋮</a:t>
            </a:r>
          </a:p>
        </p:txBody>
      </p:sp>
      <p:sp>
        <p:nvSpPr>
          <p:cNvPr id="18" name="Rounded Rectangle 17"/>
          <p:cNvSpPr/>
          <p:nvPr/>
        </p:nvSpPr>
        <p:spPr>
          <a:xfrm>
            <a:off x="548640" y="6035040"/>
            <a:ext cx="11094415" cy="411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6108192"/>
            <a:ext cx="10545775" cy="274320"/>
          </a:xfrm>
          <a:prstGeom prst="rect">
            <a:avLst/>
          </a:prstGeom>
          <a:noFill/>
        </p:spPr>
        <p:txBody>
          <a:bodyPr wrap="square" lIns="36576" rIns="36576" tIns="18288" bIns="18288">
            <a:spAutoFit/>
          </a:bodyPr>
          <a:lstStyle/>
          <a:p>
            <a:pPr algn="ctr"/>
            <a:r>
              <a:rPr sz="1200" b="1">
                <a:solidFill>
                  <a:srgbClr val="F8FAFC"/>
                </a:solidFill>
                <a:latin typeface="Segoe UI Semibold"/>
              </a:rPr>
              <a:t>No git relationship between these histories. main never sees squad-state. squad-state never sees main. Notes are the bridge.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27</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TIMELINE OF A SINGLE TASK</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One README change — 1 feature commit, 7 state commits, 7 note refreshes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2 minutes 22 seconds, real timestamps, real commit SHAs. Same repo. Three layers updating in lockstep.</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files/two-layer-walkthrough.md • git log feature/readme-… + git log squad-state</a:t>
            </a:r>
          </a:p>
        </p:txBody>
      </p:sp>
      <p:sp>
        <p:nvSpPr>
          <p:cNvPr id="9" name="Rounded Rectangle 8"/>
          <p:cNvSpPr/>
          <p:nvPr/>
        </p:nvSpPr>
        <p:spPr>
          <a:xfrm>
            <a:off x="548640" y="1874519"/>
            <a:ext cx="11094415" cy="329184"/>
          </a:xfrm>
          <a:prstGeom prst="roundRect">
            <a:avLst/>
          </a:prstGeom>
          <a:solidFill>
            <a:srgbClr val="172554"/>
          </a:solidFill>
          <a:ln w="9525">
            <a:solidFill>
              <a:srgbClr val="1725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01951"/>
            <a:ext cx="1188720" cy="274320"/>
          </a:xfrm>
          <a:prstGeom prst="rect">
            <a:avLst/>
          </a:prstGeom>
          <a:noFill/>
        </p:spPr>
        <p:txBody>
          <a:bodyPr wrap="square" lIns="36576" rIns="36576" tIns="18288" bIns="18288">
            <a:spAutoFit/>
          </a:bodyPr>
          <a:lstStyle/>
          <a:p>
            <a:r>
              <a:rPr sz="1000" b="1">
                <a:solidFill>
                  <a:srgbClr val="38BDF8"/>
                </a:solidFill>
                <a:latin typeface="Segoe UI Semibold"/>
              </a:rPr>
              <a:t>TIME</a:t>
            </a:r>
          </a:p>
        </p:txBody>
      </p:sp>
      <p:sp>
        <p:nvSpPr>
          <p:cNvPr id="11" name="TextBox 10"/>
          <p:cNvSpPr txBox="1"/>
          <p:nvPr/>
        </p:nvSpPr>
        <p:spPr>
          <a:xfrm>
            <a:off x="2011680" y="1901951"/>
            <a:ext cx="1828800" cy="274320"/>
          </a:xfrm>
          <a:prstGeom prst="rect">
            <a:avLst/>
          </a:prstGeom>
          <a:noFill/>
        </p:spPr>
        <p:txBody>
          <a:bodyPr wrap="square" lIns="36576" rIns="36576" tIns="18288" bIns="18288">
            <a:spAutoFit/>
          </a:bodyPr>
          <a:lstStyle/>
          <a:p>
            <a:r>
              <a:rPr sz="1000" b="1">
                <a:solidFill>
                  <a:srgbClr val="38BDF8"/>
                </a:solidFill>
                <a:latin typeface="Segoe UI Semibold"/>
              </a:rPr>
              <a:t>LAYER</a:t>
            </a:r>
          </a:p>
        </p:txBody>
      </p:sp>
      <p:sp>
        <p:nvSpPr>
          <p:cNvPr id="12" name="TextBox 11"/>
          <p:cNvSpPr txBox="1"/>
          <p:nvPr/>
        </p:nvSpPr>
        <p:spPr>
          <a:xfrm>
            <a:off x="3931920" y="1901951"/>
            <a:ext cx="7528255" cy="274320"/>
          </a:xfrm>
          <a:prstGeom prst="rect">
            <a:avLst/>
          </a:prstGeom>
          <a:noFill/>
        </p:spPr>
        <p:txBody>
          <a:bodyPr wrap="square" lIns="36576" rIns="36576" tIns="18288" bIns="18288">
            <a:spAutoFit/>
          </a:bodyPr>
          <a:lstStyle/>
          <a:p>
            <a:r>
              <a:rPr sz="1000" b="1">
                <a:solidFill>
                  <a:srgbClr val="38BDF8"/>
                </a:solidFill>
                <a:latin typeface="Segoe UI Semibold"/>
              </a:rPr>
              <a:t>EVENT</a:t>
            </a:r>
          </a:p>
        </p:txBody>
      </p:sp>
      <p:sp>
        <p:nvSpPr>
          <p:cNvPr id="13" name="Rounded Rectangle 12"/>
          <p:cNvSpPr/>
          <p:nvPr/>
        </p:nvSpPr>
        <p:spPr>
          <a:xfrm>
            <a:off x="548640" y="2240279"/>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240279"/>
            <a:ext cx="91440" cy="310896"/>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267711"/>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15:32:49</a:t>
            </a:r>
          </a:p>
        </p:txBody>
      </p:sp>
      <p:sp>
        <p:nvSpPr>
          <p:cNvPr id="16" name="TextBox 15"/>
          <p:cNvSpPr txBox="1"/>
          <p:nvPr/>
        </p:nvSpPr>
        <p:spPr>
          <a:xfrm>
            <a:off x="2011680" y="2267711"/>
            <a:ext cx="1828800" cy="256032"/>
          </a:xfrm>
          <a:prstGeom prst="rect">
            <a:avLst/>
          </a:prstGeom>
          <a:noFill/>
        </p:spPr>
        <p:txBody>
          <a:bodyPr wrap="square" lIns="36576" rIns="36576" tIns="18288" bIns="18288" anchor="ctr">
            <a:spAutoFit/>
          </a:bodyPr>
          <a:lstStyle/>
          <a:p>
            <a:r>
              <a:rPr sz="1000" b="1">
                <a:solidFill>
                  <a:srgbClr val="38BDF8"/>
                </a:solidFill>
                <a:latin typeface="Segoe UI Semibold"/>
              </a:rPr>
              <a:t>⌨ user</a:t>
            </a:r>
          </a:p>
        </p:txBody>
      </p:sp>
      <p:sp>
        <p:nvSpPr>
          <p:cNvPr id="17" name="TextBox 16"/>
          <p:cNvSpPr txBox="1"/>
          <p:nvPr/>
        </p:nvSpPr>
        <p:spPr>
          <a:xfrm>
            <a:off x="3931920" y="2267711"/>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“let’s do README on a new branch”</a:t>
            </a:r>
          </a:p>
        </p:txBody>
      </p:sp>
      <p:sp>
        <p:nvSpPr>
          <p:cNvPr id="18" name="Rounded Rectangle 17"/>
          <p:cNvSpPr/>
          <p:nvPr/>
        </p:nvSpPr>
        <p:spPr>
          <a:xfrm>
            <a:off x="548640" y="2569463"/>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569463"/>
            <a:ext cx="91440" cy="310896"/>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96895"/>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15:32:49</a:t>
            </a:r>
          </a:p>
        </p:txBody>
      </p:sp>
      <p:sp>
        <p:nvSpPr>
          <p:cNvPr id="21" name="TextBox 20"/>
          <p:cNvSpPr txBox="1"/>
          <p:nvPr/>
        </p:nvSpPr>
        <p:spPr>
          <a:xfrm>
            <a:off x="2011680" y="2596895"/>
            <a:ext cx="1828800" cy="256032"/>
          </a:xfrm>
          <a:prstGeom prst="rect">
            <a:avLst/>
          </a:prstGeom>
          <a:noFill/>
        </p:spPr>
        <p:txBody>
          <a:bodyPr wrap="square" lIns="36576" rIns="36576" tIns="18288" bIns="18288" anchor="ctr">
            <a:spAutoFit/>
          </a:bodyPr>
          <a:lstStyle/>
          <a:p>
            <a:r>
              <a:rPr sz="1000" b="1">
                <a:solidFill>
                  <a:srgbClr val="38BDF8"/>
                </a:solidFill>
                <a:latin typeface="Segoe UI Semibold"/>
              </a:rPr>
              <a:t>◆ coord</a:t>
            </a:r>
          </a:p>
        </p:txBody>
      </p:sp>
      <p:sp>
        <p:nvSpPr>
          <p:cNvPr id="22" name="TextBox 21"/>
          <p:cNvSpPr txBox="1"/>
          <p:nvPr/>
        </p:nvSpPr>
        <p:spPr>
          <a:xfrm>
            <a:off x="3931920" y="2596895"/>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git checkout -b feature/readme-product-description</a:t>
            </a:r>
          </a:p>
        </p:txBody>
      </p:sp>
      <p:sp>
        <p:nvSpPr>
          <p:cNvPr id="23" name="Rounded Rectangle 22"/>
          <p:cNvSpPr/>
          <p:nvPr/>
        </p:nvSpPr>
        <p:spPr>
          <a:xfrm>
            <a:off x="548640" y="2898648"/>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898648"/>
            <a:ext cx="91440" cy="310896"/>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926079"/>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15:33:00</a:t>
            </a:r>
          </a:p>
        </p:txBody>
      </p:sp>
      <p:sp>
        <p:nvSpPr>
          <p:cNvPr id="26" name="TextBox 25"/>
          <p:cNvSpPr txBox="1"/>
          <p:nvPr/>
        </p:nvSpPr>
        <p:spPr>
          <a:xfrm>
            <a:off x="2011680" y="2926079"/>
            <a:ext cx="1828800" cy="256032"/>
          </a:xfrm>
          <a:prstGeom prst="rect">
            <a:avLst/>
          </a:prstGeom>
          <a:noFill/>
        </p:spPr>
        <p:txBody>
          <a:bodyPr wrap="square" lIns="36576" rIns="36576" tIns="18288" bIns="18288" anchor="ctr">
            <a:spAutoFit/>
          </a:bodyPr>
          <a:lstStyle/>
          <a:p>
            <a:r>
              <a:rPr sz="1000" b="1">
                <a:solidFill>
                  <a:srgbClr val="38BDF8"/>
                </a:solidFill>
                <a:latin typeface="Segoe UI Semibold"/>
              </a:rPr>
              <a:t>▶ spawn</a:t>
            </a:r>
          </a:p>
        </p:txBody>
      </p:sp>
      <p:sp>
        <p:nvSpPr>
          <p:cNvPr id="27" name="TextBox 26"/>
          <p:cNvSpPr txBox="1"/>
          <p:nvPr/>
        </p:nvSpPr>
        <p:spPr>
          <a:xfrm>
            <a:off x="3931920" y="2926079"/>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task(name=leela, model=haiku) → leela-2</a:t>
            </a:r>
          </a:p>
        </p:txBody>
      </p:sp>
      <p:sp>
        <p:nvSpPr>
          <p:cNvPr id="28" name="Rounded Rectangle 27"/>
          <p:cNvSpPr/>
          <p:nvPr/>
        </p:nvSpPr>
        <p:spPr>
          <a:xfrm>
            <a:off x="548640" y="3227832"/>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227832"/>
            <a:ext cx="91440" cy="310896"/>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255263"/>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15:35:02</a:t>
            </a:r>
          </a:p>
        </p:txBody>
      </p:sp>
      <p:sp>
        <p:nvSpPr>
          <p:cNvPr id="31" name="TextBox 30"/>
          <p:cNvSpPr txBox="1"/>
          <p:nvPr/>
        </p:nvSpPr>
        <p:spPr>
          <a:xfrm>
            <a:off x="2011680" y="3255263"/>
            <a:ext cx="1828800" cy="256032"/>
          </a:xfrm>
          <a:prstGeom prst="rect">
            <a:avLst/>
          </a:prstGeom>
          <a:noFill/>
        </p:spPr>
        <p:txBody>
          <a:bodyPr wrap="square" lIns="36576" rIns="36576" tIns="18288" bIns="18288" anchor="ctr">
            <a:spAutoFit/>
          </a:bodyPr>
          <a:lstStyle/>
          <a:p>
            <a:r>
              <a:rPr sz="1000" b="1">
                <a:solidFill>
                  <a:srgbClr val="34D399"/>
                </a:solidFill>
                <a:latin typeface="Segoe UI Semibold"/>
              </a:rPr>
              <a:t>✦ feature</a:t>
            </a:r>
          </a:p>
        </p:txBody>
      </p:sp>
      <p:sp>
        <p:nvSpPr>
          <p:cNvPr id="32" name="TextBox 31"/>
          <p:cNvSpPr txBox="1"/>
          <p:nvPr/>
        </p:nvSpPr>
        <p:spPr>
          <a:xfrm>
            <a:off x="3931920" y="3255263"/>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08da75c   + README.md (28 lines)  ← the PR diff</a:t>
            </a:r>
          </a:p>
        </p:txBody>
      </p:sp>
      <p:sp>
        <p:nvSpPr>
          <p:cNvPr id="33" name="Rounded Rectangle 32"/>
          <p:cNvSpPr/>
          <p:nvPr/>
        </p:nvSpPr>
        <p:spPr>
          <a:xfrm>
            <a:off x="548640" y="3557015"/>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3557015"/>
            <a:ext cx="91440" cy="310896"/>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3584447"/>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15:35:18</a:t>
            </a:r>
          </a:p>
        </p:txBody>
      </p:sp>
      <p:sp>
        <p:nvSpPr>
          <p:cNvPr id="36" name="TextBox 35"/>
          <p:cNvSpPr txBox="1"/>
          <p:nvPr/>
        </p:nvSpPr>
        <p:spPr>
          <a:xfrm>
            <a:off x="2011680" y="3584447"/>
            <a:ext cx="1828800" cy="256032"/>
          </a:xfrm>
          <a:prstGeom prst="rect">
            <a:avLst/>
          </a:prstGeom>
          <a:noFill/>
        </p:spPr>
        <p:txBody>
          <a:bodyPr wrap="square" lIns="36576" rIns="36576" tIns="18288" bIns="18288" anchor="ctr">
            <a:spAutoFit/>
          </a:bodyPr>
          <a:lstStyle/>
          <a:p>
            <a:r>
              <a:rPr sz="1000" b="1">
                <a:solidFill>
                  <a:srgbClr val="A78BFA"/>
                </a:solidFill>
                <a:latin typeface="Segoe UI Semibold"/>
              </a:rPr>
              <a:t>▣ state</a:t>
            </a:r>
          </a:p>
        </p:txBody>
      </p:sp>
      <p:sp>
        <p:nvSpPr>
          <p:cNvPr id="37" name="TextBox 36"/>
          <p:cNvSpPr txBox="1"/>
          <p:nvPr/>
        </p:nvSpPr>
        <p:spPr>
          <a:xfrm>
            <a:off x="3931920" y="3584447"/>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51b1966   + decisions/inbox/leela-readme-…md  (22 lines: quote rationale)</a:t>
            </a:r>
          </a:p>
        </p:txBody>
      </p:sp>
      <p:sp>
        <p:nvSpPr>
          <p:cNvPr id="38" name="Rounded Rectangle 37"/>
          <p:cNvSpPr/>
          <p:nvPr/>
        </p:nvSpPr>
        <p:spPr>
          <a:xfrm>
            <a:off x="548640" y="3886200"/>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3886200"/>
            <a:ext cx="91440" cy="310896"/>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3913632"/>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15:35:19</a:t>
            </a:r>
          </a:p>
        </p:txBody>
      </p:sp>
      <p:sp>
        <p:nvSpPr>
          <p:cNvPr id="41" name="TextBox 40"/>
          <p:cNvSpPr txBox="1"/>
          <p:nvPr/>
        </p:nvSpPr>
        <p:spPr>
          <a:xfrm>
            <a:off x="2011680" y="3913632"/>
            <a:ext cx="1828800" cy="256032"/>
          </a:xfrm>
          <a:prstGeom prst="rect">
            <a:avLst/>
          </a:prstGeom>
          <a:noFill/>
        </p:spPr>
        <p:txBody>
          <a:bodyPr wrap="square" lIns="36576" rIns="36576" tIns="18288" bIns="18288" anchor="ctr">
            <a:spAutoFit/>
          </a:bodyPr>
          <a:lstStyle/>
          <a:p>
            <a:r>
              <a:rPr sz="1000" b="1">
                <a:solidFill>
                  <a:srgbClr val="FBBF24"/>
                </a:solidFill>
                <a:latin typeface="Segoe UI Semibold"/>
              </a:rPr>
              <a:t>⧚ note</a:t>
            </a:r>
          </a:p>
        </p:txBody>
      </p:sp>
      <p:sp>
        <p:nvSpPr>
          <p:cNvPr id="42" name="TextBox 41"/>
          <p:cNvSpPr txBox="1"/>
          <p:nvPr/>
        </p:nvSpPr>
        <p:spPr>
          <a:xfrm>
            <a:off x="3931920" y="3913632"/>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4c546e7   refs/notes/squad refreshed</a:t>
            </a:r>
          </a:p>
        </p:txBody>
      </p:sp>
      <p:sp>
        <p:nvSpPr>
          <p:cNvPr id="43" name="Rounded Rectangle 42"/>
          <p:cNvSpPr/>
          <p:nvPr/>
        </p:nvSpPr>
        <p:spPr>
          <a:xfrm>
            <a:off x="548640" y="4215383"/>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4215383"/>
            <a:ext cx="91440" cy="310896"/>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4242816"/>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15:36:45</a:t>
            </a:r>
          </a:p>
        </p:txBody>
      </p:sp>
      <p:sp>
        <p:nvSpPr>
          <p:cNvPr id="46" name="TextBox 45"/>
          <p:cNvSpPr txBox="1"/>
          <p:nvPr/>
        </p:nvSpPr>
        <p:spPr>
          <a:xfrm>
            <a:off x="2011680" y="4242816"/>
            <a:ext cx="1828800" cy="256032"/>
          </a:xfrm>
          <a:prstGeom prst="rect">
            <a:avLst/>
          </a:prstGeom>
          <a:noFill/>
        </p:spPr>
        <p:txBody>
          <a:bodyPr wrap="square" lIns="36576" rIns="36576" tIns="18288" bIns="18288" anchor="ctr">
            <a:spAutoFit/>
          </a:bodyPr>
          <a:lstStyle/>
          <a:p>
            <a:r>
              <a:rPr sz="1000" b="1">
                <a:solidFill>
                  <a:srgbClr val="A78BFA"/>
                </a:solidFill>
                <a:latin typeface="Segoe UI Semibold"/>
              </a:rPr>
              <a:t>▣ state</a:t>
            </a:r>
          </a:p>
        </p:txBody>
      </p:sp>
      <p:sp>
        <p:nvSpPr>
          <p:cNvPr id="47" name="TextBox 46"/>
          <p:cNvSpPr txBox="1"/>
          <p:nvPr/>
        </p:nvSpPr>
        <p:spPr>
          <a:xfrm>
            <a:off x="3931920" y="4242816"/>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ed5d5c0   M decisions.md  (Scribe merged 2 inbox entries)</a:t>
            </a:r>
          </a:p>
        </p:txBody>
      </p:sp>
      <p:sp>
        <p:nvSpPr>
          <p:cNvPr id="48" name="Rounded Rectangle 47"/>
          <p:cNvSpPr/>
          <p:nvPr/>
        </p:nvSpPr>
        <p:spPr>
          <a:xfrm>
            <a:off x="548640" y="4544568"/>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 y="4544568"/>
            <a:ext cx="91440" cy="310896"/>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4572000"/>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15:36:50</a:t>
            </a:r>
          </a:p>
        </p:txBody>
      </p:sp>
      <p:sp>
        <p:nvSpPr>
          <p:cNvPr id="51" name="TextBox 50"/>
          <p:cNvSpPr txBox="1"/>
          <p:nvPr/>
        </p:nvSpPr>
        <p:spPr>
          <a:xfrm>
            <a:off x="2011680" y="4572000"/>
            <a:ext cx="1828800" cy="256032"/>
          </a:xfrm>
          <a:prstGeom prst="rect">
            <a:avLst/>
          </a:prstGeom>
          <a:noFill/>
        </p:spPr>
        <p:txBody>
          <a:bodyPr wrap="square" lIns="36576" rIns="36576" tIns="18288" bIns="18288" anchor="ctr">
            <a:spAutoFit/>
          </a:bodyPr>
          <a:lstStyle/>
          <a:p>
            <a:r>
              <a:rPr sz="1000" b="1">
                <a:solidFill>
                  <a:srgbClr val="A78BFA"/>
                </a:solidFill>
                <a:latin typeface="Segoe UI Semibold"/>
              </a:rPr>
              <a:t>▣ state</a:t>
            </a:r>
          </a:p>
        </p:txBody>
      </p:sp>
      <p:sp>
        <p:nvSpPr>
          <p:cNvPr id="52" name="TextBox 51"/>
          <p:cNvSpPr txBox="1"/>
          <p:nvPr/>
        </p:nvSpPr>
        <p:spPr>
          <a:xfrm>
            <a:off x="3931920" y="4572000"/>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fe7cce0   D decisions/inbox/…leela-readme…  (inbox cleared)</a:t>
            </a:r>
          </a:p>
        </p:txBody>
      </p:sp>
      <p:sp>
        <p:nvSpPr>
          <p:cNvPr id="53" name="Rounded Rectangle 52"/>
          <p:cNvSpPr/>
          <p:nvPr/>
        </p:nvSpPr>
        <p:spPr>
          <a:xfrm>
            <a:off x="548640" y="4873752"/>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48640" y="4873752"/>
            <a:ext cx="91440" cy="310896"/>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901184"/>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15:37:06</a:t>
            </a:r>
          </a:p>
        </p:txBody>
      </p:sp>
      <p:sp>
        <p:nvSpPr>
          <p:cNvPr id="56" name="TextBox 55"/>
          <p:cNvSpPr txBox="1"/>
          <p:nvPr/>
        </p:nvSpPr>
        <p:spPr>
          <a:xfrm>
            <a:off x="2011680" y="4901184"/>
            <a:ext cx="1828800" cy="256032"/>
          </a:xfrm>
          <a:prstGeom prst="rect">
            <a:avLst/>
          </a:prstGeom>
          <a:noFill/>
        </p:spPr>
        <p:txBody>
          <a:bodyPr wrap="square" lIns="36576" rIns="36576" tIns="18288" bIns="18288" anchor="ctr">
            <a:spAutoFit/>
          </a:bodyPr>
          <a:lstStyle/>
          <a:p>
            <a:r>
              <a:rPr sz="1000" b="1">
                <a:solidFill>
                  <a:srgbClr val="A78BFA"/>
                </a:solidFill>
                <a:latin typeface="Segoe UI Semibold"/>
              </a:rPr>
              <a:t>▣ state</a:t>
            </a:r>
          </a:p>
        </p:txBody>
      </p:sp>
      <p:sp>
        <p:nvSpPr>
          <p:cNvPr id="57" name="TextBox 56"/>
          <p:cNvSpPr txBox="1"/>
          <p:nvPr/>
        </p:nvSpPr>
        <p:spPr>
          <a:xfrm>
            <a:off x="3931920" y="4901184"/>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2f8f05a   + orchestration-log/…-leela-2.md  (37 lines: forensic record)</a:t>
            </a:r>
          </a:p>
        </p:txBody>
      </p:sp>
      <p:sp>
        <p:nvSpPr>
          <p:cNvPr id="58" name="Rounded Rectangle 57"/>
          <p:cNvSpPr/>
          <p:nvPr/>
        </p:nvSpPr>
        <p:spPr>
          <a:xfrm>
            <a:off x="548640" y="5202936"/>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48640" y="5202936"/>
            <a:ext cx="91440" cy="310896"/>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5230368"/>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15:37:08</a:t>
            </a:r>
          </a:p>
        </p:txBody>
      </p:sp>
      <p:sp>
        <p:nvSpPr>
          <p:cNvPr id="61" name="TextBox 60"/>
          <p:cNvSpPr txBox="1"/>
          <p:nvPr/>
        </p:nvSpPr>
        <p:spPr>
          <a:xfrm>
            <a:off x="2011680" y="5230368"/>
            <a:ext cx="1828800" cy="256032"/>
          </a:xfrm>
          <a:prstGeom prst="rect">
            <a:avLst/>
          </a:prstGeom>
          <a:noFill/>
        </p:spPr>
        <p:txBody>
          <a:bodyPr wrap="square" lIns="36576" rIns="36576" tIns="18288" bIns="18288" anchor="ctr">
            <a:spAutoFit/>
          </a:bodyPr>
          <a:lstStyle/>
          <a:p>
            <a:r>
              <a:rPr sz="1000" b="1">
                <a:solidFill>
                  <a:srgbClr val="A78BFA"/>
                </a:solidFill>
                <a:latin typeface="Segoe UI Semibold"/>
              </a:rPr>
              <a:t>▣ state</a:t>
            </a:r>
          </a:p>
        </p:txBody>
      </p:sp>
      <p:sp>
        <p:nvSpPr>
          <p:cNvPr id="62" name="TextBox 61"/>
          <p:cNvSpPr txBox="1"/>
          <p:nvPr/>
        </p:nvSpPr>
        <p:spPr>
          <a:xfrm>
            <a:off x="3931920" y="5230368"/>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ba586a4   + log/…-readme-update.md  (session log)</a:t>
            </a:r>
          </a:p>
        </p:txBody>
      </p:sp>
      <p:sp>
        <p:nvSpPr>
          <p:cNvPr id="63" name="Rounded Rectangle 62"/>
          <p:cNvSpPr/>
          <p:nvPr/>
        </p:nvSpPr>
        <p:spPr>
          <a:xfrm>
            <a:off x="548640" y="5532120"/>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48640" y="5532120"/>
            <a:ext cx="91440" cy="310896"/>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5559552"/>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15:37:10</a:t>
            </a:r>
          </a:p>
        </p:txBody>
      </p:sp>
      <p:sp>
        <p:nvSpPr>
          <p:cNvPr id="66" name="TextBox 65"/>
          <p:cNvSpPr txBox="1"/>
          <p:nvPr/>
        </p:nvSpPr>
        <p:spPr>
          <a:xfrm>
            <a:off x="2011680" y="5559552"/>
            <a:ext cx="1828800" cy="256032"/>
          </a:xfrm>
          <a:prstGeom prst="rect">
            <a:avLst/>
          </a:prstGeom>
          <a:noFill/>
        </p:spPr>
        <p:txBody>
          <a:bodyPr wrap="square" lIns="36576" rIns="36576" tIns="18288" bIns="18288" anchor="ctr">
            <a:spAutoFit/>
          </a:bodyPr>
          <a:lstStyle/>
          <a:p>
            <a:r>
              <a:rPr sz="1000" b="1">
                <a:solidFill>
                  <a:srgbClr val="A78BFA"/>
                </a:solidFill>
                <a:latin typeface="Segoe UI Semibold"/>
              </a:rPr>
              <a:t>▣ state</a:t>
            </a:r>
          </a:p>
        </p:txBody>
      </p:sp>
      <p:sp>
        <p:nvSpPr>
          <p:cNvPr id="67" name="TextBox 66"/>
          <p:cNvSpPr txBox="1"/>
          <p:nvPr/>
        </p:nvSpPr>
        <p:spPr>
          <a:xfrm>
            <a:off x="3931920" y="5559552"/>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8661e3a   M agents/leela/history.md  (commit hash recorded)</a:t>
            </a:r>
          </a:p>
        </p:txBody>
      </p:sp>
      <p:sp>
        <p:nvSpPr>
          <p:cNvPr id="68" name="Rounded Rectangle 67"/>
          <p:cNvSpPr/>
          <p:nvPr/>
        </p:nvSpPr>
        <p:spPr>
          <a:xfrm>
            <a:off x="548640" y="5861304"/>
            <a:ext cx="11094415" cy="310896"/>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48640" y="5861304"/>
            <a:ext cx="91440" cy="310896"/>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1520" y="5888736"/>
            <a:ext cx="1188720" cy="256032"/>
          </a:xfrm>
          <a:prstGeom prst="rect">
            <a:avLst/>
          </a:prstGeom>
          <a:noFill/>
        </p:spPr>
        <p:txBody>
          <a:bodyPr wrap="square" lIns="36576" rIns="36576" tIns="18288" bIns="18288" anchor="ctr">
            <a:spAutoFit/>
          </a:bodyPr>
          <a:lstStyle/>
          <a:p>
            <a:r>
              <a:rPr sz="1000" b="0">
                <a:solidFill>
                  <a:srgbClr val="94A3B8"/>
                </a:solidFill>
                <a:latin typeface="Consolas"/>
              </a:rPr>
              <a:t>15:37:11</a:t>
            </a:r>
          </a:p>
        </p:txBody>
      </p:sp>
      <p:sp>
        <p:nvSpPr>
          <p:cNvPr id="71" name="TextBox 70"/>
          <p:cNvSpPr txBox="1"/>
          <p:nvPr/>
        </p:nvSpPr>
        <p:spPr>
          <a:xfrm>
            <a:off x="2011680" y="5888736"/>
            <a:ext cx="1828800" cy="256032"/>
          </a:xfrm>
          <a:prstGeom prst="rect">
            <a:avLst/>
          </a:prstGeom>
          <a:noFill/>
        </p:spPr>
        <p:txBody>
          <a:bodyPr wrap="square" lIns="36576" rIns="36576" tIns="18288" bIns="18288" anchor="ctr">
            <a:spAutoFit/>
          </a:bodyPr>
          <a:lstStyle/>
          <a:p>
            <a:r>
              <a:rPr sz="1000" b="1">
                <a:solidFill>
                  <a:srgbClr val="FBBF24"/>
                </a:solidFill>
                <a:latin typeface="Segoe UI Semibold"/>
              </a:rPr>
              <a:t>⧚ note</a:t>
            </a:r>
          </a:p>
        </p:txBody>
      </p:sp>
      <p:sp>
        <p:nvSpPr>
          <p:cNvPr id="72" name="TextBox 71"/>
          <p:cNvSpPr txBox="1"/>
          <p:nvPr/>
        </p:nvSpPr>
        <p:spPr>
          <a:xfrm>
            <a:off x="3931920" y="5888736"/>
            <a:ext cx="7528255" cy="256032"/>
          </a:xfrm>
          <a:prstGeom prst="rect">
            <a:avLst/>
          </a:prstGeom>
          <a:noFill/>
        </p:spPr>
        <p:txBody>
          <a:bodyPr wrap="square" lIns="36576" rIns="36576" tIns="18288" bIns="18288" anchor="ctr">
            <a:spAutoFit/>
          </a:bodyPr>
          <a:lstStyle/>
          <a:p>
            <a:r>
              <a:rPr sz="1000" b="0">
                <a:solidFill>
                  <a:srgbClr val="F8FAFC"/>
                </a:solidFill>
                <a:latin typeface="Consolas"/>
              </a:rPr>
              <a:t>● 2f21e96   ← final snapshot of this work item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28</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WHAT LANDED WHERE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One human-readable PR — 14 invisible commits backing it up</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PR reviewer sees 1 file, 28 lines. The team’s memory has 7 state commits + 7 note refreshes — recoverable forever, never in the PR.</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files/two-layer-walkthrough.md  •  git show 08da75c • git log squad-state • git notes --ref=squad list</a:t>
            </a:r>
          </a:p>
        </p:txBody>
      </p:sp>
      <p:sp>
        <p:nvSpPr>
          <p:cNvPr id="9" name="Rounded Rectangle 8"/>
          <p:cNvSpPr/>
          <p:nvPr/>
        </p:nvSpPr>
        <p:spPr>
          <a:xfrm>
            <a:off x="548640" y="1874519"/>
            <a:ext cx="3576218"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3576218"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11679"/>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2" name="TextBox 11"/>
          <p:cNvSpPr txBox="1"/>
          <p:nvPr/>
        </p:nvSpPr>
        <p:spPr>
          <a:xfrm>
            <a:off x="1234440" y="2011679"/>
            <a:ext cx="2798978" cy="411480"/>
          </a:xfrm>
          <a:prstGeom prst="rect">
            <a:avLst/>
          </a:prstGeom>
          <a:noFill/>
        </p:spPr>
        <p:txBody>
          <a:bodyPr wrap="square" lIns="36576" rIns="36576" tIns="18288" bIns="18288" anchor="ctr">
            <a:spAutoFit/>
          </a:bodyPr>
          <a:lstStyle/>
          <a:p>
            <a:r>
              <a:rPr sz="1500" b="1">
                <a:solidFill>
                  <a:srgbClr val="F8FAFC"/>
                </a:solidFill>
                <a:latin typeface="Consolas"/>
              </a:rPr>
              <a:t>feature branch</a:t>
            </a:r>
          </a:p>
        </p:txBody>
      </p:sp>
      <p:sp>
        <p:nvSpPr>
          <p:cNvPr id="13" name="TextBox 12"/>
          <p:cNvSpPr txBox="1"/>
          <p:nvPr/>
        </p:nvSpPr>
        <p:spPr>
          <a:xfrm>
            <a:off x="685800" y="2468879"/>
            <a:ext cx="3301898" cy="274320"/>
          </a:xfrm>
          <a:prstGeom prst="rect">
            <a:avLst/>
          </a:prstGeom>
          <a:noFill/>
        </p:spPr>
        <p:txBody>
          <a:bodyPr wrap="square" lIns="36576" rIns="36576" tIns="18288" bIns="18288">
            <a:spAutoFit/>
          </a:bodyPr>
          <a:lstStyle/>
          <a:p>
            <a:r>
              <a:rPr sz="1100" b="1">
                <a:solidFill>
                  <a:srgbClr val="34D399"/>
                </a:solidFill>
                <a:latin typeface="Segoe UI Semibold"/>
              </a:rPr>
              <a:t>1 commit  /  1 file  /  28 lines</a:t>
            </a:r>
          </a:p>
        </p:txBody>
      </p:sp>
      <p:sp>
        <p:nvSpPr>
          <p:cNvPr id="14" name="TextBox 13"/>
          <p:cNvSpPr txBox="1"/>
          <p:nvPr/>
        </p:nvSpPr>
        <p:spPr>
          <a:xfrm>
            <a:off x="685800" y="2834639"/>
            <a:ext cx="868680" cy="292608"/>
          </a:xfrm>
          <a:prstGeom prst="rect">
            <a:avLst/>
          </a:prstGeom>
          <a:noFill/>
        </p:spPr>
        <p:txBody>
          <a:bodyPr wrap="square" lIns="36576" rIns="36576" tIns="18288" bIns="18288">
            <a:spAutoFit/>
          </a:bodyPr>
          <a:lstStyle/>
          <a:p>
            <a:r>
              <a:rPr sz="1000" b="1">
                <a:solidFill>
                  <a:srgbClr val="34D399"/>
                </a:solidFill>
                <a:latin typeface="Consolas"/>
              </a:rPr>
              <a:t>08da75c</a:t>
            </a:r>
          </a:p>
        </p:txBody>
      </p:sp>
      <p:sp>
        <p:nvSpPr>
          <p:cNvPr id="15" name="TextBox 14"/>
          <p:cNvSpPr txBox="1"/>
          <p:nvPr/>
        </p:nvSpPr>
        <p:spPr>
          <a:xfrm>
            <a:off x="1554480" y="2834639"/>
            <a:ext cx="2433218" cy="292608"/>
          </a:xfrm>
          <a:prstGeom prst="rect">
            <a:avLst/>
          </a:prstGeom>
          <a:noFill/>
        </p:spPr>
        <p:txBody>
          <a:bodyPr wrap="square" lIns="36576" rIns="36576" tIns="18288" bIns="18288">
            <a:spAutoFit/>
          </a:bodyPr>
          <a:lstStyle/>
          <a:p>
            <a:r>
              <a:rPr sz="1000" b="0">
                <a:solidFill>
                  <a:srgbClr val="CBD5E1"/>
                </a:solidFill>
                <a:latin typeface="Consolas"/>
              </a:rPr>
              <a:t>+ README.md  (28 lines)</a:t>
            </a:r>
          </a:p>
        </p:txBody>
      </p:sp>
      <p:sp>
        <p:nvSpPr>
          <p:cNvPr id="16" name="TextBox 15"/>
          <p:cNvSpPr txBox="1"/>
          <p:nvPr/>
        </p:nvSpPr>
        <p:spPr>
          <a:xfrm>
            <a:off x="685800" y="3200399"/>
            <a:ext cx="3301898" cy="292608"/>
          </a:xfrm>
          <a:prstGeom prst="rect">
            <a:avLst/>
          </a:prstGeom>
          <a:noFill/>
        </p:spPr>
        <p:txBody>
          <a:bodyPr wrap="square" lIns="36576" rIns="36576" tIns="18288" bIns="18288">
            <a:spAutoFit/>
          </a:bodyPr>
          <a:lstStyle/>
          <a:p>
            <a:r>
              <a:rPr sz="1000" b="0">
                <a:solidFill>
                  <a:srgbClr val="F8FAFC"/>
                </a:solidFill>
                <a:latin typeface="Consolas"/>
              </a:rPr>
              <a:t>title • quote • description</a:t>
            </a:r>
          </a:p>
        </p:txBody>
      </p:sp>
      <p:sp>
        <p:nvSpPr>
          <p:cNvPr id="17" name="TextBox 16"/>
          <p:cNvSpPr txBox="1"/>
          <p:nvPr/>
        </p:nvSpPr>
        <p:spPr>
          <a:xfrm>
            <a:off x="685800" y="3566159"/>
            <a:ext cx="3301898" cy="292608"/>
          </a:xfrm>
          <a:prstGeom prst="rect">
            <a:avLst/>
          </a:prstGeom>
          <a:noFill/>
        </p:spPr>
        <p:txBody>
          <a:bodyPr wrap="square" lIns="36576" rIns="36576" tIns="18288" bIns="18288">
            <a:spAutoFit/>
          </a:bodyPr>
          <a:lstStyle/>
          <a:p>
            <a:r>
              <a:rPr sz="1000" b="0">
                <a:solidFill>
                  <a:srgbClr val="F8FAFC"/>
                </a:solidFill>
                <a:latin typeface="Consolas"/>
              </a:rPr>
              <a:t>platforms • status • features</a:t>
            </a:r>
          </a:p>
        </p:txBody>
      </p:sp>
      <p:sp>
        <p:nvSpPr>
          <p:cNvPr id="18" name="TextBox 17"/>
          <p:cNvSpPr txBox="1"/>
          <p:nvPr/>
        </p:nvSpPr>
        <p:spPr>
          <a:xfrm>
            <a:off x="685800" y="3931920"/>
            <a:ext cx="3301898" cy="292608"/>
          </a:xfrm>
          <a:prstGeom prst="rect">
            <a:avLst/>
          </a:prstGeom>
          <a:noFill/>
        </p:spPr>
        <p:txBody>
          <a:bodyPr wrap="square" lIns="36576" rIns="36576" tIns="18288" bIns="18288">
            <a:spAutoFit/>
          </a:bodyPr>
          <a:lstStyle/>
          <a:p>
            <a:r>
              <a:rPr sz="1000" b="0">
                <a:solidFill>
                  <a:srgbClr val="F8FAFC"/>
                </a:solidFill>
                <a:latin typeface="Consolas"/>
              </a:rPr>
              <a:t>footer</a:t>
            </a:r>
          </a:p>
        </p:txBody>
      </p:sp>
      <p:sp>
        <p:nvSpPr>
          <p:cNvPr id="19" name="TextBox 18"/>
          <p:cNvSpPr txBox="1"/>
          <p:nvPr/>
        </p:nvSpPr>
        <p:spPr>
          <a:xfrm>
            <a:off x="685800" y="4297679"/>
            <a:ext cx="3301898" cy="292608"/>
          </a:xfrm>
          <a:prstGeom prst="rect">
            <a:avLst/>
          </a:prstGeom>
          <a:noFill/>
        </p:spPr>
        <p:txBody>
          <a:bodyPr wrap="square" lIns="36576" rIns="36576" tIns="18288" bIns="18288">
            <a:spAutoFit/>
          </a:bodyPr>
          <a:lstStyle/>
          <a:p>
            <a:r>
              <a:rPr sz="1000" b="0">
                <a:solidFill>
                  <a:srgbClr val="F8FAFC"/>
                </a:solidFill>
                <a:latin typeface="Consolas"/>
              </a:rPr>
              <a:t/>
            </a:r>
          </a:p>
        </p:txBody>
      </p:sp>
      <p:sp>
        <p:nvSpPr>
          <p:cNvPr id="20" name="TextBox 19"/>
          <p:cNvSpPr txBox="1"/>
          <p:nvPr/>
        </p:nvSpPr>
        <p:spPr>
          <a:xfrm>
            <a:off x="685800" y="4663440"/>
            <a:ext cx="3301898" cy="292608"/>
          </a:xfrm>
          <a:prstGeom prst="rect">
            <a:avLst/>
          </a:prstGeom>
          <a:noFill/>
        </p:spPr>
        <p:txBody>
          <a:bodyPr wrap="square" lIns="36576" rIns="36576" tIns="18288" bIns="18288">
            <a:spAutoFit/>
          </a:bodyPr>
          <a:lstStyle/>
          <a:p>
            <a:r>
              <a:rPr sz="1000" b="0">
                <a:solidFill>
                  <a:srgbClr val="F8FAFC"/>
                </a:solidFill>
                <a:latin typeface="Consolas"/>
              </a:rPr>
              <a:t>← the only thing a code reviewer sees</a:t>
            </a:r>
          </a:p>
        </p:txBody>
      </p:sp>
      <p:sp>
        <p:nvSpPr>
          <p:cNvPr id="21" name="Rounded Rectangle 20"/>
          <p:cNvSpPr/>
          <p:nvPr/>
        </p:nvSpPr>
        <p:spPr>
          <a:xfrm>
            <a:off x="4307738" y="1874519"/>
            <a:ext cx="3576218"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7738" y="1874519"/>
            <a:ext cx="3576218"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4898" y="2011679"/>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24" name="TextBox 23"/>
          <p:cNvSpPr txBox="1"/>
          <p:nvPr/>
        </p:nvSpPr>
        <p:spPr>
          <a:xfrm>
            <a:off x="4993538" y="2011679"/>
            <a:ext cx="2798978" cy="411480"/>
          </a:xfrm>
          <a:prstGeom prst="rect">
            <a:avLst/>
          </a:prstGeom>
          <a:noFill/>
        </p:spPr>
        <p:txBody>
          <a:bodyPr wrap="square" lIns="36576" rIns="36576" tIns="18288" bIns="18288" anchor="ctr">
            <a:spAutoFit/>
          </a:bodyPr>
          <a:lstStyle/>
          <a:p>
            <a:r>
              <a:rPr sz="1500" b="1">
                <a:solidFill>
                  <a:srgbClr val="F8FAFC"/>
                </a:solidFill>
                <a:latin typeface="Consolas"/>
              </a:rPr>
              <a:t>squad-state (orphan)</a:t>
            </a:r>
          </a:p>
        </p:txBody>
      </p:sp>
      <p:sp>
        <p:nvSpPr>
          <p:cNvPr id="25" name="TextBox 24"/>
          <p:cNvSpPr txBox="1"/>
          <p:nvPr/>
        </p:nvSpPr>
        <p:spPr>
          <a:xfrm>
            <a:off x="4444898" y="2468879"/>
            <a:ext cx="3301898" cy="274320"/>
          </a:xfrm>
          <a:prstGeom prst="rect">
            <a:avLst/>
          </a:prstGeom>
          <a:noFill/>
        </p:spPr>
        <p:txBody>
          <a:bodyPr wrap="square" lIns="36576" rIns="36576" tIns="18288" bIns="18288">
            <a:spAutoFit/>
          </a:bodyPr>
          <a:lstStyle/>
          <a:p>
            <a:r>
              <a:rPr sz="1100" b="1">
                <a:solidFill>
                  <a:srgbClr val="A78BFA"/>
                </a:solidFill>
                <a:latin typeface="Segoe UI Semibold"/>
              </a:rPr>
              <a:t>7 commits, invisible in the PR</a:t>
            </a:r>
          </a:p>
        </p:txBody>
      </p:sp>
      <p:sp>
        <p:nvSpPr>
          <p:cNvPr id="26" name="TextBox 25"/>
          <p:cNvSpPr txBox="1"/>
          <p:nvPr/>
        </p:nvSpPr>
        <p:spPr>
          <a:xfrm>
            <a:off x="4444898" y="2834639"/>
            <a:ext cx="868680" cy="292608"/>
          </a:xfrm>
          <a:prstGeom prst="rect">
            <a:avLst/>
          </a:prstGeom>
          <a:noFill/>
        </p:spPr>
        <p:txBody>
          <a:bodyPr wrap="square" lIns="36576" rIns="36576" tIns="18288" bIns="18288">
            <a:spAutoFit/>
          </a:bodyPr>
          <a:lstStyle/>
          <a:p>
            <a:r>
              <a:rPr sz="1000" b="1">
                <a:solidFill>
                  <a:srgbClr val="A78BFA"/>
                </a:solidFill>
                <a:latin typeface="Consolas"/>
              </a:rPr>
              <a:t>51b1966</a:t>
            </a:r>
          </a:p>
        </p:txBody>
      </p:sp>
      <p:sp>
        <p:nvSpPr>
          <p:cNvPr id="27" name="TextBox 26"/>
          <p:cNvSpPr txBox="1"/>
          <p:nvPr/>
        </p:nvSpPr>
        <p:spPr>
          <a:xfrm>
            <a:off x="5313578" y="2834639"/>
            <a:ext cx="2433218" cy="292608"/>
          </a:xfrm>
          <a:prstGeom prst="rect">
            <a:avLst/>
          </a:prstGeom>
          <a:noFill/>
        </p:spPr>
        <p:txBody>
          <a:bodyPr wrap="square" lIns="36576" rIns="36576" tIns="18288" bIns="18288">
            <a:spAutoFit/>
          </a:bodyPr>
          <a:lstStyle/>
          <a:p>
            <a:r>
              <a:rPr sz="1000" b="0">
                <a:solidFill>
                  <a:srgbClr val="CBD5E1"/>
                </a:solidFill>
                <a:latin typeface="Consolas"/>
              </a:rPr>
              <a:t>+ inbox/leela-readme-…md  (rationale)</a:t>
            </a:r>
          </a:p>
        </p:txBody>
      </p:sp>
      <p:sp>
        <p:nvSpPr>
          <p:cNvPr id="28" name="TextBox 27"/>
          <p:cNvSpPr txBox="1"/>
          <p:nvPr/>
        </p:nvSpPr>
        <p:spPr>
          <a:xfrm>
            <a:off x="4444898" y="3200399"/>
            <a:ext cx="868680" cy="292608"/>
          </a:xfrm>
          <a:prstGeom prst="rect">
            <a:avLst/>
          </a:prstGeom>
          <a:noFill/>
        </p:spPr>
        <p:txBody>
          <a:bodyPr wrap="square" lIns="36576" rIns="36576" tIns="18288" bIns="18288">
            <a:spAutoFit/>
          </a:bodyPr>
          <a:lstStyle/>
          <a:p>
            <a:r>
              <a:rPr sz="1000" b="1">
                <a:solidFill>
                  <a:srgbClr val="A78BFA"/>
                </a:solidFill>
                <a:latin typeface="Consolas"/>
              </a:rPr>
              <a:t>ed5d5c0</a:t>
            </a:r>
          </a:p>
        </p:txBody>
      </p:sp>
      <p:sp>
        <p:nvSpPr>
          <p:cNvPr id="29" name="TextBox 28"/>
          <p:cNvSpPr txBox="1"/>
          <p:nvPr/>
        </p:nvSpPr>
        <p:spPr>
          <a:xfrm>
            <a:off x="5313578" y="3200399"/>
            <a:ext cx="2433218" cy="292608"/>
          </a:xfrm>
          <a:prstGeom prst="rect">
            <a:avLst/>
          </a:prstGeom>
          <a:noFill/>
        </p:spPr>
        <p:txBody>
          <a:bodyPr wrap="square" lIns="36576" rIns="36576" tIns="18288" bIns="18288">
            <a:spAutoFit/>
          </a:bodyPr>
          <a:lstStyle/>
          <a:p>
            <a:r>
              <a:rPr sz="1000" b="0">
                <a:solidFill>
                  <a:srgbClr val="CBD5E1"/>
                </a:solidFill>
                <a:latin typeface="Consolas"/>
              </a:rPr>
              <a:t>M decisions.md  (Scribe merged 2)</a:t>
            </a:r>
          </a:p>
        </p:txBody>
      </p:sp>
      <p:sp>
        <p:nvSpPr>
          <p:cNvPr id="30" name="TextBox 29"/>
          <p:cNvSpPr txBox="1"/>
          <p:nvPr/>
        </p:nvSpPr>
        <p:spPr>
          <a:xfrm>
            <a:off x="4444898" y="3566159"/>
            <a:ext cx="868680" cy="292608"/>
          </a:xfrm>
          <a:prstGeom prst="rect">
            <a:avLst/>
          </a:prstGeom>
          <a:noFill/>
        </p:spPr>
        <p:txBody>
          <a:bodyPr wrap="square" lIns="36576" rIns="36576" tIns="18288" bIns="18288">
            <a:spAutoFit/>
          </a:bodyPr>
          <a:lstStyle/>
          <a:p>
            <a:r>
              <a:rPr sz="1000" b="1">
                <a:solidFill>
                  <a:srgbClr val="A78BFA"/>
                </a:solidFill>
                <a:latin typeface="Consolas"/>
              </a:rPr>
              <a:t>58b61bd</a:t>
            </a:r>
          </a:p>
        </p:txBody>
      </p:sp>
      <p:sp>
        <p:nvSpPr>
          <p:cNvPr id="31" name="TextBox 30"/>
          <p:cNvSpPr txBox="1"/>
          <p:nvPr/>
        </p:nvSpPr>
        <p:spPr>
          <a:xfrm>
            <a:off x="5313578" y="3566159"/>
            <a:ext cx="2433218" cy="292608"/>
          </a:xfrm>
          <a:prstGeom prst="rect">
            <a:avLst/>
          </a:prstGeom>
          <a:noFill/>
        </p:spPr>
        <p:txBody>
          <a:bodyPr wrap="square" lIns="36576" rIns="36576" tIns="18288" bIns="18288">
            <a:spAutoFit/>
          </a:bodyPr>
          <a:lstStyle/>
          <a:p>
            <a:r>
              <a:rPr sz="1000" b="0">
                <a:solidFill>
                  <a:srgbClr val="CBD5E1"/>
                </a:solidFill>
                <a:latin typeface="Consolas"/>
              </a:rPr>
              <a:t>D inbox/…copilot-directive…</a:t>
            </a:r>
          </a:p>
        </p:txBody>
      </p:sp>
      <p:sp>
        <p:nvSpPr>
          <p:cNvPr id="32" name="TextBox 31"/>
          <p:cNvSpPr txBox="1"/>
          <p:nvPr/>
        </p:nvSpPr>
        <p:spPr>
          <a:xfrm>
            <a:off x="4444898" y="3931920"/>
            <a:ext cx="868680" cy="292608"/>
          </a:xfrm>
          <a:prstGeom prst="rect">
            <a:avLst/>
          </a:prstGeom>
          <a:noFill/>
        </p:spPr>
        <p:txBody>
          <a:bodyPr wrap="square" lIns="36576" rIns="36576" tIns="18288" bIns="18288">
            <a:spAutoFit/>
          </a:bodyPr>
          <a:lstStyle/>
          <a:p>
            <a:r>
              <a:rPr sz="1000" b="1">
                <a:solidFill>
                  <a:srgbClr val="A78BFA"/>
                </a:solidFill>
                <a:latin typeface="Consolas"/>
              </a:rPr>
              <a:t>fe7cce0</a:t>
            </a:r>
          </a:p>
        </p:txBody>
      </p:sp>
      <p:sp>
        <p:nvSpPr>
          <p:cNvPr id="33" name="TextBox 32"/>
          <p:cNvSpPr txBox="1"/>
          <p:nvPr/>
        </p:nvSpPr>
        <p:spPr>
          <a:xfrm>
            <a:off x="5313578" y="3931920"/>
            <a:ext cx="2433218" cy="292608"/>
          </a:xfrm>
          <a:prstGeom prst="rect">
            <a:avLst/>
          </a:prstGeom>
          <a:noFill/>
        </p:spPr>
        <p:txBody>
          <a:bodyPr wrap="square" lIns="36576" rIns="36576" tIns="18288" bIns="18288">
            <a:spAutoFit/>
          </a:bodyPr>
          <a:lstStyle/>
          <a:p>
            <a:r>
              <a:rPr sz="1000" b="0">
                <a:solidFill>
                  <a:srgbClr val="CBD5E1"/>
                </a:solidFill>
                <a:latin typeface="Consolas"/>
              </a:rPr>
              <a:t>D inbox/…leela-readme…</a:t>
            </a:r>
          </a:p>
        </p:txBody>
      </p:sp>
      <p:sp>
        <p:nvSpPr>
          <p:cNvPr id="34" name="TextBox 33"/>
          <p:cNvSpPr txBox="1"/>
          <p:nvPr/>
        </p:nvSpPr>
        <p:spPr>
          <a:xfrm>
            <a:off x="4444898" y="4297679"/>
            <a:ext cx="868680" cy="292608"/>
          </a:xfrm>
          <a:prstGeom prst="rect">
            <a:avLst/>
          </a:prstGeom>
          <a:noFill/>
        </p:spPr>
        <p:txBody>
          <a:bodyPr wrap="square" lIns="36576" rIns="36576" tIns="18288" bIns="18288">
            <a:spAutoFit/>
          </a:bodyPr>
          <a:lstStyle/>
          <a:p>
            <a:r>
              <a:rPr sz="1000" b="1">
                <a:solidFill>
                  <a:srgbClr val="A78BFA"/>
                </a:solidFill>
                <a:latin typeface="Consolas"/>
              </a:rPr>
              <a:t>2f8f05a</a:t>
            </a:r>
          </a:p>
        </p:txBody>
      </p:sp>
      <p:sp>
        <p:nvSpPr>
          <p:cNvPr id="35" name="TextBox 34"/>
          <p:cNvSpPr txBox="1"/>
          <p:nvPr/>
        </p:nvSpPr>
        <p:spPr>
          <a:xfrm>
            <a:off x="5313578" y="4297679"/>
            <a:ext cx="2433218" cy="292608"/>
          </a:xfrm>
          <a:prstGeom prst="rect">
            <a:avLst/>
          </a:prstGeom>
          <a:noFill/>
        </p:spPr>
        <p:txBody>
          <a:bodyPr wrap="square" lIns="36576" rIns="36576" tIns="18288" bIns="18288">
            <a:spAutoFit/>
          </a:bodyPr>
          <a:lstStyle/>
          <a:p>
            <a:r>
              <a:rPr sz="1000" b="0">
                <a:solidFill>
                  <a:srgbClr val="CBD5E1"/>
                </a:solidFill>
                <a:latin typeface="Consolas"/>
              </a:rPr>
              <a:t>+ orchestration-log/…leela-2.md</a:t>
            </a:r>
          </a:p>
        </p:txBody>
      </p:sp>
      <p:sp>
        <p:nvSpPr>
          <p:cNvPr id="36" name="TextBox 35"/>
          <p:cNvSpPr txBox="1"/>
          <p:nvPr/>
        </p:nvSpPr>
        <p:spPr>
          <a:xfrm>
            <a:off x="4444898" y="4663440"/>
            <a:ext cx="868680" cy="292608"/>
          </a:xfrm>
          <a:prstGeom prst="rect">
            <a:avLst/>
          </a:prstGeom>
          <a:noFill/>
        </p:spPr>
        <p:txBody>
          <a:bodyPr wrap="square" lIns="36576" rIns="36576" tIns="18288" bIns="18288">
            <a:spAutoFit/>
          </a:bodyPr>
          <a:lstStyle/>
          <a:p>
            <a:r>
              <a:rPr sz="1000" b="1">
                <a:solidFill>
                  <a:srgbClr val="A78BFA"/>
                </a:solidFill>
                <a:latin typeface="Consolas"/>
              </a:rPr>
              <a:t>ba586a4</a:t>
            </a:r>
          </a:p>
        </p:txBody>
      </p:sp>
      <p:sp>
        <p:nvSpPr>
          <p:cNvPr id="37" name="TextBox 36"/>
          <p:cNvSpPr txBox="1"/>
          <p:nvPr/>
        </p:nvSpPr>
        <p:spPr>
          <a:xfrm>
            <a:off x="5313578" y="4663440"/>
            <a:ext cx="2433218" cy="292608"/>
          </a:xfrm>
          <a:prstGeom prst="rect">
            <a:avLst/>
          </a:prstGeom>
          <a:noFill/>
        </p:spPr>
        <p:txBody>
          <a:bodyPr wrap="square" lIns="36576" rIns="36576" tIns="18288" bIns="18288">
            <a:spAutoFit/>
          </a:bodyPr>
          <a:lstStyle/>
          <a:p>
            <a:r>
              <a:rPr sz="1000" b="0">
                <a:solidFill>
                  <a:srgbClr val="CBD5E1"/>
                </a:solidFill>
                <a:latin typeface="Consolas"/>
              </a:rPr>
              <a:t>+ log/…readme-update.md</a:t>
            </a:r>
          </a:p>
        </p:txBody>
      </p:sp>
      <p:sp>
        <p:nvSpPr>
          <p:cNvPr id="38" name="TextBox 37"/>
          <p:cNvSpPr txBox="1"/>
          <p:nvPr/>
        </p:nvSpPr>
        <p:spPr>
          <a:xfrm>
            <a:off x="4444898" y="5029200"/>
            <a:ext cx="868680" cy="292608"/>
          </a:xfrm>
          <a:prstGeom prst="rect">
            <a:avLst/>
          </a:prstGeom>
          <a:noFill/>
        </p:spPr>
        <p:txBody>
          <a:bodyPr wrap="square" lIns="36576" rIns="36576" tIns="18288" bIns="18288">
            <a:spAutoFit/>
          </a:bodyPr>
          <a:lstStyle/>
          <a:p>
            <a:r>
              <a:rPr sz="1000" b="1">
                <a:solidFill>
                  <a:srgbClr val="A78BFA"/>
                </a:solidFill>
                <a:latin typeface="Consolas"/>
              </a:rPr>
              <a:t>8661e3a</a:t>
            </a:r>
          </a:p>
        </p:txBody>
      </p:sp>
      <p:sp>
        <p:nvSpPr>
          <p:cNvPr id="39" name="TextBox 38"/>
          <p:cNvSpPr txBox="1"/>
          <p:nvPr/>
        </p:nvSpPr>
        <p:spPr>
          <a:xfrm>
            <a:off x="5313578" y="5029200"/>
            <a:ext cx="2433218" cy="292608"/>
          </a:xfrm>
          <a:prstGeom prst="rect">
            <a:avLst/>
          </a:prstGeom>
          <a:noFill/>
        </p:spPr>
        <p:txBody>
          <a:bodyPr wrap="square" lIns="36576" rIns="36576" tIns="18288" bIns="18288">
            <a:spAutoFit/>
          </a:bodyPr>
          <a:lstStyle/>
          <a:p>
            <a:r>
              <a:rPr sz="1000" b="0">
                <a:solidFill>
                  <a:srgbClr val="CBD5E1"/>
                </a:solidFill>
                <a:latin typeface="Consolas"/>
              </a:rPr>
              <a:t>M agents/leela/history.md</a:t>
            </a:r>
          </a:p>
        </p:txBody>
      </p:sp>
      <p:sp>
        <p:nvSpPr>
          <p:cNvPr id="40" name="Rounded Rectangle 39"/>
          <p:cNvSpPr/>
          <p:nvPr/>
        </p:nvSpPr>
        <p:spPr>
          <a:xfrm>
            <a:off x="8066836" y="1874519"/>
            <a:ext cx="3576218"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66836" y="1874519"/>
            <a:ext cx="3576218"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03996" y="2011679"/>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43" name="TextBox 42"/>
          <p:cNvSpPr txBox="1"/>
          <p:nvPr/>
        </p:nvSpPr>
        <p:spPr>
          <a:xfrm>
            <a:off x="8752636" y="2011679"/>
            <a:ext cx="2798978" cy="411480"/>
          </a:xfrm>
          <a:prstGeom prst="rect">
            <a:avLst/>
          </a:prstGeom>
          <a:noFill/>
        </p:spPr>
        <p:txBody>
          <a:bodyPr wrap="square" lIns="36576" rIns="36576" tIns="18288" bIns="18288" anchor="ctr">
            <a:spAutoFit/>
          </a:bodyPr>
          <a:lstStyle/>
          <a:p>
            <a:r>
              <a:rPr sz="1500" b="1">
                <a:solidFill>
                  <a:srgbClr val="F8FAFC"/>
                </a:solidFill>
                <a:latin typeface="Consolas"/>
              </a:rPr>
              <a:t>refs/notes/squad</a:t>
            </a:r>
          </a:p>
        </p:txBody>
      </p:sp>
      <p:sp>
        <p:nvSpPr>
          <p:cNvPr id="44" name="TextBox 43"/>
          <p:cNvSpPr txBox="1"/>
          <p:nvPr/>
        </p:nvSpPr>
        <p:spPr>
          <a:xfrm>
            <a:off x="8203996" y="2468879"/>
            <a:ext cx="3301898" cy="274320"/>
          </a:xfrm>
          <a:prstGeom prst="rect">
            <a:avLst/>
          </a:prstGeom>
          <a:noFill/>
        </p:spPr>
        <p:txBody>
          <a:bodyPr wrap="square" lIns="36576" rIns="36576" tIns="18288" bIns="18288">
            <a:spAutoFit/>
          </a:bodyPr>
          <a:lstStyle/>
          <a:p>
            <a:r>
              <a:rPr sz="1100" b="1">
                <a:solidFill>
                  <a:srgbClr val="FBBF24"/>
                </a:solidFill>
                <a:latin typeface="Segoe UI Semibold"/>
              </a:rPr>
              <a:t>7 refreshes, one note object</a:t>
            </a:r>
          </a:p>
        </p:txBody>
      </p:sp>
      <p:sp>
        <p:nvSpPr>
          <p:cNvPr id="45" name="TextBox 44"/>
          <p:cNvSpPr txBox="1"/>
          <p:nvPr/>
        </p:nvSpPr>
        <p:spPr>
          <a:xfrm>
            <a:off x="8203996" y="2834639"/>
            <a:ext cx="868680" cy="292608"/>
          </a:xfrm>
          <a:prstGeom prst="rect">
            <a:avLst/>
          </a:prstGeom>
          <a:noFill/>
        </p:spPr>
        <p:txBody>
          <a:bodyPr wrap="square" lIns="36576" rIns="36576" tIns="18288" bIns="18288">
            <a:spAutoFit/>
          </a:bodyPr>
          <a:lstStyle/>
          <a:p>
            <a:r>
              <a:rPr sz="1000" b="1">
                <a:solidFill>
                  <a:srgbClr val="FBBF24"/>
                </a:solidFill>
                <a:latin typeface="Consolas"/>
              </a:rPr>
              <a:t>2f21e96</a:t>
            </a:r>
          </a:p>
        </p:txBody>
      </p:sp>
      <p:sp>
        <p:nvSpPr>
          <p:cNvPr id="46" name="TextBox 45"/>
          <p:cNvSpPr txBox="1"/>
          <p:nvPr/>
        </p:nvSpPr>
        <p:spPr>
          <a:xfrm>
            <a:off x="9072676" y="2834639"/>
            <a:ext cx="2433218" cy="292608"/>
          </a:xfrm>
          <a:prstGeom prst="rect">
            <a:avLst/>
          </a:prstGeom>
          <a:noFill/>
        </p:spPr>
        <p:txBody>
          <a:bodyPr wrap="square" lIns="36576" rIns="36576" tIns="18288" bIns="18288">
            <a:spAutoFit/>
          </a:bodyPr>
          <a:lstStyle/>
          <a:p>
            <a:r>
              <a:rPr sz="1000" b="0">
                <a:solidFill>
                  <a:srgbClr val="CBD5E1"/>
                </a:solidFill>
                <a:latin typeface="Consolas"/>
              </a:rPr>
              <a:t>pinned to main commit e406cf7</a:t>
            </a:r>
          </a:p>
        </p:txBody>
      </p:sp>
      <p:sp>
        <p:nvSpPr>
          <p:cNvPr id="47" name="TextBox 46"/>
          <p:cNvSpPr txBox="1"/>
          <p:nvPr/>
        </p:nvSpPr>
        <p:spPr>
          <a:xfrm>
            <a:off x="8203996" y="3200399"/>
            <a:ext cx="3301898" cy="292608"/>
          </a:xfrm>
          <a:prstGeom prst="rect">
            <a:avLst/>
          </a:prstGeom>
          <a:noFill/>
        </p:spPr>
        <p:txBody>
          <a:bodyPr wrap="square" lIns="36576" rIns="36576" tIns="18288" bIns="18288">
            <a:spAutoFit/>
          </a:bodyPr>
          <a:lstStyle/>
          <a:p>
            <a:r>
              <a:rPr sz="1000" b="0">
                <a:solidFill>
                  <a:srgbClr val="F8FAFC"/>
                </a:solidFill>
                <a:latin typeface="Consolas"/>
              </a:rPr>
              <a:t/>
            </a:r>
          </a:p>
        </p:txBody>
      </p:sp>
      <p:sp>
        <p:nvSpPr>
          <p:cNvPr id="48" name="TextBox 47"/>
          <p:cNvSpPr txBox="1"/>
          <p:nvPr/>
        </p:nvSpPr>
        <p:spPr>
          <a:xfrm>
            <a:off x="8203996" y="3566159"/>
            <a:ext cx="3301898" cy="292608"/>
          </a:xfrm>
          <a:prstGeom prst="rect">
            <a:avLst/>
          </a:prstGeom>
          <a:noFill/>
        </p:spPr>
        <p:txBody>
          <a:bodyPr wrap="square" lIns="36576" rIns="36576" tIns="18288" bIns="18288">
            <a:spAutoFit/>
          </a:bodyPr>
          <a:lstStyle/>
          <a:p>
            <a:r>
              <a:rPr sz="1000" b="0">
                <a:solidFill>
                  <a:srgbClr val="F8FAFC"/>
                </a:solidFill>
                <a:latin typeface="Consolas"/>
              </a:rPr>
              <a:t>JSON snapshot containing:</a:t>
            </a:r>
          </a:p>
        </p:txBody>
      </p:sp>
      <p:sp>
        <p:nvSpPr>
          <p:cNvPr id="49" name="TextBox 48"/>
          <p:cNvSpPr txBox="1"/>
          <p:nvPr/>
        </p:nvSpPr>
        <p:spPr>
          <a:xfrm>
            <a:off x="8203996" y="3931920"/>
            <a:ext cx="3301898" cy="292608"/>
          </a:xfrm>
          <a:prstGeom prst="rect">
            <a:avLst/>
          </a:prstGeom>
          <a:noFill/>
        </p:spPr>
        <p:txBody>
          <a:bodyPr wrap="square" lIns="36576" rIns="36576" tIns="18288" bIns="18288">
            <a:spAutoFit/>
          </a:bodyPr>
          <a:lstStyle/>
          <a:p>
            <a:r>
              <a:rPr sz="1000" b="0">
                <a:solidFill>
                  <a:srgbClr val="F8FAFC"/>
                </a:solidFill>
                <a:latin typeface="Consolas"/>
              </a:rPr>
              <a:t>  • decisions.md  (5 active)</a:t>
            </a:r>
          </a:p>
        </p:txBody>
      </p:sp>
      <p:sp>
        <p:nvSpPr>
          <p:cNvPr id="50" name="TextBox 49"/>
          <p:cNvSpPr txBox="1"/>
          <p:nvPr/>
        </p:nvSpPr>
        <p:spPr>
          <a:xfrm>
            <a:off x="8203996" y="4297679"/>
            <a:ext cx="3301898" cy="292608"/>
          </a:xfrm>
          <a:prstGeom prst="rect">
            <a:avLst/>
          </a:prstGeom>
          <a:noFill/>
        </p:spPr>
        <p:txBody>
          <a:bodyPr wrap="square" lIns="36576" rIns="36576" tIns="18288" bIns="18288">
            <a:spAutoFit/>
          </a:bodyPr>
          <a:lstStyle/>
          <a:p>
            <a:r>
              <a:rPr sz="1000" b="0">
                <a:solidFill>
                  <a:srgbClr val="F8FAFC"/>
                </a:solidFill>
                <a:latin typeface="Consolas"/>
              </a:rPr>
              <a:t>  • orchestration-log/…leela-2.md</a:t>
            </a:r>
          </a:p>
        </p:txBody>
      </p:sp>
      <p:sp>
        <p:nvSpPr>
          <p:cNvPr id="51" name="TextBox 50"/>
          <p:cNvSpPr txBox="1"/>
          <p:nvPr/>
        </p:nvSpPr>
        <p:spPr>
          <a:xfrm>
            <a:off x="8203996" y="4663440"/>
            <a:ext cx="3301898" cy="292608"/>
          </a:xfrm>
          <a:prstGeom prst="rect">
            <a:avLst/>
          </a:prstGeom>
          <a:noFill/>
        </p:spPr>
        <p:txBody>
          <a:bodyPr wrap="square" lIns="36576" rIns="36576" tIns="18288" bIns="18288">
            <a:spAutoFit/>
          </a:bodyPr>
          <a:lstStyle/>
          <a:p>
            <a:r>
              <a:rPr sz="1000" b="0">
                <a:solidFill>
                  <a:srgbClr val="F8FAFC"/>
                </a:solidFill>
                <a:latin typeface="Consolas"/>
              </a:rPr>
              <a:t>  • log/…readme-update.md</a:t>
            </a:r>
          </a:p>
        </p:txBody>
      </p:sp>
      <p:sp>
        <p:nvSpPr>
          <p:cNvPr id="52" name="TextBox 51"/>
          <p:cNvSpPr txBox="1"/>
          <p:nvPr/>
        </p:nvSpPr>
        <p:spPr>
          <a:xfrm>
            <a:off x="8203996" y="5029200"/>
            <a:ext cx="3301898" cy="292608"/>
          </a:xfrm>
          <a:prstGeom prst="rect">
            <a:avLst/>
          </a:prstGeom>
          <a:noFill/>
        </p:spPr>
        <p:txBody>
          <a:bodyPr wrap="square" lIns="36576" rIns="36576" tIns="18288" bIns="18288">
            <a:spAutoFit/>
          </a:bodyPr>
          <a:lstStyle/>
          <a:p>
            <a:r>
              <a:rPr sz="1000" b="0">
                <a:solidFill>
                  <a:srgbClr val="F8FAFC"/>
                </a:solidFill>
                <a:latin typeface="Consolas"/>
              </a:rPr>
              <a:t>  • agents/leela/history.md</a:t>
            </a:r>
          </a:p>
        </p:txBody>
      </p:sp>
      <p:sp>
        <p:nvSpPr>
          <p:cNvPr id="53" name="Rounded Rectangle 52"/>
          <p:cNvSpPr/>
          <p:nvPr/>
        </p:nvSpPr>
        <p:spPr>
          <a:xfrm>
            <a:off x="548640" y="5669280"/>
            <a:ext cx="11094415" cy="502920"/>
          </a:xfrm>
          <a:prstGeom prst="roundRect">
            <a:avLst/>
          </a:prstGeom>
          <a:solidFill>
            <a:srgbClr val="0A182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59" y="5760720"/>
            <a:ext cx="10545775" cy="365760"/>
          </a:xfrm>
          <a:prstGeom prst="rect">
            <a:avLst/>
          </a:prstGeom>
          <a:noFill/>
        </p:spPr>
        <p:txBody>
          <a:bodyPr wrap="square" lIns="36576" rIns="36576" tIns="18288" bIns="18288">
            <a:spAutoFit/>
          </a:bodyPr>
          <a:lstStyle/>
          <a:p>
            <a:pPr algn="ctr"/>
            <a:r>
              <a:rPr sz="1200" b="1">
                <a:solidFill>
                  <a:srgbClr val="F8FAFC"/>
                </a:solidFill>
                <a:latin typeface="Consolas"/>
              </a:rPr>
              <a:t>Clone fresh → checkout main → `git notes --ref=squad show e406cf7`  →  full team context reconstructed without walking 7 squad-state commits.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29</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THE PLUMBING</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Two-layer installs 6 git hooks — here’s why each one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`squad upgrade --state-backend two-layer` wires these. Each hook closes a specific failure mode.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install-hooks.ts:31-142, 286 • docs PR #1227 (docs only list 4 today)</a:t>
            </a:r>
          </a:p>
        </p:txBody>
      </p:sp>
      <p:sp>
        <p:nvSpPr>
          <p:cNvPr id="9" name="Rounded Rectangle 8"/>
          <p:cNvSpPr/>
          <p:nvPr/>
        </p:nvSpPr>
        <p:spPr>
          <a:xfrm>
            <a:off x="548640" y="1874519"/>
            <a:ext cx="11094415" cy="365760"/>
          </a:xfrm>
          <a:prstGeom prst="roundRect">
            <a:avLst/>
          </a:prstGeom>
          <a:solidFill>
            <a:srgbClr val="172554"/>
          </a:solidFill>
          <a:ln w="9525">
            <a:solidFill>
              <a:srgbClr val="1725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11095"/>
            <a:ext cx="2377440" cy="292608"/>
          </a:xfrm>
          <a:prstGeom prst="rect">
            <a:avLst/>
          </a:prstGeom>
          <a:noFill/>
        </p:spPr>
        <p:txBody>
          <a:bodyPr wrap="square" lIns="36576" rIns="36576" tIns="18288" bIns="18288">
            <a:spAutoFit/>
          </a:bodyPr>
          <a:lstStyle/>
          <a:p>
            <a:r>
              <a:rPr sz="1200" b="1">
                <a:solidFill>
                  <a:srgbClr val="38BDF8"/>
                </a:solidFill>
                <a:latin typeface="Segoe UI Semibold"/>
              </a:rPr>
              <a:t>HOOK</a:t>
            </a:r>
          </a:p>
        </p:txBody>
      </p:sp>
      <p:sp>
        <p:nvSpPr>
          <p:cNvPr id="11" name="TextBox 10"/>
          <p:cNvSpPr txBox="1"/>
          <p:nvPr/>
        </p:nvSpPr>
        <p:spPr>
          <a:xfrm>
            <a:off x="3246120" y="1911095"/>
            <a:ext cx="4114800" cy="292608"/>
          </a:xfrm>
          <a:prstGeom prst="rect">
            <a:avLst/>
          </a:prstGeom>
          <a:noFill/>
        </p:spPr>
        <p:txBody>
          <a:bodyPr wrap="square" lIns="36576" rIns="36576" tIns="18288" bIns="18288">
            <a:spAutoFit/>
          </a:bodyPr>
          <a:lstStyle/>
          <a:p>
            <a:r>
              <a:rPr sz="1200" b="1">
                <a:solidFill>
                  <a:srgbClr val="38BDF8"/>
                </a:solidFill>
                <a:latin typeface="Segoe UI Semibold"/>
              </a:rPr>
              <a:t>WHAT IT DOES</a:t>
            </a:r>
          </a:p>
        </p:txBody>
      </p:sp>
      <p:sp>
        <p:nvSpPr>
          <p:cNvPr id="12" name="TextBox 11"/>
          <p:cNvSpPr txBox="1"/>
          <p:nvPr/>
        </p:nvSpPr>
        <p:spPr>
          <a:xfrm>
            <a:off x="7498079" y="1911095"/>
            <a:ext cx="3962095" cy="292608"/>
          </a:xfrm>
          <a:prstGeom prst="rect">
            <a:avLst/>
          </a:prstGeom>
          <a:noFill/>
        </p:spPr>
        <p:txBody>
          <a:bodyPr wrap="square" lIns="36576" rIns="36576" tIns="18288" bIns="18288">
            <a:spAutoFit/>
          </a:bodyPr>
          <a:lstStyle/>
          <a:p>
            <a:r>
              <a:rPr sz="1200" b="1">
                <a:solidFill>
                  <a:srgbClr val="38BDF8"/>
                </a:solidFill>
                <a:latin typeface="Segoe UI Semibold"/>
              </a:rPr>
              <a:t>WHY IT EXISTS</a:t>
            </a:r>
          </a:p>
        </p:txBody>
      </p:sp>
      <p:sp>
        <p:nvSpPr>
          <p:cNvPr id="13" name="Rounded Rectangle 12"/>
          <p:cNvSpPr/>
          <p:nvPr/>
        </p:nvSpPr>
        <p:spPr>
          <a:xfrm>
            <a:off x="548640" y="2313432"/>
            <a:ext cx="11094415" cy="640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64008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404872"/>
            <a:ext cx="2423160" cy="457199"/>
          </a:xfrm>
          <a:prstGeom prst="rect">
            <a:avLst/>
          </a:prstGeom>
          <a:noFill/>
        </p:spPr>
        <p:txBody>
          <a:bodyPr wrap="square" lIns="36576" rIns="36576" tIns="18288" bIns="18288" anchor="ctr">
            <a:spAutoFit/>
          </a:bodyPr>
          <a:lstStyle/>
          <a:p>
            <a:r>
              <a:rPr sz="1300" b="1">
                <a:solidFill>
                  <a:srgbClr val="38BDF8"/>
                </a:solidFill>
                <a:latin typeface="Consolas"/>
              </a:rPr>
              <a:t>pre-push</a:t>
            </a:r>
          </a:p>
        </p:txBody>
      </p:sp>
      <p:sp>
        <p:nvSpPr>
          <p:cNvPr id="16" name="TextBox 15"/>
          <p:cNvSpPr txBox="1"/>
          <p:nvPr/>
        </p:nvSpPr>
        <p:spPr>
          <a:xfrm>
            <a:off x="3246120" y="2404872"/>
            <a:ext cx="4114800" cy="457199"/>
          </a:xfrm>
          <a:prstGeom prst="rect">
            <a:avLst/>
          </a:prstGeom>
          <a:noFill/>
        </p:spPr>
        <p:txBody>
          <a:bodyPr wrap="square" lIns="36576" rIns="36576" tIns="18288" bIns="18288" anchor="ctr">
            <a:spAutoFit/>
          </a:bodyPr>
          <a:lstStyle/>
          <a:p>
            <a:r>
              <a:rPr sz="1200" b="0">
                <a:solidFill>
                  <a:srgbClr val="CBD5E1"/>
                </a:solidFill>
                <a:latin typeface="Consolas"/>
              </a:rPr>
              <a:t>auto-push squad-state branch + refs/notes/squad*</a:t>
            </a:r>
          </a:p>
        </p:txBody>
      </p:sp>
      <p:sp>
        <p:nvSpPr>
          <p:cNvPr id="17" name="TextBox 16"/>
          <p:cNvSpPr txBox="1"/>
          <p:nvPr/>
        </p:nvSpPr>
        <p:spPr>
          <a:xfrm>
            <a:off x="7498079" y="2404872"/>
            <a:ext cx="3962095" cy="457199"/>
          </a:xfrm>
          <a:prstGeom prst="rect">
            <a:avLst/>
          </a:prstGeom>
          <a:noFill/>
        </p:spPr>
        <p:txBody>
          <a:bodyPr wrap="square" lIns="36576" rIns="36576" tIns="18288" bIns="18288" anchor="ctr">
            <a:spAutoFit/>
          </a:bodyPr>
          <a:lstStyle/>
          <a:p>
            <a:r>
              <a:rPr sz="1200" b="0">
                <a:solidFill>
                  <a:srgbClr val="F8FAFC"/>
                </a:solidFill>
                <a:latin typeface="Segoe UI"/>
              </a:rPr>
              <a:t>Teammates get your decisions when you push code — no separate sync step.</a:t>
            </a:r>
          </a:p>
        </p:txBody>
      </p:sp>
      <p:sp>
        <p:nvSpPr>
          <p:cNvPr id="18" name="Rounded Rectangle 17"/>
          <p:cNvSpPr/>
          <p:nvPr/>
        </p:nvSpPr>
        <p:spPr>
          <a:xfrm>
            <a:off x="548640" y="3026663"/>
            <a:ext cx="11094415" cy="640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26663"/>
            <a:ext cx="109728" cy="64008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118103"/>
            <a:ext cx="2423160" cy="457199"/>
          </a:xfrm>
          <a:prstGeom prst="rect">
            <a:avLst/>
          </a:prstGeom>
          <a:noFill/>
        </p:spPr>
        <p:txBody>
          <a:bodyPr wrap="square" lIns="36576" rIns="36576" tIns="18288" bIns="18288" anchor="ctr">
            <a:spAutoFit/>
          </a:bodyPr>
          <a:lstStyle/>
          <a:p>
            <a:r>
              <a:rPr sz="1300" b="1">
                <a:solidFill>
                  <a:srgbClr val="38BDF8"/>
                </a:solidFill>
                <a:latin typeface="Consolas"/>
              </a:rPr>
              <a:t>post-merge</a:t>
            </a:r>
          </a:p>
        </p:txBody>
      </p:sp>
      <p:sp>
        <p:nvSpPr>
          <p:cNvPr id="21" name="TextBox 20"/>
          <p:cNvSpPr txBox="1"/>
          <p:nvPr/>
        </p:nvSpPr>
        <p:spPr>
          <a:xfrm>
            <a:off x="3246120" y="3118103"/>
            <a:ext cx="4114800" cy="457199"/>
          </a:xfrm>
          <a:prstGeom prst="rect">
            <a:avLst/>
          </a:prstGeom>
          <a:noFill/>
        </p:spPr>
        <p:txBody>
          <a:bodyPr wrap="square" lIns="36576" rIns="36576" tIns="18288" bIns="18288" anchor="ctr">
            <a:spAutoFit/>
          </a:bodyPr>
          <a:lstStyle/>
          <a:p>
            <a:r>
              <a:rPr sz="1200" b="0">
                <a:solidFill>
                  <a:srgbClr val="CBD5E1"/>
                </a:solidFill>
                <a:latin typeface="Consolas"/>
              </a:rPr>
              <a:t>fast-forward local squad-state from remote after pull</a:t>
            </a:r>
          </a:p>
        </p:txBody>
      </p:sp>
      <p:sp>
        <p:nvSpPr>
          <p:cNvPr id="22" name="TextBox 21"/>
          <p:cNvSpPr txBox="1"/>
          <p:nvPr/>
        </p:nvSpPr>
        <p:spPr>
          <a:xfrm>
            <a:off x="7498079" y="3118103"/>
            <a:ext cx="3962095" cy="457199"/>
          </a:xfrm>
          <a:prstGeom prst="rect">
            <a:avLst/>
          </a:prstGeom>
          <a:noFill/>
        </p:spPr>
        <p:txBody>
          <a:bodyPr wrap="square" lIns="36576" rIns="36576" tIns="18288" bIns="18288" anchor="ctr">
            <a:spAutoFit/>
          </a:bodyPr>
          <a:lstStyle/>
          <a:p>
            <a:r>
              <a:rPr sz="1200" b="0">
                <a:solidFill>
                  <a:srgbClr val="F8FAFC"/>
                </a:solidFill>
                <a:latin typeface="Segoe UI"/>
              </a:rPr>
              <a:t>You see the team’s latest decisions immediately after `git pull`.</a:t>
            </a:r>
          </a:p>
        </p:txBody>
      </p:sp>
      <p:sp>
        <p:nvSpPr>
          <p:cNvPr id="23" name="Rounded Rectangle 22"/>
          <p:cNvSpPr/>
          <p:nvPr/>
        </p:nvSpPr>
        <p:spPr>
          <a:xfrm>
            <a:off x="548640" y="3739896"/>
            <a:ext cx="11094415" cy="640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39896"/>
            <a:ext cx="109728" cy="64008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831335"/>
            <a:ext cx="2423160" cy="457199"/>
          </a:xfrm>
          <a:prstGeom prst="rect">
            <a:avLst/>
          </a:prstGeom>
          <a:noFill/>
        </p:spPr>
        <p:txBody>
          <a:bodyPr wrap="square" lIns="36576" rIns="36576" tIns="18288" bIns="18288" anchor="ctr">
            <a:spAutoFit/>
          </a:bodyPr>
          <a:lstStyle/>
          <a:p>
            <a:r>
              <a:rPr sz="1300" b="1">
                <a:solidFill>
                  <a:srgbClr val="38BDF8"/>
                </a:solidFill>
                <a:latin typeface="Consolas"/>
              </a:rPr>
              <a:t>post-rewrite</a:t>
            </a:r>
          </a:p>
        </p:txBody>
      </p:sp>
      <p:sp>
        <p:nvSpPr>
          <p:cNvPr id="26" name="TextBox 25"/>
          <p:cNvSpPr txBox="1"/>
          <p:nvPr/>
        </p:nvSpPr>
        <p:spPr>
          <a:xfrm>
            <a:off x="3246120" y="3831335"/>
            <a:ext cx="4114800" cy="457199"/>
          </a:xfrm>
          <a:prstGeom prst="rect">
            <a:avLst/>
          </a:prstGeom>
          <a:noFill/>
        </p:spPr>
        <p:txBody>
          <a:bodyPr wrap="square" lIns="36576" rIns="36576" tIns="18288" bIns="18288" anchor="ctr">
            <a:spAutoFit/>
          </a:bodyPr>
          <a:lstStyle/>
          <a:p>
            <a:r>
              <a:rPr sz="1200" b="0">
                <a:solidFill>
                  <a:srgbClr val="CBD5E1"/>
                </a:solidFill>
                <a:latin typeface="Consolas"/>
              </a:rPr>
              <a:t>same, after rebase</a:t>
            </a:r>
          </a:p>
        </p:txBody>
      </p:sp>
      <p:sp>
        <p:nvSpPr>
          <p:cNvPr id="27" name="TextBox 26"/>
          <p:cNvSpPr txBox="1"/>
          <p:nvPr/>
        </p:nvSpPr>
        <p:spPr>
          <a:xfrm>
            <a:off x="7498079" y="3831335"/>
            <a:ext cx="3962095" cy="457199"/>
          </a:xfrm>
          <a:prstGeom prst="rect">
            <a:avLst/>
          </a:prstGeom>
          <a:noFill/>
        </p:spPr>
        <p:txBody>
          <a:bodyPr wrap="square" lIns="36576" rIns="36576" tIns="18288" bIns="18288" anchor="ctr">
            <a:spAutoFit/>
          </a:bodyPr>
          <a:lstStyle/>
          <a:p>
            <a:r>
              <a:rPr sz="1200" b="0">
                <a:solidFill>
                  <a:srgbClr val="F8FAFC"/>
                </a:solidFill>
                <a:latin typeface="Segoe UI"/>
              </a:rPr>
              <a:t>Rebase doesn’t leave squad-state drifting behind remote.</a:t>
            </a:r>
          </a:p>
        </p:txBody>
      </p:sp>
      <p:sp>
        <p:nvSpPr>
          <p:cNvPr id="28" name="Rounded Rectangle 27"/>
          <p:cNvSpPr/>
          <p:nvPr/>
        </p:nvSpPr>
        <p:spPr>
          <a:xfrm>
            <a:off x="548640" y="4453127"/>
            <a:ext cx="11094415" cy="640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453127"/>
            <a:ext cx="109728" cy="64008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4544567"/>
            <a:ext cx="2423160" cy="457199"/>
          </a:xfrm>
          <a:prstGeom prst="rect">
            <a:avLst/>
          </a:prstGeom>
          <a:noFill/>
        </p:spPr>
        <p:txBody>
          <a:bodyPr wrap="square" lIns="36576" rIns="36576" tIns="18288" bIns="18288" anchor="ctr">
            <a:spAutoFit/>
          </a:bodyPr>
          <a:lstStyle/>
          <a:p>
            <a:r>
              <a:rPr sz="1300" b="1">
                <a:solidFill>
                  <a:srgbClr val="38BDF8"/>
                </a:solidFill>
                <a:latin typeface="Consolas"/>
              </a:rPr>
              <a:t>post-checkout</a:t>
            </a:r>
          </a:p>
        </p:txBody>
      </p:sp>
      <p:sp>
        <p:nvSpPr>
          <p:cNvPr id="31" name="TextBox 30"/>
          <p:cNvSpPr txBox="1"/>
          <p:nvPr/>
        </p:nvSpPr>
        <p:spPr>
          <a:xfrm>
            <a:off x="3246120" y="4544567"/>
            <a:ext cx="4114800" cy="457199"/>
          </a:xfrm>
          <a:prstGeom prst="rect">
            <a:avLst/>
          </a:prstGeom>
          <a:noFill/>
        </p:spPr>
        <p:txBody>
          <a:bodyPr wrap="square" lIns="36576" rIns="36576" tIns="18288" bIns="18288" anchor="ctr">
            <a:spAutoFit/>
          </a:bodyPr>
          <a:lstStyle/>
          <a:p>
            <a:r>
              <a:rPr sz="1200" b="0">
                <a:solidFill>
                  <a:srgbClr val="CBD5E1"/>
                </a:solidFill>
                <a:latin typeface="Consolas"/>
              </a:rPr>
              <a:t>fetch squad-state on branch switch</a:t>
            </a:r>
          </a:p>
        </p:txBody>
      </p:sp>
      <p:sp>
        <p:nvSpPr>
          <p:cNvPr id="32" name="TextBox 31"/>
          <p:cNvSpPr txBox="1"/>
          <p:nvPr/>
        </p:nvSpPr>
        <p:spPr>
          <a:xfrm>
            <a:off x="7498079" y="4544567"/>
            <a:ext cx="3962095" cy="457199"/>
          </a:xfrm>
          <a:prstGeom prst="rect">
            <a:avLst/>
          </a:prstGeom>
          <a:noFill/>
        </p:spPr>
        <p:txBody>
          <a:bodyPr wrap="square" lIns="36576" rIns="36576" tIns="18288" bIns="18288" anchor="ctr">
            <a:spAutoFit/>
          </a:bodyPr>
          <a:lstStyle/>
          <a:p>
            <a:r>
              <a:rPr sz="1200" b="0">
                <a:solidFill>
                  <a:srgbClr val="F8FAFC"/>
                </a:solidFill>
                <a:latin typeface="Segoe UI"/>
              </a:rPr>
              <a:t>State follows code context — switching branches refreshes the team brain.</a:t>
            </a:r>
          </a:p>
        </p:txBody>
      </p:sp>
      <p:sp>
        <p:nvSpPr>
          <p:cNvPr id="33" name="Rounded Rectangle 32"/>
          <p:cNvSpPr/>
          <p:nvPr/>
        </p:nvSpPr>
        <p:spPr>
          <a:xfrm>
            <a:off x="548640" y="5166359"/>
            <a:ext cx="11094415" cy="640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166359"/>
            <a:ext cx="109728" cy="640080"/>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257799"/>
            <a:ext cx="2423160" cy="457199"/>
          </a:xfrm>
          <a:prstGeom prst="rect">
            <a:avLst/>
          </a:prstGeom>
          <a:noFill/>
        </p:spPr>
        <p:txBody>
          <a:bodyPr wrap="square" lIns="36576" rIns="36576" tIns="18288" bIns="18288" anchor="ctr">
            <a:spAutoFit/>
          </a:bodyPr>
          <a:lstStyle/>
          <a:p>
            <a:r>
              <a:rPr sz="1300" b="1">
                <a:solidFill>
                  <a:srgbClr val="FB7185"/>
                </a:solidFill>
                <a:latin typeface="Consolas"/>
              </a:rPr>
              <a:t>pre-commit</a:t>
            </a:r>
          </a:p>
        </p:txBody>
      </p:sp>
      <p:sp>
        <p:nvSpPr>
          <p:cNvPr id="36" name="TextBox 35"/>
          <p:cNvSpPr txBox="1"/>
          <p:nvPr/>
        </p:nvSpPr>
        <p:spPr>
          <a:xfrm>
            <a:off x="3246120" y="5257799"/>
            <a:ext cx="4114800" cy="457199"/>
          </a:xfrm>
          <a:prstGeom prst="rect">
            <a:avLst/>
          </a:prstGeom>
          <a:noFill/>
        </p:spPr>
        <p:txBody>
          <a:bodyPr wrap="square" lIns="36576" rIns="36576" tIns="18288" bIns="18288" anchor="ctr">
            <a:spAutoFit/>
          </a:bodyPr>
          <a:lstStyle/>
          <a:p>
            <a:r>
              <a:rPr sz="1200" b="0">
                <a:solidFill>
                  <a:srgbClr val="CBD5E1"/>
                </a:solidFill>
                <a:latin typeface="Consolas"/>
              </a:rPr>
              <a:t>REFUSE commits that stage .squad mutable state</a:t>
            </a:r>
          </a:p>
        </p:txBody>
      </p:sp>
      <p:sp>
        <p:nvSpPr>
          <p:cNvPr id="37" name="TextBox 36"/>
          <p:cNvSpPr txBox="1"/>
          <p:nvPr/>
        </p:nvSpPr>
        <p:spPr>
          <a:xfrm>
            <a:off x="7498079" y="5257799"/>
            <a:ext cx="3962095" cy="457199"/>
          </a:xfrm>
          <a:prstGeom prst="rect">
            <a:avLst/>
          </a:prstGeom>
          <a:noFill/>
        </p:spPr>
        <p:txBody>
          <a:bodyPr wrap="square" lIns="36576" rIns="36576" tIns="18288" bIns="18288" anchor="ctr">
            <a:spAutoFit/>
          </a:bodyPr>
          <a:lstStyle/>
          <a:p>
            <a:r>
              <a:rPr sz="1200" b="0">
                <a:solidFill>
                  <a:srgbClr val="F8FAFC"/>
                </a:solidFill>
                <a:latin typeface="Segoe UI"/>
              </a:rPr>
              <a:t>Defense-in-depth: prevents accidental leak of state into the working tree.</a:t>
            </a:r>
          </a:p>
        </p:txBody>
      </p:sp>
      <p:sp>
        <p:nvSpPr>
          <p:cNvPr id="38" name="Rounded Rectangle 37"/>
          <p:cNvSpPr/>
          <p:nvPr/>
        </p:nvSpPr>
        <p:spPr>
          <a:xfrm>
            <a:off x="548640" y="5879592"/>
            <a:ext cx="11094415" cy="640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879592"/>
            <a:ext cx="109728" cy="64008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5971031"/>
            <a:ext cx="2423160" cy="457199"/>
          </a:xfrm>
          <a:prstGeom prst="rect">
            <a:avLst/>
          </a:prstGeom>
          <a:noFill/>
        </p:spPr>
        <p:txBody>
          <a:bodyPr wrap="square" lIns="36576" rIns="36576" tIns="18288" bIns="18288" anchor="ctr">
            <a:spAutoFit/>
          </a:bodyPr>
          <a:lstStyle/>
          <a:p>
            <a:r>
              <a:rPr sz="1300" b="1">
                <a:solidFill>
                  <a:srgbClr val="34D399"/>
                </a:solidFill>
                <a:latin typeface="Consolas"/>
              </a:rPr>
              <a:t>post-commit</a:t>
            </a:r>
          </a:p>
        </p:txBody>
      </p:sp>
      <p:sp>
        <p:nvSpPr>
          <p:cNvPr id="41" name="TextBox 40"/>
          <p:cNvSpPr txBox="1"/>
          <p:nvPr/>
        </p:nvSpPr>
        <p:spPr>
          <a:xfrm>
            <a:off x="3246120" y="5971031"/>
            <a:ext cx="4114800" cy="457199"/>
          </a:xfrm>
          <a:prstGeom prst="rect">
            <a:avLst/>
          </a:prstGeom>
          <a:noFill/>
        </p:spPr>
        <p:txBody>
          <a:bodyPr wrap="square" lIns="36576" rIns="36576" tIns="18288" bIns="18288" anchor="ctr">
            <a:spAutoFit/>
          </a:bodyPr>
          <a:lstStyle/>
          <a:p>
            <a:r>
              <a:rPr sz="1200" b="0">
                <a:solidFill>
                  <a:srgbClr val="CBD5E1"/>
                </a:solidFill>
                <a:latin typeface="Consolas"/>
              </a:rPr>
              <a:t>run `squad sync --quiet`</a:t>
            </a:r>
          </a:p>
        </p:txBody>
      </p:sp>
      <p:sp>
        <p:nvSpPr>
          <p:cNvPr id="42" name="TextBox 41"/>
          <p:cNvSpPr txBox="1"/>
          <p:nvPr/>
        </p:nvSpPr>
        <p:spPr>
          <a:xfrm>
            <a:off x="7498079" y="5971031"/>
            <a:ext cx="3962095" cy="457199"/>
          </a:xfrm>
          <a:prstGeom prst="rect">
            <a:avLst/>
          </a:prstGeom>
          <a:noFill/>
        </p:spPr>
        <p:txBody>
          <a:bodyPr wrap="square" lIns="36576" rIns="36576" tIns="18288" bIns="18288" anchor="ctr">
            <a:spAutoFit/>
          </a:bodyPr>
          <a:lstStyle/>
          <a:p>
            <a:r>
              <a:rPr sz="1200" b="0">
                <a:solidFill>
                  <a:srgbClr val="F8FAFC"/>
                </a:solidFill>
                <a:latin typeface="Segoe UI"/>
              </a:rPr>
              <a:t>Pending state pushed onto squad-state branch — your decisions don’t sit only on your machine.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30</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B7185"/>
                </a:solidFill>
                <a:latin typeface="Segoe UI Semibold"/>
              </a:rPr>
              <a:t>WHEN THE SAFETY NET FIRES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pre-commit hook in action — and why it fires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You’ll see this. It’s expected. The next slide is what you do about it.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install-hooks.ts:110-127 • PR #1229 prevents this with conditional .gitignore</a:t>
            </a:r>
          </a:p>
        </p:txBody>
      </p:sp>
      <p:sp>
        <p:nvSpPr>
          <p:cNvPr id="9" name="Rounded Rectangle 8"/>
          <p:cNvSpPr/>
          <p:nvPr/>
        </p:nvSpPr>
        <p:spPr>
          <a:xfrm>
            <a:off x="548640" y="1874519"/>
            <a:ext cx="6400800"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6400800" cy="45720"/>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6126480" cy="228600"/>
          </a:xfrm>
          <a:prstGeom prst="rect">
            <a:avLst/>
          </a:prstGeom>
          <a:noFill/>
        </p:spPr>
        <p:txBody>
          <a:bodyPr wrap="square" lIns="36576" rIns="36576" tIns="18288" bIns="18288">
            <a:spAutoFit/>
          </a:bodyPr>
          <a:lstStyle/>
          <a:p>
            <a:r>
              <a:rPr sz="1000" b="1">
                <a:solidFill>
                  <a:srgbClr val="FB7185"/>
                </a:solidFill>
                <a:latin typeface="Segoe UI Semibold"/>
              </a:rPr>
              <a:t>what the user sees</a:t>
            </a:r>
          </a:p>
        </p:txBody>
      </p:sp>
      <p:sp>
        <p:nvSpPr>
          <p:cNvPr id="12" name="TextBox 11"/>
          <p:cNvSpPr txBox="1"/>
          <p:nvPr/>
        </p:nvSpPr>
        <p:spPr>
          <a:xfrm>
            <a:off x="713232" y="2167127"/>
            <a:ext cx="6126480" cy="3493008"/>
          </a:xfrm>
          <a:prstGeom prst="rect">
            <a:avLst/>
          </a:prstGeom>
          <a:noFill/>
        </p:spPr>
        <p:txBody>
          <a:bodyPr wrap="square" lIns="36576" rIns="36576">
            <a:spAutoFit/>
          </a:bodyPr>
          <a:lstStyle/>
          <a:p>
            <a:pPr>
              <a:spcAft>
                <a:spcPts val="100"/>
              </a:spcAft>
            </a:pPr>
            <a:r>
              <a:rPr sz="1100">
                <a:solidFill>
                  <a:srgbClr val="F8FAFC"/>
                </a:solidFill>
                <a:latin typeface="Consolas"/>
              </a:rPr>
              <a:t>$ git commit -am "refactor: rename auth module"</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squad pre-commit: refusing to commit</a:t>
            </a:r>
          </a:p>
          <a:p>
            <a:pPr>
              <a:spcAft>
                <a:spcPts val="100"/>
              </a:spcAft>
            </a:pPr>
            <a:r>
              <a:rPr sz="1100">
                <a:solidFill>
                  <a:srgbClr val="CBD5E1"/>
                </a:solidFill>
                <a:latin typeface="Consolas"/>
              </a:rPr>
              <a:t>  two-layer state into the working tree.</a:t>
            </a:r>
          </a:p>
          <a:p>
            <a:pPr>
              <a:spcAft>
                <a:spcPts val="100"/>
              </a:spcAft>
            </a:pPr>
            <a:r>
              <a:rPr sz="1100">
                <a:solidFill>
                  <a:srgbClr val="CBD5E1"/>
                </a:solidFill>
                <a:latin typeface="Consolas"/>
              </a:rPr>
              <a:t>  These paths belong on the 'squad-state'</a:t>
            </a:r>
          </a:p>
          <a:p>
            <a:pPr>
              <a:spcAft>
                <a:spcPts val="100"/>
              </a:spcAft>
            </a:pPr>
            <a:r>
              <a:rPr sz="1100">
                <a:solidFill>
                  <a:srgbClr val="CBD5E1"/>
                </a:solidFill>
                <a:latin typeface="Consolas"/>
              </a:rPr>
              <a:t>  orphan branch, not in your normal commits:</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.squad/decisions.md</a:t>
            </a:r>
          </a:p>
          <a:p>
            <a:pPr>
              <a:spcAft>
                <a:spcPts val="100"/>
              </a:spcAft>
            </a:pPr>
            <a:r>
              <a:rPr sz="1100">
                <a:solidFill>
                  <a:srgbClr val="CBD5E1"/>
                </a:solidFill>
                <a:latin typeface="Consolas"/>
              </a:rPr>
              <a:t>    .squad/agents/scribe/history.md</a:t>
            </a:r>
          </a:p>
          <a:p>
            <a:pPr>
              <a:spcAft>
                <a:spcPts val="100"/>
              </a:spcAft>
            </a:pPr>
            <a:r>
              <a:rPr sz="1100">
                <a:solidFill>
                  <a:srgbClr val="CBD5E1"/>
                </a:solidFill>
                <a:latin typeface="Consolas"/>
              </a:rPr>
              <a:t>    .squad/agents/leela/history.md</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Use 'git restore --staged &lt;path&gt;' to unstage,</a:t>
            </a:r>
          </a:p>
          <a:p>
            <a:pPr>
              <a:spcAft>
                <a:spcPts val="100"/>
              </a:spcAft>
            </a:pPr>
            <a:r>
              <a:rPr sz="1100">
                <a:solidFill>
                  <a:srgbClr val="CBD5E1"/>
                </a:solidFill>
                <a:latin typeface="Consolas"/>
              </a:rPr>
              <a:t>  or set SQUAD_SYNC_ACTIVE=1 to bypass.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echo $LASTEXITCODE</a:t>
            </a:r>
          </a:p>
          <a:p>
            <a:pPr>
              <a:spcAft>
                <a:spcPts val="100"/>
              </a:spcAft>
            </a:pPr>
            <a:r>
              <a:rPr sz="1100">
                <a:solidFill>
                  <a:srgbClr val="CBD5E1"/>
                </a:solidFill>
                <a:latin typeface="Consolas"/>
              </a:rPr>
              <a:t>1                              # commit refused</a:t>
            </a:r>
          </a:p>
        </p:txBody>
      </p:sp>
      <p:sp>
        <p:nvSpPr>
          <p:cNvPr id="13" name="Rounded Rectangle 12"/>
          <p:cNvSpPr/>
          <p:nvPr/>
        </p:nvSpPr>
        <p:spPr>
          <a:xfrm>
            <a:off x="7132320" y="1874519"/>
            <a:ext cx="4480560" cy="38404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0" y="1874519"/>
            <a:ext cx="448056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6912" y="2039112"/>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16" name="TextBox 15"/>
          <p:cNvSpPr txBox="1"/>
          <p:nvPr/>
        </p:nvSpPr>
        <p:spPr>
          <a:xfrm>
            <a:off x="7818120" y="2039112"/>
            <a:ext cx="3703320" cy="411480"/>
          </a:xfrm>
          <a:prstGeom prst="rect">
            <a:avLst/>
          </a:prstGeom>
          <a:noFill/>
        </p:spPr>
        <p:txBody>
          <a:bodyPr wrap="square" lIns="36576" rIns="36576" tIns="18288" bIns="18288" anchor="ctr">
            <a:spAutoFit/>
          </a:bodyPr>
          <a:lstStyle/>
          <a:p>
            <a:r>
              <a:rPr sz="1400" b="1">
                <a:solidFill>
                  <a:srgbClr val="F8FAFC"/>
                </a:solidFill>
                <a:latin typeface="Segoe UI"/>
              </a:rPr>
              <a:t>Why those files reappeared</a:t>
            </a:r>
          </a:p>
        </p:txBody>
      </p:sp>
      <p:sp>
        <p:nvSpPr>
          <p:cNvPr id="17" name="TextBox 16"/>
          <p:cNvSpPr txBox="1"/>
          <p:nvPr/>
        </p:nvSpPr>
        <p:spPr>
          <a:xfrm>
            <a:off x="7296912" y="2560320"/>
            <a:ext cx="4206240" cy="306324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The migration deleted them from disk —</a:t>
            </a:r>
          </a:p>
          <a:p>
            <a:pPr>
              <a:spcAft>
                <a:spcPts val="300"/>
              </a:spcAft>
            </a:pPr>
            <a:r>
              <a:rPr sz="1200" b="1">
                <a:solidFill>
                  <a:srgbClr val="FB7185"/>
                </a:solidFill>
                <a:latin typeface="Segoe UI"/>
              </a:rPr>
              <a:t>•  </a:t>
            </a:r>
            <a:r>
              <a:rPr sz="1200">
                <a:solidFill>
                  <a:srgbClr val="CBD5E1"/>
                </a:solidFill>
                <a:latin typeface="Segoe UI"/>
              </a:rPr>
              <a:t>but SOMETHING wrote them back.</a:t>
            </a:r>
          </a:p>
          <a:p>
            <a:pPr>
              <a:spcAft>
                <a:spcPts val="300"/>
              </a:spcAft>
            </a:pPr>
            <a:r>
              <a:rPr sz="1200" b="1">
                <a:solidFill>
                  <a:srgbClr val="FB7185"/>
                </a:solidFill>
                <a:latin typeface="Segoe UI"/>
              </a:rPr>
              <a:t>•  </a:t>
            </a:r>
            <a:r>
              <a:rPr sz="1200">
                <a:solidFill>
                  <a:srgbClr val="CBD5E1"/>
                </a:solidFill>
                <a:latin typeface="Segoe UI"/>
              </a:rPr>
              <a:t/>
            </a:r>
          </a:p>
          <a:p>
            <a:pPr>
              <a:spcAft>
                <a:spcPts val="300"/>
              </a:spcAft>
            </a:pPr>
            <a:r>
              <a:rPr sz="1200" b="1">
                <a:solidFill>
                  <a:srgbClr val="FB7185"/>
                </a:solidFill>
                <a:latin typeface="Segoe UI"/>
              </a:rPr>
              <a:t>•  </a:t>
            </a:r>
            <a:r>
              <a:rPr sz="1200">
                <a:solidFill>
                  <a:srgbClr val="CBD5E1"/>
                </a:solidFill>
                <a:latin typeface="Segoe UI"/>
              </a:rPr>
              <a:t>Usual suspects:</a:t>
            </a:r>
          </a:p>
          <a:p>
            <a:pPr>
              <a:spcAft>
                <a:spcPts val="300"/>
              </a:spcAft>
            </a:pPr>
            <a:r>
              <a:rPr sz="1200" b="1">
                <a:solidFill>
                  <a:srgbClr val="FB7185"/>
                </a:solidFill>
                <a:latin typeface="Segoe UI"/>
              </a:rPr>
              <a:t>•  </a:t>
            </a:r>
            <a:r>
              <a:rPr sz="1200">
                <a:solidFill>
                  <a:srgbClr val="CBD5E1"/>
                </a:solidFill>
                <a:latin typeface="Segoe UI"/>
              </a:rPr>
              <a:t>  • an agent ran and wrote directly via fs</a:t>
            </a:r>
          </a:p>
          <a:p>
            <a:pPr>
              <a:spcAft>
                <a:spcPts val="300"/>
              </a:spcAft>
            </a:pPr>
            <a:r>
              <a:rPr sz="1200" b="1">
                <a:solidFill>
                  <a:srgbClr val="FB7185"/>
                </a:solidFill>
                <a:latin typeface="Segoe UI"/>
              </a:rPr>
              <a:t>•  </a:t>
            </a:r>
            <a:r>
              <a:rPr sz="1200">
                <a:solidFill>
                  <a:srgbClr val="CBD5E1"/>
                </a:solidFill>
                <a:latin typeface="Segoe UI"/>
              </a:rPr>
              <a:t>    (bypassing StateBackend)</a:t>
            </a:r>
          </a:p>
          <a:p>
            <a:pPr>
              <a:spcAft>
                <a:spcPts val="300"/>
              </a:spcAft>
            </a:pPr>
            <a:r>
              <a:rPr sz="1200" b="1">
                <a:solidFill>
                  <a:srgbClr val="FB7185"/>
                </a:solidFill>
                <a:latin typeface="Segoe UI"/>
              </a:rPr>
              <a:t>•  </a:t>
            </a:r>
            <a:r>
              <a:rPr sz="1200">
                <a:solidFill>
                  <a:srgbClr val="CBD5E1"/>
                </a:solidFill>
                <a:latin typeface="Segoe UI"/>
              </a:rPr>
              <a:t>  • an editor save touched the file</a:t>
            </a:r>
          </a:p>
          <a:p>
            <a:pPr>
              <a:spcAft>
                <a:spcPts val="300"/>
              </a:spcAft>
            </a:pPr>
            <a:r>
              <a:rPr sz="1200" b="1">
                <a:solidFill>
                  <a:srgbClr val="FB7185"/>
                </a:solidFill>
                <a:latin typeface="Segoe UI"/>
              </a:rPr>
              <a:t>•  </a:t>
            </a:r>
            <a:r>
              <a:rPr sz="1200">
                <a:solidFill>
                  <a:srgbClr val="CBD5E1"/>
                </a:solidFill>
                <a:latin typeface="Segoe UI"/>
              </a:rPr>
              <a:t>  • a legacy code path that still uses</a:t>
            </a:r>
          </a:p>
          <a:p>
            <a:pPr>
              <a:spcAft>
                <a:spcPts val="300"/>
              </a:spcAft>
            </a:pPr>
            <a:r>
              <a:rPr sz="1200" b="1">
                <a:solidFill>
                  <a:srgbClr val="FB7185"/>
                </a:solidFill>
                <a:latin typeface="Segoe UI"/>
              </a:rPr>
              <a:t>•  </a:t>
            </a:r>
            <a:r>
              <a:rPr sz="1200">
                <a:solidFill>
                  <a:srgbClr val="CBD5E1"/>
                </a:solidFill>
                <a:latin typeface="Segoe UI"/>
              </a:rPr>
              <a:t>    the local FS writer</a:t>
            </a:r>
          </a:p>
          <a:p>
            <a:pPr>
              <a:spcAft>
                <a:spcPts val="300"/>
              </a:spcAft>
            </a:pPr>
            <a:r>
              <a:rPr sz="1200" b="1">
                <a:solidFill>
                  <a:srgbClr val="FB7185"/>
                </a:solidFill>
                <a:latin typeface="Segoe UI"/>
              </a:rPr>
              <a:t>•  </a:t>
            </a:r>
            <a:r>
              <a:rPr sz="1200">
                <a:solidFill>
                  <a:srgbClr val="CBD5E1"/>
                </a:solidFill>
                <a:latin typeface="Segoe UI"/>
              </a:rPr>
              <a:t/>
            </a:r>
          </a:p>
          <a:p>
            <a:pPr>
              <a:spcAft>
                <a:spcPts val="300"/>
              </a:spcAft>
            </a:pPr>
            <a:r>
              <a:rPr sz="1200" b="1">
                <a:solidFill>
                  <a:srgbClr val="FB7185"/>
                </a:solidFill>
                <a:latin typeface="Segoe UI"/>
              </a:rPr>
              <a:t>•  </a:t>
            </a:r>
            <a:r>
              <a:rPr sz="1200">
                <a:solidFill>
                  <a:srgbClr val="CBD5E1"/>
                </a:solidFill>
                <a:latin typeface="Segoe UI"/>
              </a:rPr>
              <a:t>The hook is the backstop — it catches the leak</a:t>
            </a:r>
          </a:p>
          <a:p>
            <a:pPr>
              <a:spcAft>
                <a:spcPts val="300"/>
              </a:spcAft>
            </a:pPr>
            <a:r>
              <a:rPr sz="1200" b="1">
                <a:solidFill>
                  <a:srgbClr val="FB7185"/>
                </a:solidFill>
                <a:latin typeface="Segoe UI"/>
              </a:rPr>
              <a:t>•  </a:t>
            </a:r>
            <a:r>
              <a:rPr sz="1200">
                <a:solidFill>
                  <a:srgbClr val="CBD5E1"/>
                </a:solidFill>
                <a:latin typeface="Segoe UI"/>
              </a:rPr>
              <a:t>before it lands on main.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31</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RECOVERY</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Recovery flow — four commands, you’re done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Almost always: unstage, verify, delete, commit. The escape hatch exists but isn’t the answer.</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install-hooks.ts:110-142 • see PR #1229 which makes this rarely needed</a:t>
            </a:r>
          </a:p>
        </p:txBody>
      </p:sp>
      <p:sp>
        <p:nvSpPr>
          <p:cNvPr id="9" name="Rounded Rectangle 8"/>
          <p:cNvSpPr/>
          <p:nvPr/>
        </p:nvSpPr>
        <p:spPr>
          <a:xfrm>
            <a:off x="548640" y="1874519"/>
            <a:ext cx="6400800"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64008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6126480" cy="228600"/>
          </a:xfrm>
          <a:prstGeom prst="rect">
            <a:avLst/>
          </a:prstGeom>
          <a:noFill/>
        </p:spPr>
        <p:txBody>
          <a:bodyPr wrap="square" lIns="36576" rIns="36576" tIns="18288" bIns="18288">
            <a:spAutoFit/>
          </a:bodyPr>
          <a:lstStyle/>
          <a:p>
            <a:r>
              <a:rPr sz="1000" b="1">
                <a:solidFill>
                  <a:srgbClr val="34D399"/>
                </a:solidFill>
                <a:latin typeface="Segoe UI Semibold"/>
              </a:rPr>
              <a:t>the recovery flow — use this 99% of the time</a:t>
            </a:r>
          </a:p>
        </p:txBody>
      </p:sp>
      <p:sp>
        <p:nvSpPr>
          <p:cNvPr id="12" name="TextBox 11"/>
          <p:cNvSpPr txBox="1"/>
          <p:nvPr/>
        </p:nvSpPr>
        <p:spPr>
          <a:xfrm>
            <a:off x="713232" y="2167127"/>
            <a:ext cx="6126480" cy="3493008"/>
          </a:xfrm>
          <a:prstGeom prst="rect">
            <a:avLst/>
          </a:prstGeom>
          <a:noFill/>
        </p:spPr>
        <p:txBody>
          <a:bodyPr wrap="square" lIns="36576" rIns="36576">
            <a:spAutoFit/>
          </a:bodyPr>
          <a:lstStyle/>
          <a:p>
            <a:pPr>
              <a:spcAft>
                <a:spcPts val="100"/>
              </a:spcAft>
            </a:pPr>
            <a:r>
              <a:rPr sz="1100">
                <a:solidFill>
                  <a:srgbClr val="F8FAFC"/>
                </a:solidFill>
                <a:latin typeface="Consolas"/>
              </a:rPr>
              <a:t># 1. unstage the state files</a:t>
            </a:r>
          </a:p>
          <a:p>
            <a:pPr>
              <a:spcAft>
                <a:spcPts val="100"/>
              </a:spcAft>
            </a:pPr>
            <a:r>
              <a:rPr sz="1100">
                <a:solidFill>
                  <a:srgbClr val="F8FAFC"/>
                </a:solidFill>
                <a:latin typeface="Consolas"/>
              </a:rPr>
              <a:t>$ git restore --staged \</a:t>
            </a:r>
          </a:p>
          <a:p>
            <a:pPr>
              <a:spcAft>
                <a:spcPts val="100"/>
              </a:spcAft>
            </a:pPr>
            <a:r>
              <a:rPr sz="1100">
                <a:solidFill>
                  <a:srgbClr val="CBD5E1"/>
                </a:solidFill>
                <a:latin typeface="Consolas"/>
              </a:rPr>
              <a:t>    .squad/decisions.md \</a:t>
            </a:r>
          </a:p>
          <a:p>
            <a:pPr>
              <a:spcAft>
                <a:spcPts val="100"/>
              </a:spcAft>
            </a:pPr>
            <a:r>
              <a:rPr sz="1100">
                <a:solidFill>
                  <a:srgbClr val="CBD5E1"/>
                </a:solidFill>
                <a:latin typeface="Consolas"/>
              </a:rPr>
              <a:t>    .squad/agents/*/history.md</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2. verify the orphan branch already has them</a:t>
            </a:r>
          </a:p>
          <a:p>
            <a:pPr>
              <a:spcAft>
                <a:spcPts val="100"/>
              </a:spcAft>
            </a:pPr>
            <a:r>
              <a:rPr sz="1100">
                <a:solidFill>
                  <a:srgbClr val="F8FAFC"/>
                </a:solidFill>
                <a:latin typeface="Consolas"/>
              </a:rPr>
              <a:t>$ git show squad-state:decisions.md</a:t>
            </a:r>
          </a:p>
          <a:p>
            <a:pPr>
              <a:spcAft>
                <a:spcPts val="100"/>
              </a:spcAft>
            </a:pPr>
            <a:r>
              <a:rPr sz="1100">
                <a:solidFill>
                  <a:srgbClr val="CBD5E1"/>
                </a:solidFill>
                <a:latin typeface="Consolas"/>
              </a:rPr>
              <a:t>  (you should see your team’s latest decisions)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3. remove the stale working-tree copies</a:t>
            </a:r>
          </a:p>
          <a:p>
            <a:pPr>
              <a:spcAft>
                <a:spcPts val="100"/>
              </a:spcAft>
            </a:pPr>
            <a:r>
              <a:rPr sz="1100">
                <a:solidFill>
                  <a:srgbClr val="F8FAFC"/>
                </a:solidFill>
                <a:latin typeface="Consolas"/>
              </a:rPr>
              <a:t>$ Remove-Item .squad/decisions.md, \</a:t>
            </a:r>
          </a:p>
          <a:p>
            <a:pPr>
              <a:spcAft>
                <a:spcPts val="100"/>
              </a:spcAft>
            </a:pPr>
            <a:r>
              <a:rPr sz="1100">
                <a:solidFill>
                  <a:srgbClr val="CBD5E1"/>
                </a:solidFill>
                <a:latin typeface="Consolas"/>
              </a:rPr>
              <a:t>              .squad/agents/*/history.md</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4. commit — hook is satisfied</a:t>
            </a:r>
          </a:p>
          <a:p>
            <a:pPr>
              <a:spcAft>
                <a:spcPts val="100"/>
              </a:spcAft>
            </a:pPr>
            <a:r>
              <a:rPr sz="1100">
                <a:solidFill>
                  <a:srgbClr val="F8FAFC"/>
                </a:solidFill>
                <a:latin typeface="Consolas"/>
              </a:rPr>
              <a:t>$ git commit -m "refactor: rename auth module"</a:t>
            </a:r>
          </a:p>
          <a:p>
            <a:pPr>
              <a:spcAft>
                <a:spcPts val="100"/>
              </a:spcAft>
            </a:pPr>
            <a:r>
              <a:rPr sz="1100">
                <a:solidFill>
                  <a:srgbClr val="CBD5E1"/>
                </a:solidFill>
                <a:latin typeface="Consolas"/>
              </a:rPr>
              <a:t>  ✓ post-commit hook syncs squad-state to remote</a:t>
            </a:r>
          </a:p>
        </p:txBody>
      </p:sp>
      <p:sp>
        <p:nvSpPr>
          <p:cNvPr id="13" name="Rounded Rectangle 12"/>
          <p:cNvSpPr/>
          <p:nvPr/>
        </p:nvSpPr>
        <p:spPr>
          <a:xfrm>
            <a:off x="7132320" y="1874519"/>
            <a:ext cx="4480560" cy="38404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0" y="1874519"/>
            <a:ext cx="448056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6912"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6" name="TextBox 15"/>
          <p:cNvSpPr txBox="1"/>
          <p:nvPr/>
        </p:nvSpPr>
        <p:spPr>
          <a:xfrm>
            <a:off x="7818120" y="2039112"/>
            <a:ext cx="3703320" cy="411480"/>
          </a:xfrm>
          <a:prstGeom prst="rect">
            <a:avLst/>
          </a:prstGeom>
          <a:noFill/>
        </p:spPr>
        <p:txBody>
          <a:bodyPr wrap="square" lIns="36576" rIns="36576" tIns="18288" bIns="18288" anchor="ctr">
            <a:spAutoFit/>
          </a:bodyPr>
          <a:lstStyle/>
          <a:p>
            <a:r>
              <a:rPr sz="1400" b="1">
                <a:solidFill>
                  <a:srgbClr val="F8FAFC"/>
                </a:solidFill>
                <a:latin typeface="Segoe UI"/>
              </a:rPr>
              <a:t>Escape hatch (don’t use routinely)</a:t>
            </a:r>
          </a:p>
        </p:txBody>
      </p:sp>
      <p:sp>
        <p:nvSpPr>
          <p:cNvPr id="17" name="TextBox 16"/>
          <p:cNvSpPr txBox="1"/>
          <p:nvPr/>
        </p:nvSpPr>
        <p:spPr>
          <a:xfrm>
            <a:off x="7296912" y="2560320"/>
            <a:ext cx="4206240" cy="3063240"/>
          </a:xfrm>
          <a:prstGeom prst="rect">
            <a:avLst/>
          </a:prstGeom>
          <a:noFill/>
        </p:spPr>
        <p:txBody>
          <a:bodyPr wrap="square" lIns="45720" rIns="45720">
            <a:spAutoFit/>
          </a:bodyPr>
          <a:lstStyle/>
          <a:p>
            <a:pPr>
              <a:spcAft>
                <a:spcPts val="300"/>
              </a:spcAft>
            </a:pPr>
            <a:r>
              <a:rPr sz="1100" b="1">
                <a:solidFill>
                  <a:srgbClr val="FBBF24"/>
                </a:solidFill>
                <a:latin typeface="Segoe UI"/>
              </a:rPr>
              <a:t>•  </a:t>
            </a:r>
            <a:r>
              <a:rPr sz="1100">
                <a:solidFill>
                  <a:srgbClr val="CBD5E1"/>
                </a:solidFill>
                <a:latin typeface="Segoe UI"/>
              </a:rPr>
              <a:t>INLINE ONLY:</a:t>
            </a:r>
          </a:p>
          <a:p>
            <a:pPr>
              <a:spcAft>
                <a:spcPts val="300"/>
              </a:spcAft>
            </a:pPr>
            <a:r>
              <a:rPr sz="1100" b="1">
                <a:solidFill>
                  <a:srgbClr val="FBBF24"/>
                </a:solidFill>
                <a:latin typeface="Segoe UI"/>
              </a:rPr>
              <a:t>•  </a:t>
            </a:r>
            <a:r>
              <a:rPr sz="1100">
                <a:solidFill>
                  <a:srgbClr val="CBD5E1"/>
                </a:solidFill>
                <a:latin typeface="Segoe UI"/>
              </a:rPr>
              <a:t>  SQUAD_SYNC_ACTIVE=1 git commit -m '...'</a:t>
            </a:r>
          </a:p>
          <a:p>
            <a:pPr>
              <a:spcAft>
                <a:spcPts val="300"/>
              </a:spcAft>
            </a:pPr>
            <a:r>
              <a:rPr sz="1100" b="1">
                <a:solidFill>
                  <a:srgbClr val="FBBF24"/>
                </a:solidFill>
                <a:latin typeface="Segoe UI"/>
              </a:rPr>
              <a:t>•  </a:t>
            </a:r>
            <a:r>
              <a:rPr sz="1100">
                <a:solidFill>
                  <a:srgbClr val="CBD5E1"/>
                </a:solidFill>
                <a:latin typeface="Segoe UI"/>
              </a:rPr>
              <a:t/>
            </a:r>
          </a:p>
          <a:p>
            <a:pPr>
              <a:spcAft>
                <a:spcPts val="300"/>
              </a:spcAft>
            </a:pPr>
            <a:r>
              <a:rPr sz="1100" b="1">
                <a:solidFill>
                  <a:srgbClr val="FBBF24"/>
                </a:solidFill>
                <a:latin typeface="Segoe UI"/>
              </a:rPr>
              <a:t>•  </a:t>
            </a:r>
            <a:r>
              <a:rPr sz="1100">
                <a:solidFill>
                  <a:srgbClr val="CBD5E1"/>
                </a:solidFill>
                <a:latin typeface="Segoe UI"/>
              </a:rPr>
              <a:t>⚠ NEVER `export` in .bashrc / .zshrc / profile</a:t>
            </a:r>
          </a:p>
          <a:p>
            <a:pPr>
              <a:spcAft>
                <a:spcPts val="300"/>
              </a:spcAft>
            </a:pPr>
            <a:r>
              <a:rPr sz="1100" b="1">
                <a:solidFill>
                  <a:srgbClr val="FBBF24"/>
                </a:solidFill>
                <a:latin typeface="Segoe UI"/>
              </a:rPr>
              <a:t>•  </a:t>
            </a:r>
            <a:r>
              <a:rPr sz="1100">
                <a:solidFill>
                  <a:srgbClr val="CBD5E1"/>
                </a:solidFill>
                <a:latin typeface="Segoe UI"/>
              </a:rPr>
              <a:t>   — that PERMANENTLY disables the guard for</a:t>
            </a:r>
          </a:p>
          <a:p>
            <a:pPr>
              <a:spcAft>
                <a:spcPts val="300"/>
              </a:spcAft>
            </a:pPr>
            <a:r>
              <a:rPr sz="1100" b="1">
                <a:solidFill>
                  <a:srgbClr val="FBBF24"/>
                </a:solidFill>
                <a:latin typeface="Segoe UI"/>
              </a:rPr>
              <a:t>•  </a:t>
            </a:r>
            <a:r>
              <a:rPr sz="1100">
                <a:solidFill>
                  <a:srgbClr val="CBD5E1"/>
                </a:solidFill>
                <a:latin typeface="Segoe UI"/>
              </a:rPr>
              <a:t>     every repo on your machine. Hard to debug.</a:t>
            </a:r>
          </a:p>
          <a:p>
            <a:pPr>
              <a:spcAft>
                <a:spcPts val="300"/>
              </a:spcAft>
            </a:pPr>
            <a:r>
              <a:rPr sz="1100" b="1">
                <a:solidFill>
                  <a:srgbClr val="FBBF24"/>
                </a:solidFill>
                <a:latin typeface="Segoe UI"/>
              </a:rPr>
              <a:t>•  </a:t>
            </a:r>
            <a:r>
              <a:rPr sz="1100">
                <a:solidFill>
                  <a:srgbClr val="CBD5E1"/>
                </a:solidFill>
                <a:latin typeface="Segoe UI"/>
              </a:rPr>
              <a:t/>
            </a:r>
          </a:p>
          <a:p>
            <a:pPr>
              <a:spcAft>
                <a:spcPts val="300"/>
              </a:spcAft>
            </a:pPr>
            <a:r>
              <a:rPr sz="1100" b="1">
                <a:solidFill>
                  <a:srgbClr val="FBBF24"/>
                </a:solidFill>
                <a:latin typeface="Segoe UI"/>
              </a:rPr>
              <a:t>•  </a:t>
            </a:r>
            <a:r>
              <a:rPr sz="1100">
                <a:solidFill>
                  <a:srgbClr val="CBD5E1"/>
                </a:solidFill>
                <a:latin typeface="Segoe UI"/>
              </a:rPr>
              <a:t>Use `git restore --staged` instead 99% of the time.</a:t>
            </a:r>
          </a:p>
          <a:p>
            <a:pPr>
              <a:spcAft>
                <a:spcPts val="300"/>
              </a:spcAft>
            </a:pPr>
            <a:r>
              <a:rPr sz="1100" b="1">
                <a:solidFill>
                  <a:srgbClr val="FBBF24"/>
                </a:solidFill>
                <a:latin typeface="Segoe UI"/>
              </a:rPr>
              <a:t>•  </a:t>
            </a:r>
            <a:r>
              <a:rPr sz="1100">
                <a:solidFill>
                  <a:srgbClr val="CBD5E1"/>
                </a:solidFill>
                <a:latin typeface="Segoe UI"/>
              </a:rPr>
              <a:t/>
            </a:r>
          </a:p>
          <a:p>
            <a:pPr>
              <a:spcAft>
                <a:spcPts val="300"/>
              </a:spcAft>
            </a:pPr>
            <a:r>
              <a:rPr sz="1100" b="1">
                <a:solidFill>
                  <a:srgbClr val="FBBF24"/>
                </a:solidFill>
                <a:latin typeface="Segoe UI"/>
              </a:rPr>
              <a:t>•  </a:t>
            </a:r>
            <a:r>
              <a:rPr sz="1100">
                <a:solidFill>
                  <a:srgbClr val="CBD5E1"/>
                </a:solidFill>
                <a:latin typeface="Segoe UI"/>
              </a:rPr>
              <a:t>What this flag does:</a:t>
            </a:r>
          </a:p>
          <a:p>
            <a:pPr>
              <a:spcAft>
                <a:spcPts val="300"/>
              </a:spcAft>
            </a:pPr>
            <a:r>
              <a:rPr sz="1100" b="1">
                <a:solidFill>
                  <a:srgbClr val="FBBF24"/>
                </a:solidFill>
                <a:latin typeface="Segoe UI"/>
              </a:rPr>
              <a:t>•  </a:t>
            </a:r>
            <a:r>
              <a:rPr sz="1100">
                <a:solidFill>
                  <a:srgbClr val="CBD5E1"/>
                </a:solidFill>
                <a:latin typeface="Segoe UI"/>
              </a:rPr>
              <a:t>  • Bypasses the pre-commit guard</a:t>
            </a:r>
          </a:p>
          <a:p>
            <a:pPr>
              <a:spcAft>
                <a:spcPts val="300"/>
              </a:spcAft>
            </a:pPr>
            <a:r>
              <a:rPr sz="1100" b="1">
                <a:solidFill>
                  <a:srgbClr val="FBBF24"/>
                </a:solidFill>
                <a:latin typeface="Segoe UI"/>
              </a:rPr>
              <a:t>•  </a:t>
            </a:r>
            <a:r>
              <a:rPr sz="1100">
                <a:solidFill>
                  <a:srgbClr val="CBD5E1"/>
                </a:solidFill>
                <a:latin typeface="Segoe UI"/>
              </a:rPr>
              <a:t>  • Commits state INTO the working tree →</a:t>
            </a:r>
          </a:p>
          <a:p>
            <a:pPr>
              <a:spcAft>
                <a:spcPts val="300"/>
              </a:spcAft>
            </a:pPr>
            <a:r>
              <a:rPr sz="1100" b="1">
                <a:solidFill>
                  <a:srgbClr val="FBBF24"/>
                </a:solidFill>
                <a:latin typeface="Segoe UI"/>
              </a:rPr>
              <a:t>•  </a:t>
            </a:r>
            <a:r>
              <a:rPr sz="1100">
                <a:solidFill>
                  <a:srgbClr val="CBD5E1"/>
                </a:solidFill>
                <a:latin typeface="Segoe UI"/>
              </a:rPr>
              <a:t>    defeats the clean-PR promise of two-layer</a:t>
            </a:r>
          </a:p>
          <a:p>
            <a:pPr>
              <a:spcAft>
                <a:spcPts val="300"/>
              </a:spcAft>
            </a:pPr>
            <a:r>
              <a:rPr sz="1100" b="1">
                <a:solidFill>
                  <a:srgbClr val="FBBF24"/>
                </a:solidFill>
                <a:latin typeface="Segoe UI"/>
              </a:rPr>
              <a:t>•  </a:t>
            </a:r>
            <a:r>
              <a:rPr sz="1100">
                <a:solidFill>
                  <a:srgbClr val="CBD5E1"/>
                </a:solidFill>
                <a:latin typeface="Segoe UI"/>
              </a:rPr>
              <a:t>  • Internal Squad commands set it themselves</a:t>
            </a:r>
          </a:p>
          <a:p>
            <a:pPr>
              <a:spcAft>
                <a:spcPts val="300"/>
              </a:spcAft>
            </a:pPr>
            <a:r>
              <a:rPr sz="1100" b="1">
                <a:solidFill>
                  <a:srgbClr val="FBBF24"/>
                </a:solidFill>
                <a:latin typeface="Segoe UI"/>
              </a:rPr>
              <a:t>•  </a:t>
            </a:r>
            <a:r>
              <a:rPr sz="1100">
                <a:solidFill>
                  <a:srgbClr val="CBD5E1"/>
                </a:solidFill>
                <a:latin typeface="Segoe UI"/>
              </a:rPr>
              <a:t>    (hence the recursion guard in every hook)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PROMOTION IN MOTION</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Flagged notes promote and archive into orphan state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`promote_to_permanent` survives the branch; `archive_on_close` is kept for posterity.</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run on a throwaway repo — the demo repo at files/two-layer-demo-repo reproduces this exactly</a:t>
            </a:r>
          </a:p>
        </p:txBody>
      </p:sp>
      <p:sp>
        <p:nvSpPr>
          <p:cNvPr id="9" name="Rounded Rectangle 8"/>
          <p:cNvSpPr/>
          <p:nvPr/>
        </p:nvSpPr>
        <p:spPr>
          <a:xfrm>
            <a:off x="548640" y="1874519"/>
            <a:ext cx="6035040"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603504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760720" cy="228600"/>
          </a:xfrm>
          <a:prstGeom prst="rect">
            <a:avLst/>
          </a:prstGeom>
          <a:noFill/>
        </p:spPr>
        <p:txBody>
          <a:bodyPr wrap="square" lIns="36576" rIns="36576" tIns="18288" bIns="18288">
            <a:spAutoFit/>
          </a:bodyPr>
          <a:lstStyle/>
          <a:p>
            <a:r>
              <a:rPr sz="1000" b="1">
                <a:solidFill>
                  <a:srgbClr val="34D399"/>
                </a:solidFill>
                <a:latin typeface="Segoe UI Semibold"/>
              </a:rPr>
              <a:t>throwaway repo demo (verbatim)</a:t>
            </a:r>
          </a:p>
        </p:txBody>
      </p:sp>
      <p:sp>
        <p:nvSpPr>
          <p:cNvPr id="12" name="TextBox 11"/>
          <p:cNvSpPr txBox="1"/>
          <p:nvPr/>
        </p:nvSpPr>
        <p:spPr>
          <a:xfrm>
            <a:off x="713232" y="2167127"/>
            <a:ext cx="5760720" cy="3493008"/>
          </a:xfrm>
          <a:prstGeom prst="rect">
            <a:avLst/>
          </a:prstGeom>
          <a:noFill/>
        </p:spPr>
        <p:txBody>
          <a:bodyPr wrap="square" lIns="36576" rIns="36576">
            <a:spAutoFit/>
          </a:bodyPr>
          <a:lstStyle/>
          <a:p>
            <a:pPr>
              <a:spcAft>
                <a:spcPts val="100"/>
              </a:spcAft>
            </a:pPr>
            <a:r>
              <a:rPr sz="1100">
                <a:solidFill>
                  <a:srgbClr val="F8FAFC"/>
                </a:solidFill>
                <a:latin typeface="Consolas"/>
              </a:rPr>
              <a:t>$ git notes --ref=squad-flight add -m '...promote_to_permanent: true'</a:t>
            </a:r>
          </a:p>
          <a:p>
            <a:pPr>
              <a:spcAft>
                <a:spcPts val="100"/>
              </a:spcAft>
            </a:pPr>
            <a:r>
              <a:rPr sz="1100">
                <a:solidFill>
                  <a:srgbClr val="F8FAFC"/>
                </a:solidFill>
                <a:latin typeface="Consolas"/>
              </a:rPr>
              <a:t>$ git notes --ref=squad-flight add -m '...archive_on_close: true'</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squad notes promote --ref squad-flight --dry-run</a:t>
            </a:r>
          </a:p>
          <a:p>
            <a:pPr>
              <a:spcAft>
                <a:spcPts val="100"/>
              </a:spcAft>
            </a:pPr>
            <a:r>
              <a:rPr sz="1100">
                <a:solidFill>
                  <a:srgbClr val="CBD5E1"/>
                </a:solidFill>
                <a:latin typeface="Consolas"/>
              </a:rPr>
              <a:t>  Ref           Promoted  Archived  Skipped</a:t>
            </a:r>
          </a:p>
          <a:p>
            <a:pPr>
              <a:spcAft>
                <a:spcPts val="100"/>
              </a:spcAft>
            </a:pPr>
            <a:r>
              <a:rPr sz="1100">
                <a:solidFill>
                  <a:srgbClr val="CBD5E1"/>
                </a:solidFill>
                <a:latin typeface="Consolas"/>
              </a:rPr>
              <a:t>  squad-flight         1         1        0</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squad notes promote --ref squad-flight</a:t>
            </a:r>
          </a:p>
          <a:p>
            <a:pPr>
              <a:spcAft>
                <a:spcPts val="100"/>
              </a:spcAft>
            </a:pPr>
            <a:r>
              <a:rPr sz="1100">
                <a:solidFill>
                  <a:srgbClr val="CBD5E1"/>
                </a:solidFill>
                <a:latin typeface="Consolas"/>
              </a:rPr>
              <a:t>  squad-flight         1         1        0</a:t>
            </a:r>
          </a:p>
          <a:p>
            <a:pPr>
              <a:spcAft>
                <a:spcPts val="100"/>
              </a:spcAft>
            </a:pPr>
            <a:r>
              <a:rPr sz="1100">
                <a:solidFill>
                  <a:srgbClr val="CBD5E1"/>
                </a:solidFill>
                <a:latin typeface="Consolas"/>
              </a:rPr>
              <a:t>  ✓ Promotion complete.</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git ls-tree --name-only -r squad-state</a:t>
            </a:r>
          </a:p>
          <a:p>
            <a:pPr>
              <a:spcAft>
                <a:spcPts val="100"/>
              </a:spcAft>
            </a:pPr>
            <a:r>
              <a:rPr sz="1100">
                <a:solidFill>
                  <a:srgbClr val="CBD5E1"/>
                </a:solidFill>
                <a:latin typeface="Consolas"/>
              </a:rPr>
              <a:t>  archive/squad-flight/&lt;commit&gt;.json</a:t>
            </a:r>
          </a:p>
          <a:p>
            <a:pPr>
              <a:spcAft>
                <a:spcPts val="100"/>
              </a:spcAft>
            </a:pPr>
            <a:r>
              <a:rPr sz="1100">
                <a:solidFill>
                  <a:srgbClr val="CBD5E1"/>
                </a:solidFill>
                <a:latin typeface="Consolas"/>
              </a:rPr>
              <a:t>  promoted/squad-flight/&lt;commit&gt;.json</a:t>
            </a:r>
          </a:p>
        </p:txBody>
      </p:sp>
      <p:sp>
        <p:nvSpPr>
          <p:cNvPr id="13" name="Rounded Rectangle 12"/>
          <p:cNvSpPr/>
          <p:nvPr/>
        </p:nvSpPr>
        <p:spPr>
          <a:xfrm>
            <a:off x="6766559" y="1874519"/>
            <a:ext cx="4846320" cy="38404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66559" y="1874519"/>
            <a:ext cx="484632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31151"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6" name="TextBox 15"/>
          <p:cNvSpPr txBox="1"/>
          <p:nvPr/>
        </p:nvSpPr>
        <p:spPr>
          <a:xfrm>
            <a:off x="7452359" y="2039112"/>
            <a:ext cx="4069080" cy="411480"/>
          </a:xfrm>
          <a:prstGeom prst="rect">
            <a:avLst/>
          </a:prstGeom>
          <a:noFill/>
        </p:spPr>
        <p:txBody>
          <a:bodyPr wrap="square" lIns="36576" rIns="36576" tIns="18288" bIns="18288" anchor="ctr">
            <a:spAutoFit/>
          </a:bodyPr>
          <a:lstStyle/>
          <a:p>
            <a:r>
              <a:rPr sz="1400" b="1">
                <a:solidFill>
                  <a:srgbClr val="F8FAFC"/>
                </a:solidFill>
                <a:latin typeface="Segoe UI"/>
              </a:rPr>
              <a:t>Honest caveat (found while running this demo)</a:t>
            </a:r>
          </a:p>
        </p:txBody>
      </p:sp>
      <p:sp>
        <p:nvSpPr>
          <p:cNvPr id="17" name="TextBox 16"/>
          <p:cNvSpPr txBox="1"/>
          <p:nvPr/>
        </p:nvSpPr>
        <p:spPr>
          <a:xfrm>
            <a:off x="6931151" y="2560320"/>
            <a:ext cx="4572000" cy="306324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Backend writes a bulk note at refs/notes/squad</a:t>
            </a:r>
          </a:p>
          <a:p>
            <a:pPr>
              <a:spcAft>
                <a:spcPts val="300"/>
              </a:spcAft>
            </a:pPr>
            <a:r>
              <a:rPr sz="1200" b="1">
                <a:solidFill>
                  <a:srgbClr val="FBBF24"/>
                </a:solidFill>
                <a:latin typeface="Segoe UI"/>
              </a:rPr>
              <a:t>•  </a:t>
            </a:r>
            <a:r>
              <a:rPr sz="1200">
                <a:solidFill>
                  <a:srgbClr val="CBD5E1"/>
                </a:solidFill>
                <a:latin typeface="Segoe UI"/>
              </a:rPr>
              <a:t>That blocks nested refs/notes/squad/{agent}</a:t>
            </a:r>
          </a:p>
          <a:p>
            <a:pPr>
              <a:spcAft>
                <a:spcPts val="300"/>
              </a:spcAft>
            </a:pPr>
            <a:r>
              <a:rPr sz="1200" b="1">
                <a:solidFill>
                  <a:srgbClr val="FBBF24"/>
                </a:solidFill>
                <a:latin typeface="Segoe UI"/>
              </a:rPr>
              <a:t>•  </a:t>
            </a:r>
            <a:r>
              <a:rPr sz="1200">
                <a:solidFill>
                  <a:srgbClr val="CBD5E1"/>
                </a:solidFill>
                <a:latin typeface="Segoe UI"/>
              </a:rPr>
              <a:t>Demo used refs/notes/squad-flight to proceed</a:t>
            </a:r>
          </a:p>
          <a:p>
            <a:pPr>
              <a:spcAft>
                <a:spcPts val="300"/>
              </a:spcAft>
            </a:pPr>
            <a:r>
              <a:rPr sz="1200" b="1">
                <a:solidFill>
                  <a:srgbClr val="FBBF24"/>
                </a:solidFill>
                <a:latin typeface="Segoe UI"/>
              </a:rPr>
              <a:t>•  </a:t>
            </a:r>
            <a:r>
              <a:rPr sz="1200">
                <a:solidFill>
                  <a:srgbClr val="CBD5E1"/>
                </a:solidFill>
                <a:latin typeface="Segoe UI"/>
              </a:rPr>
              <a:t>Documented per-agent namespace currently collides</a:t>
            </a:r>
          </a:p>
          <a:p>
            <a:pPr>
              <a:spcAft>
                <a:spcPts val="300"/>
              </a:spcAft>
            </a:pPr>
            <a:r>
              <a:rPr sz="1200" b="1">
                <a:solidFill>
                  <a:srgbClr val="FBBF24"/>
                </a:solidFill>
                <a:latin typeface="Segoe UI"/>
              </a:rPr>
              <a:t>•  </a:t>
            </a:r>
            <a:r>
              <a:rPr sz="1200">
                <a:solidFill>
                  <a:srgbClr val="CBD5E1"/>
                </a:solidFill>
                <a:latin typeface="Segoe UI"/>
              </a:rPr>
              <a:t/>
            </a:r>
          </a:p>
          <a:p>
            <a:pPr>
              <a:spcAft>
                <a:spcPts val="300"/>
              </a:spcAft>
            </a:pPr>
            <a:r>
              <a:rPr sz="1200" b="1">
                <a:solidFill>
                  <a:srgbClr val="FBBF24"/>
                </a:solidFill>
                <a:latin typeface="Segoe UI"/>
              </a:rPr>
              <a:t>•  </a:t>
            </a:r>
            <a:r>
              <a:rPr sz="1200">
                <a:solidFill>
                  <a:srgbClr val="CBD5E1"/>
                </a:solidFill>
                <a:latin typeface="Segoe UI"/>
              </a:rPr>
              <a:t>Real systems have rough edges — architects deserve them, not the demo polish.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WHY PEOPLE ASKED FOR THIS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External state — when `.squad/` shouldn’t even live in the repo</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Three real user pains drove this. It’s an escape hatch — not a replacement for two-layer.</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docs/.../features/external-state.md:65-109, 176-207 • issue threads driving it</a:t>
            </a:r>
          </a:p>
        </p:txBody>
      </p:sp>
      <p:sp>
        <p:nvSpPr>
          <p:cNvPr id="9" name="Rounded Rectangle 8"/>
          <p:cNvSpPr/>
          <p:nvPr/>
        </p:nvSpPr>
        <p:spPr>
          <a:xfrm>
            <a:off x="548640" y="1874519"/>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358841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54864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2" name="TextBox 11"/>
          <p:cNvSpPr txBox="1"/>
          <p:nvPr/>
        </p:nvSpPr>
        <p:spPr>
          <a:xfrm>
            <a:off x="1325880" y="2039112"/>
            <a:ext cx="2674010" cy="411480"/>
          </a:xfrm>
          <a:prstGeom prst="rect">
            <a:avLst/>
          </a:prstGeom>
          <a:noFill/>
        </p:spPr>
        <p:txBody>
          <a:bodyPr wrap="square" lIns="36576" rIns="36576" tIns="18288" bIns="18288" anchor="ctr">
            <a:spAutoFit/>
          </a:bodyPr>
          <a:lstStyle/>
          <a:p>
            <a:r>
              <a:rPr sz="1400" b="1">
                <a:solidFill>
                  <a:srgbClr val="F8FAFC"/>
                </a:solidFill>
                <a:latin typeface="Segoe UI"/>
              </a:rPr>
              <a:t>“Every branch switch is noisy”</a:t>
            </a:r>
          </a:p>
        </p:txBody>
      </p:sp>
      <p:sp>
        <p:nvSpPr>
          <p:cNvPr id="13" name="TextBox 12"/>
          <p:cNvSpPr txBox="1"/>
          <p:nvPr/>
        </p:nvSpPr>
        <p:spPr>
          <a:xfrm>
            <a:off x="731520" y="2560320"/>
            <a:ext cx="3222650" cy="914400"/>
          </a:xfrm>
          <a:prstGeom prst="rect">
            <a:avLst/>
          </a:prstGeom>
          <a:noFill/>
        </p:spPr>
        <p:txBody>
          <a:bodyPr wrap="square" lIns="36576" rIns="36576" tIns="18288" bIns="18288">
            <a:spAutoFit/>
          </a:bodyPr>
          <a:lstStyle/>
          <a:p>
            <a:r>
              <a:rPr sz="1200" b="0">
                <a:solidFill>
                  <a:srgbClr val="CBD5E1"/>
                </a:solidFill>
                <a:latin typeface="Segoe UI"/>
              </a:rPr>
              <a:t>git status keeps showing .squad/ files as modified/deleted because each branch has different team state.</a:t>
            </a:r>
          </a:p>
        </p:txBody>
      </p:sp>
      <p:sp>
        <p:nvSpPr>
          <p:cNvPr id="14" name="Rounded Rectangle 13"/>
          <p:cNvSpPr/>
          <p:nvPr/>
        </p:nvSpPr>
        <p:spPr>
          <a:xfrm>
            <a:off x="4301642" y="1874519"/>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874519"/>
            <a:ext cx="358841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4522" y="2039112"/>
            <a:ext cx="54864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7" name="TextBox 16"/>
          <p:cNvSpPr txBox="1"/>
          <p:nvPr/>
        </p:nvSpPr>
        <p:spPr>
          <a:xfrm>
            <a:off x="5078882" y="2039112"/>
            <a:ext cx="2674010" cy="411480"/>
          </a:xfrm>
          <a:prstGeom prst="rect">
            <a:avLst/>
          </a:prstGeom>
          <a:noFill/>
        </p:spPr>
        <p:txBody>
          <a:bodyPr wrap="square" lIns="36576" rIns="36576" tIns="18288" bIns="18288" anchor="ctr">
            <a:spAutoFit/>
          </a:bodyPr>
          <a:lstStyle/>
          <a:p>
            <a:r>
              <a:rPr sz="1400" b="1">
                <a:solidFill>
                  <a:srgbClr val="F8FAFC"/>
                </a:solidFill>
                <a:latin typeface="Segoe UI"/>
              </a:rPr>
              <a:t>“git clean -fdx wiped our team”</a:t>
            </a:r>
          </a:p>
        </p:txBody>
      </p:sp>
      <p:sp>
        <p:nvSpPr>
          <p:cNvPr id="18" name="TextBox 17"/>
          <p:cNvSpPr txBox="1"/>
          <p:nvPr/>
        </p:nvSpPr>
        <p:spPr>
          <a:xfrm>
            <a:off x="4484522" y="2560320"/>
            <a:ext cx="3222650" cy="914400"/>
          </a:xfrm>
          <a:prstGeom prst="rect">
            <a:avLst/>
          </a:prstGeom>
          <a:noFill/>
        </p:spPr>
        <p:txBody>
          <a:bodyPr wrap="square" lIns="36576" rIns="36576" tIns="18288" bIns="18288">
            <a:spAutoFit/>
          </a:bodyPr>
          <a:lstStyle/>
          <a:p>
            <a:r>
              <a:rPr sz="1200" b="0">
                <a:solidFill>
                  <a:srgbClr val="CBD5E1"/>
                </a:solidFill>
                <a:latin typeface="Segoe UI"/>
              </a:rPr>
              <a:t>On disk under .squad/ → nukable by any aggressive clean. Months of decisions and history, gone.</a:t>
            </a:r>
          </a:p>
        </p:txBody>
      </p:sp>
      <p:sp>
        <p:nvSpPr>
          <p:cNvPr id="19" name="Rounded Rectangle 18"/>
          <p:cNvSpPr/>
          <p:nvPr/>
        </p:nvSpPr>
        <p:spPr>
          <a:xfrm>
            <a:off x="8054644" y="1874519"/>
            <a:ext cx="3588410" cy="16916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874519"/>
            <a:ext cx="358841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7524" y="2039112"/>
            <a:ext cx="54864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2" name="TextBox 21"/>
          <p:cNvSpPr txBox="1"/>
          <p:nvPr/>
        </p:nvSpPr>
        <p:spPr>
          <a:xfrm>
            <a:off x="8831884" y="2039112"/>
            <a:ext cx="2674010" cy="411480"/>
          </a:xfrm>
          <a:prstGeom prst="rect">
            <a:avLst/>
          </a:prstGeom>
          <a:noFill/>
        </p:spPr>
        <p:txBody>
          <a:bodyPr wrap="square" lIns="36576" rIns="36576" tIns="18288" bIns="18288" anchor="ctr">
            <a:spAutoFit/>
          </a:bodyPr>
          <a:lstStyle/>
          <a:p>
            <a:r>
              <a:rPr sz="1400" b="1">
                <a:solidFill>
                  <a:srgbClr val="F8FAFC"/>
                </a:solidFill>
                <a:latin typeface="Segoe UI"/>
              </a:rPr>
              <a:t>“We don’t want .squad/ in PRs”</a:t>
            </a:r>
          </a:p>
        </p:txBody>
      </p:sp>
      <p:sp>
        <p:nvSpPr>
          <p:cNvPr id="23" name="TextBox 22"/>
          <p:cNvSpPr txBox="1"/>
          <p:nvPr/>
        </p:nvSpPr>
        <p:spPr>
          <a:xfrm>
            <a:off x="8237524" y="2560320"/>
            <a:ext cx="3222650" cy="914400"/>
          </a:xfrm>
          <a:prstGeom prst="rect">
            <a:avLst/>
          </a:prstGeom>
          <a:noFill/>
        </p:spPr>
        <p:txBody>
          <a:bodyPr wrap="square" lIns="36576" rIns="36576" tIns="18288" bIns="18288">
            <a:spAutoFit/>
          </a:bodyPr>
          <a:lstStyle/>
          <a:p>
            <a:r>
              <a:rPr sz="1200" b="0">
                <a:solidFill>
                  <a:srgbClr val="CBD5E1"/>
                </a:solidFill>
                <a:latin typeface="Segoe UI"/>
              </a:rPr>
              <a:t>Even with .gitignore, reviewers ask ‘what is this folder?’ — the marker file is the only thing left in the repo.</a:t>
            </a:r>
          </a:p>
        </p:txBody>
      </p:sp>
      <p:sp>
        <p:nvSpPr>
          <p:cNvPr id="24" name="Rounded Rectangle 23"/>
          <p:cNvSpPr/>
          <p:nvPr/>
        </p:nvSpPr>
        <p:spPr>
          <a:xfrm>
            <a:off x="548640" y="3749039"/>
            <a:ext cx="5943600" cy="18288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749039"/>
            <a:ext cx="59436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94759"/>
            <a:ext cx="5669280" cy="228600"/>
          </a:xfrm>
          <a:prstGeom prst="rect">
            <a:avLst/>
          </a:prstGeom>
          <a:noFill/>
        </p:spPr>
        <p:txBody>
          <a:bodyPr wrap="square" lIns="36576" rIns="36576" tIns="18288" bIns="18288">
            <a:spAutoFit/>
          </a:bodyPr>
          <a:lstStyle/>
          <a:p>
            <a:r>
              <a:rPr sz="1000" b="1">
                <a:solidFill>
                  <a:srgbClr val="38BDF8"/>
                </a:solidFill>
                <a:latin typeface="Segoe UI Semibold"/>
              </a:rPr>
              <a:t>the operator commands</a:t>
            </a:r>
          </a:p>
        </p:txBody>
      </p:sp>
      <p:sp>
        <p:nvSpPr>
          <p:cNvPr id="27" name="TextBox 26"/>
          <p:cNvSpPr txBox="1"/>
          <p:nvPr/>
        </p:nvSpPr>
        <p:spPr>
          <a:xfrm>
            <a:off x="713232" y="4041648"/>
            <a:ext cx="5669280" cy="1481328"/>
          </a:xfrm>
          <a:prstGeom prst="rect">
            <a:avLst/>
          </a:prstGeom>
          <a:noFill/>
        </p:spPr>
        <p:txBody>
          <a:bodyPr wrap="square" lIns="36576" rIns="36576">
            <a:spAutoFit/>
          </a:bodyPr>
          <a:lstStyle/>
          <a:p>
            <a:pPr>
              <a:spcAft>
                <a:spcPts val="100"/>
              </a:spcAft>
            </a:pPr>
            <a:r>
              <a:rPr sz="1100">
                <a:solidFill>
                  <a:srgbClr val="F8FAFC"/>
                </a:solidFill>
                <a:latin typeface="Consolas"/>
              </a:rPr>
              <a:t>$ squad externalize</a:t>
            </a:r>
          </a:p>
          <a:p>
            <a:pPr>
              <a:spcAft>
                <a:spcPts val="100"/>
              </a:spcAft>
            </a:pPr>
            <a:r>
              <a:rPr sz="1100">
                <a:solidFill>
                  <a:srgbClr val="CBD5E1"/>
                </a:solidFill>
                <a:latin typeface="Consolas"/>
              </a:rPr>
              <a:t>  ✓ moved 24 state files to:</a:t>
            </a:r>
          </a:p>
          <a:p>
            <a:pPr>
              <a:spcAft>
                <a:spcPts val="100"/>
              </a:spcAft>
            </a:pPr>
            <a:r>
              <a:rPr sz="1100">
                <a:solidFill>
                  <a:srgbClr val="CBD5E1"/>
                </a:solidFill>
                <a:latin typeface="Consolas"/>
              </a:rPr>
              <a:t>    %APPDATA%\squad\projects\my-monorepo\</a:t>
            </a:r>
          </a:p>
          <a:p>
            <a:pPr>
              <a:spcAft>
                <a:spcPts val="100"/>
              </a:spcAft>
            </a:pPr>
            <a:r>
              <a:rPr sz="1100">
                <a:solidFill>
                  <a:srgbClr val="CBD5E1"/>
                </a:solidFill>
                <a:latin typeface="Consolas"/>
              </a:rPr>
              <a:t>  ✓ left .squad/config.json marker in repo</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squad internalize     # move state back into the repo</a:t>
            </a:r>
          </a:p>
        </p:txBody>
      </p:sp>
      <p:sp>
        <p:nvSpPr>
          <p:cNvPr id="28" name="Rounded Rectangle 27"/>
          <p:cNvSpPr/>
          <p:nvPr/>
        </p:nvSpPr>
        <p:spPr>
          <a:xfrm>
            <a:off x="6675120" y="3749039"/>
            <a:ext cx="4937760" cy="18288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75120" y="3749039"/>
            <a:ext cx="4937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39712" y="3913631"/>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31" name="TextBox 30"/>
          <p:cNvSpPr txBox="1"/>
          <p:nvPr/>
        </p:nvSpPr>
        <p:spPr>
          <a:xfrm>
            <a:off x="7360920" y="3913631"/>
            <a:ext cx="4160520" cy="411480"/>
          </a:xfrm>
          <a:prstGeom prst="rect">
            <a:avLst/>
          </a:prstGeom>
          <a:noFill/>
        </p:spPr>
        <p:txBody>
          <a:bodyPr wrap="square" lIns="36576" rIns="36576" tIns="18288" bIns="18288" anchor="ctr">
            <a:spAutoFit/>
          </a:bodyPr>
          <a:lstStyle/>
          <a:p>
            <a:r>
              <a:rPr sz="1400" b="1">
                <a:solidFill>
                  <a:srgbClr val="F8FAFC"/>
                </a:solidFill>
                <a:latin typeface="Segoe UI"/>
              </a:rPr>
              <a:t>What you get</a:t>
            </a:r>
          </a:p>
        </p:txBody>
      </p:sp>
      <p:sp>
        <p:nvSpPr>
          <p:cNvPr id="32" name="TextBox 31"/>
          <p:cNvSpPr txBox="1"/>
          <p:nvPr/>
        </p:nvSpPr>
        <p:spPr>
          <a:xfrm>
            <a:off x="6839712" y="4434840"/>
            <a:ext cx="4663440" cy="105156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Clean git status across all branches</a:t>
            </a:r>
          </a:p>
          <a:p>
            <a:pPr>
              <a:spcAft>
                <a:spcPts val="300"/>
              </a:spcAft>
            </a:pPr>
            <a:r>
              <a:rPr sz="1200" b="1">
                <a:solidFill>
                  <a:srgbClr val="38BDF8"/>
                </a:solidFill>
                <a:latin typeface="Segoe UI"/>
              </a:rPr>
              <a:t>•  </a:t>
            </a:r>
            <a:r>
              <a:rPr sz="1200">
                <a:solidFill>
                  <a:srgbClr val="CBD5E1"/>
                </a:solidFill>
                <a:latin typeface="Segoe UI"/>
              </a:rPr>
              <a:t>State survives git clean / fresh clones</a:t>
            </a:r>
          </a:p>
          <a:p>
            <a:pPr>
              <a:spcAft>
                <a:spcPts val="300"/>
              </a:spcAft>
            </a:pPr>
            <a:r>
              <a:rPr sz="1200" b="1">
                <a:solidFill>
                  <a:srgbClr val="38BDF8"/>
                </a:solidFill>
                <a:latin typeface="Segoe UI"/>
              </a:rPr>
              <a:t>•  </a:t>
            </a:r>
            <a:r>
              <a:rPr sz="1200">
                <a:solidFill>
                  <a:srgbClr val="CBD5E1"/>
                </a:solidFill>
                <a:latin typeface="Segoe UI"/>
              </a:rPr>
              <a:t>Per-repo global directory (no cross-talk)</a:t>
            </a:r>
          </a:p>
          <a:p>
            <a:pPr>
              <a:spcAft>
                <a:spcPts val="300"/>
              </a:spcAft>
            </a:pPr>
            <a:r>
              <a:rPr sz="1200" b="1">
                <a:solidFill>
                  <a:srgbClr val="38BDF8"/>
                </a:solidFill>
                <a:latin typeface="Segoe UI"/>
              </a:rPr>
              <a:t>•  </a:t>
            </a:r>
            <a:r>
              <a:rPr sz="1200">
                <a:solidFill>
                  <a:srgbClr val="CBD5E1"/>
                </a:solidFill>
                <a:latin typeface="Segoe UI"/>
              </a:rPr>
              <a:t>Marker file stays in repo for re-link</a:t>
            </a:r>
          </a:p>
        </p:txBody>
      </p:sp>
      <p:sp>
        <p:nvSpPr>
          <p:cNvPr id="33" name="Rounded Rectangle 32"/>
          <p:cNvSpPr/>
          <p:nvPr/>
        </p:nvSpPr>
        <p:spPr>
          <a:xfrm>
            <a:off x="548640" y="5760720"/>
            <a:ext cx="11094415" cy="502920"/>
          </a:xfrm>
          <a:prstGeom prst="roundRect">
            <a:avLst/>
          </a:prstGeom>
          <a:solidFill>
            <a:srgbClr val="0A182A"/>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 y="5852159"/>
            <a:ext cx="10545775" cy="365760"/>
          </a:xfrm>
          <a:prstGeom prst="rect">
            <a:avLst/>
          </a:prstGeom>
          <a:noFill/>
        </p:spPr>
        <p:txBody>
          <a:bodyPr wrap="square" lIns="36576" rIns="36576" tIns="18288" bIns="18288">
            <a:spAutoFit/>
          </a:bodyPr>
          <a:lstStyle/>
          <a:p>
            <a:pPr algn="ctr"/>
            <a:r>
              <a:rPr sz="1200" b="1">
                <a:solidFill>
                  <a:srgbClr val="FBBF24"/>
                </a:solidFill>
                <a:latin typeface="Segoe UI Semibold"/>
              </a:rPr>
              <a:t>Key distinction: external state is per repo, per machine. It’s NOT a substitute for two-layer when you need shared team state across machines.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64592" cy="228600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34</a:t>
            </a:r>
          </a:p>
        </p:txBody>
      </p:sp>
      <p:sp>
        <p:nvSpPr>
          <p:cNvPr id="5" name="TextBox 4"/>
          <p:cNvSpPr txBox="1"/>
          <p:nvPr/>
        </p:nvSpPr>
        <p:spPr>
          <a:xfrm>
            <a:off x="960120" y="2331720"/>
            <a:ext cx="11094415" cy="457200"/>
          </a:xfrm>
          <a:prstGeom prst="rect">
            <a:avLst/>
          </a:prstGeom>
          <a:noFill/>
        </p:spPr>
        <p:txBody>
          <a:bodyPr wrap="square" lIns="36576" rIns="36576" tIns="18288" bIns="18288">
            <a:spAutoFit/>
          </a:bodyPr>
          <a:lstStyle/>
          <a:p>
            <a:r>
              <a:rPr sz="1400" b="1">
                <a:solidFill>
                  <a:srgbClr val="34D399"/>
                </a:solidFill>
                <a:latin typeface="Segoe UI Semibold"/>
              </a:rPr>
              <a:t>PATTERN 3</a:t>
            </a:r>
          </a:p>
        </p:txBody>
      </p:sp>
      <p:sp>
        <p:nvSpPr>
          <p:cNvPr id="6" name="TextBox 5"/>
          <p:cNvSpPr txBox="1"/>
          <p:nvPr/>
        </p:nvSpPr>
        <p:spPr>
          <a:xfrm>
            <a:off x="960120" y="2788920"/>
            <a:ext cx="11094415" cy="1828800"/>
          </a:xfrm>
          <a:prstGeom prst="rect">
            <a:avLst/>
          </a:prstGeom>
          <a:noFill/>
        </p:spPr>
        <p:txBody>
          <a:bodyPr wrap="square" lIns="36576" rIns="36576" tIns="18288" bIns="18288">
            <a:spAutoFit/>
          </a:bodyPr>
          <a:lstStyle/>
          <a:p>
            <a:r>
              <a:rPr sz="5400" b="1">
                <a:solidFill>
                  <a:srgbClr val="F8FAFC"/>
                </a:solidFill>
                <a:latin typeface="Segoe UI"/>
              </a:rPr>
              <a:t>➂ Spawning the
right shape of team</a:t>
            </a:r>
          </a:p>
        </p:txBody>
      </p:sp>
      <p:sp>
        <p:nvSpPr>
          <p:cNvPr id="7" name="TextBox 6"/>
          <p:cNvSpPr txBox="1"/>
          <p:nvPr/>
        </p:nvSpPr>
        <p:spPr>
          <a:xfrm>
            <a:off x="960120" y="4526280"/>
            <a:ext cx="11094415" cy="1280160"/>
          </a:xfrm>
          <a:prstGeom prst="rect">
            <a:avLst/>
          </a:prstGeom>
          <a:noFill/>
        </p:spPr>
        <p:txBody>
          <a:bodyPr wrap="square" lIns="36576" rIns="36576" tIns="18288" bIns="18288">
            <a:spAutoFit/>
          </a:bodyPr>
          <a:lstStyle/>
          <a:p>
            <a:r>
              <a:rPr sz="2000" b="0">
                <a:solidFill>
                  <a:srgbClr val="CBD5E1"/>
                </a:solidFill>
                <a:latin typeface="Segoe UI"/>
              </a:rPr>
              <a:t>The scaling unit is a purpose-built workspace with a mission brief — not more agents in one chat.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35</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COORDINATOR LOGIC</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Fan-out first — serialize only for real gates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Parallel work is the default. Sync is for data dependencies and reviewer gates.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docs/.../features/parallel-execution.md:25-56, 86-99</a:t>
            </a:r>
          </a:p>
        </p:txBody>
      </p:sp>
      <p:sp>
        <p:nvSpPr>
          <p:cNvPr id="9" name="Rounded Rectangle 8"/>
          <p:cNvSpPr/>
          <p:nvPr/>
        </p:nvSpPr>
        <p:spPr>
          <a:xfrm>
            <a:off x="548640" y="1874519"/>
            <a:ext cx="5943600" cy="27432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34D399"/>
                </a:solidFill>
                <a:latin typeface="Segoe UI Semibold"/>
              </a:rPr>
              <a:t>fan-out is the default</a:t>
            </a:r>
          </a:p>
        </p:txBody>
      </p:sp>
      <p:sp>
        <p:nvSpPr>
          <p:cNvPr id="12" name="TextBox 11"/>
          <p:cNvSpPr txBox="1"/>
          <p:nvPr/>
        </p:nvSpPr>
        <p:spPr>
          <a:xfrm>
            <a:off x="713232" y="2167127"/>
            <a:ext cx="5669280" cy="2395728"/>
          </a:xfrm>
          <a:prstGeom prst="rect">
            <a:avLst/>
          </a:prstGeom>
          <a:noFill/>
        </p:spPr>
        <p:txBody>
          <a:bodyPr wrap="square" lIns="36576" rIns="36576">
            <a:spAutoFit/>
          </a:bodyPr>
          <a:lstStyle/>
          <a:p>
            <a:pPr>
              <a:spcAft>
                <a:spcPts val="100"/>
              </a:spcAft>
            </a:pPr>
            <a:r>
              <a:rPr sz="1100">
                <a:solidFill>
                  <a:srgbClr val="CBD5E1"/>
                </a:solidFill>
                <a:latin typeface="Consolas"/>
              </a:rPr>
              <a:t>User: "Build auth"</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Coordinator spawns in parallel:</a:t>
            </a:r>
          </a:p>
          <a:p>
            <a:pPr>
              <a:spcAft>
                <a:spcPts val="100"/>
              </a:spcAft>
            </a:pPr>
            <a:r>
              <a:rPr sz="1100">
                <a:solidFill>
                  <a:srgbClr val="CBD5E1"/>
                </a:solidFill>
                <a:latin typeface="Consolas"/>
              </a:rPr>
              <a:t>  ○ Backend  : endpoints</a:t>
            </a:r>
          </a:p>
          <a:p>
            <a:pPr>
              <a:spcAft>
                <a:spcPts val="100"/>
              </a:spcAft>
            </a:pPr>
            <a:r>
              <a:rPr sz="1100">
                <a:solidFill>
                  <a:srgbClr val="CBD5E1"/>
                </a:solidFill>
                <a:latin typeface="Consolas"/>
              </a:rPr>
              <a:t>  ○ Frontend : login form</a:t>
            </a:r>
          </a:p>
          <a:p>
            <a:pPr>
              <a:spcAft>
                <a:spcPts val="100"/>
              </a:spcAft>
            </a:pPr>
            <a:r>
              <a:rPr sz="1100">
                <a:solidFill>
                  <a:srgbClr val="CBD5E1"/>
                </a:solidFill>
                <a:latin typeface="Consolas"/>
              </a:rPr>
              <a:t>  ○ Tester   : auth scenarios</a:t>
            </a:r>
          </a:p>
          <a:p>
            <a:pPr>
              <a:spcAft>
                <a:spcPts val="100"/>
              </a:spcAft>
            </a:pPr>
            <a:r>
              <a:rPr sz="1100">
                <a:solidFill>
                  <a:srgbClr val="CBD5E1"/>
                </a:solidFill>
                <a:latin typeface="Consolas"/>
              </a:rPr>
              <a:t>  ○ Security : threat model</a:t>
            </a:r>
          </a:p>
        </p:txBody>
      </p:sp>
      <p:sp>
        <p:nvSpPr>
          <p:cNvPr id="13" name="Rounded Rectangle 12"/>
          <p:cNvSpPr/>
          <p:nvPr/>
        </p:nvSpPr>
        <p:spPr>
          <a:xfrm>
            <a:off x="6675120" y="1874519"/>
            <a:ext cx="4937760" cy="27432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4937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6" name="TextBox 15"/>
          <p:cNvSpPr txBox="1"/>
          <p:nvPr/>
        </p:nvSpPr>
        <p:spPr>
          <a:xfrm>
            <a:off x="7360920" y="2039112"/>
            <a:ext cx="4160520" cy="411480"/>
          </a:xfrm>
          <a:prstGeom prst="rect">
            <a:avLst/>
          </a:prstGeom>
          <a:noFill/>
        </p:spPr>
        <p:txBody>
          <a:bodyPr wrap="square" lIns="36576" rIns="36576" tIns="18288" bIns="18288" anchor="ctr">
            <a:spAutoFit/>
          </a:bodyPr>
          <a:lstStyle/>
          <a:p>
            <a:r>
              <a:rPr sz="1500" b="1">
                <a:solidFill>
                  <a:srgbClr val="F8FAFC"/>
                </a:solidFill>
                <a:latin typeface="Segoe UI"/>
              </a:rPr>
              <a:t>Serialize only for these</a:t>
            </a:r>
          </a:p>
        </p:txBody>
      </p:sp>
      <p:sp>
        <p:nvSpPr>
          <p:cNvPr id="17" name="TextBox 16"/>
          <p:cNvSpPr txBox="1"/>
          <p:nvPr/>
        </p:nvSpPr>
        <p:spPr>
          <a:xfrm>
            <a:off x="6839712" y="2560320"/>
            <a:ext cx="4663440" cy="19659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Lead architecture decision gates implementation</a:t>
            </a:r>
          </a:p>
          <a:p>
            <a:pPr>
              <a:spcAft>
                <a:spcPts val="300"/>
              </a:spcAft>
            </a:pPr>
            <a:r>
              <a:rPr sz="1200" b="1">
                <a:solidFill>
                  <a:srgbClr val="34D399"/>
                </a:solidFill>
                <a:latin typeface="Segoe UI"/>
              </a:rPr>
              <a:t>•  </a:t>
            </a:r>
            <a:r>
              <a:rPr sz="1200">
                <a:solidFill>
                  <a:srgbClr val="CBD5E1"/>
                </a:solidFill>
                <a:latin typeface="Segoe UI"/>
              </a:rPr>
              <a:t>Reviewer approval gates merge</a:t>
            </a:r>
          </a:p>
          <a:p>
            <a:pPr>
              <a:spcAft>
                <a:spcPts val="300"/>
              </a:spcAft>
            </a:pPr>
            <a:r>
              <a:rPr sz="1200" b="1">
                <a:solidFill>
                  <a:srgbClr val="34D399"/>
                </a:solidFill>
                <a:latin typeface="Segoe UI"/>
              </a:rPr>
              <a:t>•  </a:t>
            </a:r>
            <a:r>
              <a:rPr sz="1200">
                <a:solidFill>
                  <a:srgbClr val="CBD5E1"/>
                </a:solidFill>
                <a:latin typeface="Segoe UI"/>
              </a:rPr>
              <a:t>Agent B needs Agent A's output file</a:t>
            </a:r>
          </a:p>
          <a:p>
            <a:pPr>
              <a:spcAft>
                <a:spcPts val="300"/>
              </a:spcAft>
            </a:pPr>
            <a:r>
              <a:rPr sz="1200" b="1">
                <a:solidFill>
                  <a:srgbClr val="34D399"/>
                </a:solidFill>
                <a:latin typeface="Segoe UI"/>
              </a:rPr>
              <a:t>•  </a:t>
            </a:r>
            <a:r>
              <a:rPr sz="1200">
                <a:solidFill>
                  <a:srgbClr val="CBD5E1"/>
                </a:solidFill>
                <a:latin typeface="Segoe UI"/>
              </a:rPr>
              <a:t>User clarification is required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36</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ISOLATION</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Worktrees are the child workspace primitive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A spawned mission needs a safe place to work without disrupting HQ.</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.squad-templates/worktree-reference.md:48-127</a:t>
            </a:r>
          </a:p>
        </p:txBody>
      </p:sp>
      <p:sp>
        <p:nvSpPr>
          <p:cNvPr id="9" name="Rounded Rectangle 8"/>
          <p:cNvSpPr/>
          <p:nvPr/>
        </p:nvSpPr>
        <p:spPr>
          <a:xfrm>
            <a:off x="548640" y="1874519"/>
            <a:ext cx="5943600" cy="27432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34D399"/>
                </a:solidFill>
                <a:latin typeface="Segoe UI Semibold"/>
              </a:rPr>
              <a:t>worktree lifecycle</a:t>
            </a:r>
          </a:p>
        </p:txBody>
      </p:sp>
      <p:sp>
        <p:nvSpPr>
          <p:cNvPr id="12" name="TextBox 11"/>
          <p:cNvSpPr txBox="1"/>
          <p:nvPr/>
        </p:nvSpPr>
        <p:spPr>
          <a:xfrm>
            <a:off x="713232" y="2167127"/>
            <a:ext cx="5669280" cy="2395728"/>
          </a:xfrm>
          <a:prstGeom prst="rect">
            <a:avLst/>
          </a:prstGeom>
          <a:noFill/>
        </p:spPr>
        <p:txBody>
          <a:bodyPr wrap="square" lIns="36576" rIns="36576">
            <a:spAutoFit/>
          </a:bodyPr>
          <a:lstStyle/>
          <a:p>
            <a:pPr>
              <a:spcAft>
                <a:spcPts val="100"/>
              </a:spcAft>
            </a:pPr>
            <a:r>
              <a:rPr sz="1100">
                <a:solidFill>
                  <a:srgbClr val="F8FAFC"/>
                </a:solidFill>
                <a:latin typeface="Consolas"/>
              </a:rPr>
              <a:t># issue #42 becomes an isolated workspace</a:t>
            </a:r>
          </a:p>
          <a:p>
            <a:pPr>
              <a:spcAft>
                <a:spcPts val="100"/>
              </a:spcAft>
            </a:pPr>
            <a:r>
              <a:rPr sz="1100">
                <a:solidFill>
                  <a:srgbClr val="CBD5E1"/>
                </a:solidFill>
                <a:latin typeface="Consolas"/>
              </a:rPr>
              <a:t>git worktree add \</a:t>
            </a:r>
          </a:p>
          <a:p>
            <a:pPr>
              <a:spcAft>
                <a:spcPts val="100"/>
              </a:spcAft>
            </a:pPr>
            <a:r>
              <a:rPr sz="1100">
                <a:solidFill>
                  <a:srgbClr val="CBD5E1"/>
                </a:solidFill>
                <a:latin typeface="Consolas"/>
              </a:rPr>
              <a:t>  C:\src\squad-42 \</a:t>
            </a:r>
          </a:p>
          <a:p>
            <a:pPr>
              <a:spcAft>
                <a:spcPts val="100"/>
              </a:spcAft>
            </a:pPr>
            <a:r>
              <a:rPr sz="1100">
                <a:solidFill>
                  <a:srgbClr val="CBD5E1"/>
                </a:solidFill>
                <a:latin typeface="Consolas"/>
              </a:rPr>
              <a:t>  -b squad/42-fix-login</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coordinator passes WORKTREE_PATH in the spawn prompt</a:t>
            </a:r>
          </a:p>
          <a:p>
            <a:pPr>
              <a:spcAft>
                <a:spcPts val="100"/>
              </a:spcAft>
            </a:pPr>
            <a:r>
              <a:rPr sz="1100">
                <a:solidFill>
                  <a:srgbClr val="F8FAFC"/>
                </a:solidFill>
                <a:latin typeface="Consolas"/>
              </a:rPr>
              <a:t># child does not switch branches inside the worktree</a:t>
            </a:r>
          </a:p>
        </p:txBody>
      </p:sp>
      <p:sp>
        <p:nvSpPr>
          <p:cNvPr id="13" name="Rounded Rectangle 12"/>
          <p:cNvSpPr/>
          <p:nvPr/>
        </p:nvSpPr>
        <p:spPr>
          <a:xfrm>
            <a:off x="6675120" y="1874519"/>
            <a:ext cx="4937760" cy="27432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4937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6" name="TextBox 15"/>
          <p:cNvSpPr txBox="1"/>
          <p:nvPr/>
        </p:nvSpPr>
        <p:spPr>
          <a:xfrm>
            <a:off x="7360920" y="2039112"/>
            <a:ext cx="4160520" cy="411480"/>
          </a:xfrm>
          <a:prstGeom prst="rect">
            <a:avLst/>
          </a:prstGeom>
          <a:noFill/>
        </p:spPr>
        <p:txBody>
          <a:bodyPr wrap="square" lIns="36576" rIns="36576" tIns="18288" bIns="18288" anchor="ctr">
            <a:spAutoFit/>
          </a:bodyPr>
          <a:lstStyle/>
          <a:p>
            <a:r>
              <a:rPr sz="1500" b="1">
                <a:solidFill>
                  <a:srgbClr val="F8FAFC"/>
                </a:solidFill>
                <a:latin typeface="Segoe UI"/>
              </a:rPr>
              <a:t>What the child gets</a:t>
            </a:r>
          </a:p>
        </p:txBody>
      </p:sp>
      <p:sp>
        <p:nvSpPr>
          <p:cNvPr id="17" name="TextBox 16"/>
          <p:cNvSpPr txBox="1"/>
          <p:nvPr/>
        </p:nvSpPr>
        <p:spPr>
          <a:xfrm>
            <a:off x="6839712" y="2560320"/>
            <a:ext cx="4663440" cy="19659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Dedicated branch and checkout</a:t>
            </a:r>
          </a:p>
          <a:p>
            <a:pPr>
              <a:spcAft>
                <a:spcPts val="300"/>
              </a:spcAft>
            </a:pPr>
            <a:r>
              <a:rPr sz="1200" b="1">
                <a:solidFill>
                  <a:srgbClr val="34D399"/>
                </a:solidFill>
                <a:latin typeface="Segoe UI"/>
              </a:rPr>
              <a:t>•  </a:t>
            </a:r>
            <a:r>
              <a:rPr sz="1200">
                <a:solidFill>
                  <a:srgbClr val="CBD5E1"/>
                </a:solidFill>
                <a:latin typeface="Segoe UI"/>
              </a:rPr>
              <a:t>Known WORKTREE_PATH in the spawn prompt</a:t>
            </a:r>
          </a:p>
          <a:p>
            <a:pPr>
              <a:spcAft>
                <a:spcPts val="300"/>
              </a:spcAft>
            </a:pPr>
            <a:r>
              <a:rPr sz="1200" b="1">
                <a:solidFill>
                  <a:srgbClr val="34D399"/>
                </a:solidFill>
                <a:latin typeface="Segoe UI"/>
              </a:rPr>
              <a:t>•  </a:t>
            </a:r>
            <a:r>
              <a:rPr sz="1200">
                <a:solidFill>
                  <a:srgbClr val="CBD5E1"/>
                </a:solidFill>
                <a:latin typeface="Segoe UI"/>
              </a:rPr>
              <a:t>No branch switching inside child</a:t>
            </a:r>
          </a:p>
          <a:p>
            <a:pPr>
              <a:spcAft>
                <a:spcPts val="300"/>
              </a:spcAft>
            </a:pPr>
            <a:r>
              <a:rPr sz="1200" b="1">
                <a:solidFill>
                  <a:srgbClr val="34D399"/>
                </a:solidFill>
                <a:latin typeface="Segoe UI"/>
              </a:rPr>
              <a:t>•  </a:t>
            </a:r>
            <a:r>
              <a:rPr sz="1200">
                <a:solidFill>
                  <a:srgbClr val="CBD5E1"/>
                </a:solidFill>
                <a:latin typeface="Segoe UI"/>
              </a:rPr>
              <a:t>Build / test / commit happen in the worktree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37</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HORIZONTAL PARTITIONING</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SubSquads: one repo, many scoped teams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Labels + folder scopes let multiple Squad instances pick up the right work.</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packages/.../streams/resolver.ts:19-27, 124-181 • commands/streams.ts:1-48</a:t>
            </a:r>
          </a:p>
        </p:txBody>
      </p:sp>
      <p:sp>
        <p:nvSpPr>
          <p:cNvPr id="9" name="Rounded Rectangle 8"/>
          <p:cNvSpPr/>
          <p:nvPr/>
        </p:nvSpPr>
        <p:spPr>
          <a:xfrm>
            <a:off x="548640" y="1874519"/>
            <a:ext cx="5943600" cy="27432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34D399"/>
                </a:solidFill>
                <a:latin typeface="Segoe UI Semibold"/>
              </a:rPr>
              <a:t>stream config</a:t>
            </a:r>
          </a:p>
        </p:txBody>
      </p:sp>
      <p:sp>
        <p:nvSpPr>
          <p:cNvPr id="12" name="TextBox 11"/>
          <p:cNvSpPr txBox="1"/>
          <p:nvPr/>
        </p:nvSpPr>
        <p:spPr>
          <a:xfrm>
            <a:off x="713232" y="2167127"/>
            <a:ext cx="5669280" cy="2395728"/>
          </a:xfrm>
          <a:prstGeom prst="rect">
            <a:avLst/>
          </a:prstGeom>
          <a:noFill/>
        </p:spPr>
        <p:txBody>
          <a:bodyPr wrap="square" lIns="36576" rIns="36576">
            <a:spAutoFit/>
          </a:bodyPr>
          <a:lstStyle/>
          <a:p>
            <a:pPr>
              <a:spcAft>
                <a:spcPts val="100"/>
              </a:spcAft>
            </a:pPr>
            <a:r>
              <a:rPr sz="1100">
                <a:solidFill>
                  <a:srgbClr val="94A3B8"/>
                </a:solidFill>
                <a:latin typeface="Consolas"/>
              </a:rPr>
              <a:t>// .squad/workstreams.json</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"workstreams": [</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"name": "ui-team",</a:t>
            </a:r>
          </a:p>
          <a:p>
            <a:pPr>
              <a:spcAft>
                <a:spcPts val="100"/>
              </a:spcAft>
            </a:pPr>
            <a:r>
              <a:rPr sz="1100">
                <a:solidFill>
                  <a:srgbClr val="CBD5E1"/>
                </a:solidFill>
                <a:latin typeface="Consolas"/>
              </a:rPr>
              <a:t>      "labelFilter": "team:ui",</a:t>
            </a:r>
          </a:p>
          <a:p>
            <a:pPr>
              <a:spcAft>
                <a:spcPts val="100"/>
              </a:spcAft>
            </a:pPr>
            <a:r>
              <a:rPr sz="1100">
                <a:solidFill>
                  <a:srgbClr val="CBD5E1"/>
                </a:solidFill>
                <a:latin typeface="Consolas"/>
              </a:rPr>
              <a:t>      "folderScope": ["packages/ui"]</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p:txBody>
      </p:sp>
      <p:sp>
        <p:nvSpPr>
          <p:cNvPr id="13" name="Rounded Rectangle 12"/>
          <p:cNvSpPr/>
          <p:nvPr/>
        </p:nvSpPr>
        <p:spPr>
          <a:xfrm>
            <a:off x="6675120" y="1874519"/>
            <a:ext cx="4937760" cy="27432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4937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6" name="TextBox 15"/>
          <p:cNvSpPr txBox="1"/>
          <p:nvPr/>
        </p:nvSpPr>
        <p:spPr>
          <a:xfrm>
            <a:off x="7360920" y="2039112"/>
            <a:ext cx="4160520" cy="411480"/>
          </a:xfrm>
          <a:prstGeom prst="rect">
            <a:avLst/>
          </a:prstGeom>
          <a:noFill/>
        </p:spPr>
        <p:txBody>
          <a:bodyPr wrap="square" lIns="36576" rIns="36576" tIns="18288" bIns="18288" anchor="ctr">
            <a:spAutoFit/>
          </a:bodyPr>
          <a:lstStyle/>
          <a:p>
            <a:r>
              <a:rPr sz="1500" b="1">
                <a:solidFill>
                  <a:srgbClr val="F8FAFC"/>
                </a:solidFill>
                <a:latin typeface="Segoe UI"/>
              </a:rPr>
              <a:t>Why it scales</a:t>
            </a:r>
          </a:p>
        </p:txBody>
      </p:sp>
      <p:sp>
        <p:nvSpPr>
          <p:cNvPr id="17" name="TextBox 16"/>
          <p:cNvSpPr txBox="1"/>
          <p:nvPr/>
        </p:nvSpPr>
        <p:spPr>
          <a:xfrm>
            <a:off x="6839712" y="2560320"/>
            <a:ext cx="4663440" cy="196596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Each Codespace sees only its label lane</a:t>
            </a:r>
          </a:p>
          <a:p>
            <a:pPr>
              <a:spcAft>
                <a:spcPts val="300"/>
              </a:spcAft>
            </a:pPr>
            <a:r>
              <a:rPr sz="1200" b="1">
                <a:solidFill>
                  <a:srgbClr val="34D399"/>
                </a:solidFill>
                <a:latin typeface="Segoe UI"/>
              </a:rPr>
              <a:t>•  </a:t>
            </a:r>
            <a:r>
              <a:rPr sz="1200">
                <a:solidFill>
                  <a:srgbClr val="CBD5E1"/>
                </a:solidFill>
                <a:latin typeface="Segoe UI"/>
              </a:rPr>
              <a:t>Folder scope reduces accidental overlap</a:t>
            </a:r>
          </a:p>
          <a:p>
            <a:pPr>
              <a:spcAft>
                <a:spcPts val="300"/>
              </a:spcAft>
            </a:pPr>
            <a:r>
              <a:rPr sz="1200" b="1">
                <a:solidFill>
                  <a:srgbClr val="34D399"/>
                </a:solidFill>
                <a:latin typeface="Segoe UI"/>
              </a:rPr>
              <a:t>•  </a:t>
            </a:r>
            <a:r>
              <a:rPr sz="1200">
                <a:solidFill>
                  <a:srgbClr val="CBD5E1"/>
                </a:solidFill>
                <a:latin typeface="Segoe UI"/>
              </a:rPr>
              <a:t>Branch-per-issue stays the real safety boundary</a:t>
            </a:r>
          </a:p>
          <a:p>
            <a:pPr>
              <a:spcAft>
                <a:spcPts val="300"/>
              </a:spcAft>
            </a:pPr>
            <a:r>
              <a:rPr sz="1200" b="1">
                <a:solidFill>
                  <a:srgbClr val="34D399"/>
                </a:solidFill>
                <a:latin typeface="Segoe UI"/>
              </a:rPr>
              <a:t>•  </a:t>
            </a:r>
            <a:r>
              <a:rPr sz="1200">
                <a:solidFill>
                  <a:srgbClr val="CBD5E1"/>
                </a:solidFill>
                <a:latin typeface="Segoe UI"/>
              </a:rPr>
              <a:t>One machine can switch streams when cost matters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38</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ARCHITECTURE PATTERN</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HQ-and-child pattern</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A coordinator launches a child squad with a mission and collects a structured result.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Tamir Part 12 (fanout-squads) • .squad-templates/worktree-reference.md</a:t>
            </a:r>
          </a:p>
        </p:txBody>
      </p:sp>
      <p:sp>
        <p:nvSpPr>
          <p:cNvPr id="9" name="Rounded Rectangle 8"/>
          <p:cNvSpPr/>
          <p:nvPr/>
        </p:nvSpPr>
        <p:spPr>
          <a:xfrm>
            <a:off x="548640" y="1874519"/>
            <a:ext cx="2636443"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2636443"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234440"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HQ Squad</a:t>
            </a:r>
          </a:p>
        </p:txBody>
      </p:sp>
      <p:sp>
        <p:nvSpPr>
          <p:cNvPr id="13" name="TextBox 12"/>
          <p:cNvSpPr txBox="1"/>
          <p:nvPr/>
        </p:nvSpPr>
        <p:spPr>
          <a:xfrm>
            <a:off x="713232" y="2560320"/>
            <a:ext cx="2362123" cy="251460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Owns the goal</a:t>
            </a:r>
          </a:p>
          <a:p>
            <a:pPr>
              <a:spcAft>
                <a:spcPts val="300"/>
              </a:spcAft>
            </a:pPr>
            <a:r>
              <a:rPr sz="1200" b="1">
                <a:solidFill>
                  <a:srgbClr val="38BDF8"/>
                </a:solidFill>
                <a:latin typeface="Segoe UI"/>
              </a:rPr>
              <a:t>•  </a:t>
            </a:r>
            <a:r>
              <a:rPr sz="1200">
                <a:solidFill>
                  <a:srgbClr val="CBD5E1"/>
                </a:solidFill>
                <a:latin typeface="Segoe UI"/>
              </a:rPr>
              <a:t>Chooses child shape</a:t>
            </a:r>
          </a:p>
          <a:p>
            <a:pPr>
              <a:spcAft>
                <a:spcPts val="300"/>
              </a:spcAft>
            </a:pPr>
            <a:r>
              <a:rPr sz="1200" b="1">
                <a:solidFill>
                  <a:srgbClr val="38BDF8"/>
                </a:solidFill>
                <a:latin typeface="Segoe UI"/>
              </a:rPr>
              <a:t>•  </a:t>
            </a:r>
            <a:r>
              <a:rPr sz="1200">
                <a:solidFill>
                  <a:srgbClr val="CBD5E1"/>
                </a:solidFill>
                <a:latin typeface="Segoe UI"/>
              </a:rPr>
              <a:t>Defines fan-in contract</a:t>
            </a:r>
          </a:p>
        </p:txBody>
      </p:sp>
      <p:sp>
        <p:nvSpPr>
          <p:cNvPr id="14" name="Rounded Rectangle 13"/>
          <p:cNvSpPr/>
          <p:nvPr/>
        </p:nvSpPr>
        <p:spPr>
          <a:xfrm>
            <a:off x="3367963" y="1874519"/>
            <a:ext cx="2636443"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7963" y="1874519"/>
            <a:ext cx="2636443"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2555"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7" name="TextBox 16"/>
          <p:cNvSpPr txBox="1"/>
          <p:nvPr/>
        </p:nvSpPr>
        <p:spPr>
          <a:xfrm>
            <a:off x="4053763"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Mission brief</a:t>
            </a:r>
          </a:p>
        </p:txBody>
      </p:sp>
      <p:sp>
        <p:nvSpPr>
          <p:cNvPr id="18" name="TextBox 17"/>
          <p:cNvSpPr txBox="1"/>
          <p:nvPr/>
        </p:nvSpPr>
        <p:spPr>
          <a:xfrm>
            <a:off x="3532555" y="2560320"/>
            <a:ext cx="2362123" cy="251460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Scope, files, constraints</a:t>
            </a:r>
          </a:p>
          <a:p>
            <a:pPr>
              <a:spcAft>
                <a:spcPts val="300"/>
              </a:spcAft>
            </a:pPr>
            <a:r>
              <a:rPr sz="1200" b="1">
                <a:solidFill>
                  <a:srgbClr val="FBBF24"/>
                </a:solidFill>
                <a:latin typeface="Segoe UI"/>
              </a:rPr>
              <a:t>•  </a:t>
            </a:r>
            <a:r>
              <a:rPr sz="1200">
                <a:solidFill>
                  <a:srgbClr val="CBD5E1"/>
                </a:solidFill>
                <a:latin typeface="Segoe UI"/>
              </a:rPr>
              <a:t>Acceptance criteria</a:t>
            </a:r>
          </a:p>
          <a:p>
            <a:pPr>
              <a:spcAft>
                <a:spcPts val="300"/>
              </a:spcAft>
            </a:pPr>
            <a:r>
              <a:rPr sz="1200" b="1">
                <a:solidFill>
                  <a:srgbClr val="FBBF24"/>
                </a:solidFill>
                <a:latin typeface="Segoe UI"/>
              </a:rPr>
              <a:t>•  </a:t>
            </a:r>
            <a:r>
              <a:rPr sz="1200">
                <a:solidFill>
                  <a:srgbClr val="CBD5E1"/>
                </a:solidFill>
                <a:latin typeface="Segoe UI"/>
              </a:rPr>
              <a:t>Time / budget bounds</a:t>
            </a:r>
          </a:p>
        </p:txBody>
      </p:sp>
      <p:sp>
        <p:nvSpPr>
          <p:cNvPr id="19" name="Rounded Rectangle 18"/>
          <p:cNvSpPr/>
          <p:nvPr/>
        </p:nvSpPr>
        <p:spPr>
          <a:xfrm>
            <a:off x="6187287" y="1874519"/>
            <a:ext cx="2636443"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1874519"/>
            <a:ext cx="2636443"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1879"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2" name="TextBox 21"/>
          <p:cNvSpPr txBox="1"/>
          <p:nvPr/>
        </p:nvSpPr>
        <p:spPr>
          <a:xfrm>
            <a:off x="6873087"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Child workspace</a:t>
            </a:r>
          </a:p>
        </p:txBody>
      </p:sp>
      <p:sp>
        <p:nvSpPr>
          <p:cNvPr id="23" name="TextBox 22"/>
          <p:cNvSpPr txBox="1"/>
          <p:nvPr/>
        </p:nvSpPr>
        <p:spPr>
          <a:xfrm>
            <a:off x="6351879" y="2560320"/>
            <a:ext cx="2362123" cy="251460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Worktree</a:t>
            </a:r>
          </a:p>
          <a:p>
            <a:pPr>
              <a:spcAft>
                <a:spcPts val="300"/>
              </a:spcAft>
            </a:pPr>
            <a:r>
              <a:rPr sz="1200" b="1">
                <a:solidFill>
                  <a:srgbClr val="34D399"/>
                </a:solidFill>
                <a:latin typeface="Segoe UI"/>
              </a:rPr>
              <a:t>•  </a:t>
            </a:r>
            <a:r>
              <a:rPr sz="1200">
                <a:solidFill>
                  <a:srgbClr val="CBD5E1"/>
                </a:solidFill>
                <a:latin typeface="Segoe UI"/>
              </a:rPr>
              <a:t>Tailored team shape</a:t>
            </a:r>
          </a:p>
          <a:p>
            <a:pPr>
              <a:spcAft>
                <a:spcPts val="300"/>
              </a:spcAft>
            </a:pPr>
            <a:r>
              <a:rPr sz="1200" b="1">
                <a:solidFill>
                  <a:srgbClr val="34D399"/>
                </a:solidFill>
                <a:latin typeface="Segoe UI"/>
              </a:rPr>
              <a:t>•  </a:t>
            </a:r>
            <a:r>
              <a:rPr sz="1200">
                <a:solidFill>
                  <a:srgbClr val="CBD5E1"/>
                </a:solidFill>
                <a:latin typeface="Segoe UI"/>
              </a:rPr>
              <a:t>Local mutable state</a:t>
            </a:r>
          </a:p>
        </p:txBody>
      </p:sp>
      <p:sp>
        <p:nvSpPr>
          <p:cNvPr id="24" name="Rounded Rectangle 23"/>
          <p:cNvSpPr/>
          <p:nvPr/>
        </p:nvSpPr>
        <p:spPr>
          <a:xfrm>
            <a:off x="9006611" y="1874519"/>
            <a:ext cx="2636443" cy="3291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611" y="1874519"/>
            <a:ext cx="2636443"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203"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27" name="TextBox 26"/>
          <p:cNvSpPr txBox="1"/>
          <p:nvPr/>
        </p:nvSpPr>
        <p:spPr>
          <a:xfrm>
            <a:off x="9692411"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Structured result</a:t>
            </a:r>
          </a:p>
        </p:txBody>
      </p:sp>
      <p:sp>
        <p:nvSpPr>
          <p:cNvPr id="28" name="TextBox 27"/>
          <p:cNvSpPr txBox="1"/>
          <p:nvPr/>
        </p:nvSpPr>
        <p:spPr>
          <a:xfrm>
            <a:off x="9171203" y="2560320"/>
            <a:ext cx="2362123" cy="251460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PR / branch</a:t>
            </a:r>
          </a:p>
          <a:p>
            <a:pPr>
              <a:spcAft>
                <a:spcPts val="300"/>
              </a:spcAft>
            </a:pPr>
            <a:r>
              <a:rPr sz="1200" b="1">
                <a:solidFill>
                  <a:srgbClr val="A78BFA"/>
                </a:solidFill>
                <a:latin typeface="Segoe UI"/>
              </a:rPr>
              <a:t>•  </a:t>
            </a:r>
            <a:r>
              <a:rPr sz="1200">
                <a:solidFill>
                  <a:srgbClr val="CBD5E1"/>
                </a:solidFill>
                <a:latin typeface="Segoe UI"/>
              </a:rPr>
              <a:t>Decisions made</a:t>
            </a:r>
          </a:p>
          <a:p>
            <a:pPr>
              <a:spcAft>
                <a:spcPts val="300"/>
              </a:spcAft>
            </a:pPr>
            <a:r>
              <a:rPr sz="1200" b="1">
                <a:solidFill>
                  <a:srgbClr val="A78BFA"/>
                </a:solidFill>
                <a:latin typeface="Segoe UI"/>
              </a:rPr>
              <a:t>•  </a:t>
            </a:r>
            <a:r>
              <a:rPr sz="1200">
                <a:solidFill>
                  <a:srgbClr val="CBD5E1"/>
                </a:solidFill>
                <a:latin typeface="Segoe UI"/>
              </a:rPr>
              <a:t>Open risks</a:t>
            </a:r>
          </a:p>
        </p:txBody>
      </p:sp>
      <p:sp>
        <p:nvSpPr>
          <p:cNvPr id="29" name="TextBox 28"/>
          <p:cNvSpPr txBox="1"/>
          <p:nvPr/>
        </p:nvSpPr>
        <p:spPr>
          <a:xfrm>
            <a:off x="548640" y="5349240"/>
            <a:ext cx="11094415" cy="640080"/>
          </a:xfrm>
          <a:prstGeom prst="rect">
            <a:avLst/>
          </a:prstGeom>
          <a:noFill/>
        </p:spPr>
        <p:txBody>
          <a:bodyPr wrap="square" lIns="36576" rIns="36576" tIns="18288" bIns="18288">
            <a:spAutoFit/>
          </a:bodyPr>
          <a:lstStyle/>
          <a:p>
            <a:pPr algn="ctr"/>
            <a:r>
              <a:rPr sz="1500" b="0">
                <a:solidFill>
                  <a:srgbClr val="CBD5E1"/>
                </a:solidFill>
                <a:latin typeface="Segoe UI"/>
              </a:rPr>
              <a:t>Think ‘mini project inside the project’: a clear brief, isolated workspace, limited authority.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39</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COPY/PASTE ARTIFACT</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Mission brief template — a contract, not a vague request</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Goal + scope on the left, acceptance + authority on the right. Two terminals so the Authority block never clips.</a:t>
            </a:r>
          </a:p>
        </p:txBody>
      </p:sp>
      <p:sp>
        <p:nvSpPr>
          <p:cNvPr id="8" name="Rounded Rectangle 7"/>
          <p:cNvSpPr/>
          <p:nvPr/>
        </p:nvSpPr>
        <p:spPr>
          <a:xfrm>
            <a:off x="548640" y="1874519"/>
            <a:ext cx="5440680" cy="40233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544068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920239"/>
            <a:ext cx="5166360" cy="228600"/>
          </a:xfrm>
          <a:prstGeom prst="rect">
            <a:avLst/>
          </a:prstGeom>
          <a:noFill/>
        </p:spPr>
        <p:txBody>
          <a:bodyPr wrap="square" lIns="36576" rIns="36576" tIns="18288" bIns="18288">
            <a:spAutoFit/>
          </a:bodyPr>
          <a:lstStyle/>
          <a:p>
            <a:r>
              <a:rPr sz="1000" b="1">
                <a:solidFill>
                  <a:srgbClr val="34D399"/>
                </a:solidFill>
                <a:latin typeface="Segoe UI Semibold"/>
              </a:rPr>
              <a:t>mission.md  —  goal + scope</a:t>
            </a:r>
          </a:p>
        </p:txBody>
      </p:sp>
      <p:sp>
        <p:nvSpPr>
          <p:cNvPr id="11" name="TextBox 10"/>
          <p:cNvSpPr txBox="1"/>
          <p:nvPr/>
        </p:nvSpPr>
        <p:spPr>
          <a:xfrm>
            <a:off x="713232" y="2167127"/>
            <a:ext cx="5166360" cy="3675888"/>
          </a:xfrm>
          <a:prstGeom prst="rect">
            <a:avLst/>
          </a:prstGeom>
          <a:noFill/>
        </p:spPr>
        <p:txBody>
          <a:bodyPr wrap="square" lIns="36576" rIns="36576">
            <a:spAutoFit/>
          </a:bodyPr>
          <a:lstStyle/>
          <a:p>
            <a:pPr>
              <a:spcAft>
                <a:spcPts val="100"/>
              </a:spcAft>
            </a:pPr>
            <a:r>
              <a:rPr sz="1100">
                <a:solidFill>
                  <a:srgbClr val="F8FAFC"/>
                </a:solidFill>
                <a:latin typeface="Consolas"/>
              </a:rPr>
              <a:t># Mission: Auth cache hardening</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Goal: reduce auth profile API latency</a:t>
            </a:r>
          </a:p>
          <a:p>
            <a:pPr>
              <a:spcAft>
                <a:spcPts val="100"/>
              </a:spcAft>
            </a:pPr>
            <a:r>
              <a:rPr sz="1100">
                <a:solidFill>
                  <a:srgbClr val="CBD5E1"/>
                </a:solidFill>
                <a:latin typeface="Consolas"/>
              </a:rPr>
              <a:t>      without changing auth semantics.</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Scope:</a:t>
            </a:r>
          </a:p>
          <a:p>
            <a:pPr>
              <a:spcAft>
                <a:spcPts val="100"/>
              </a:spcAft>
            </a:pPr>
            <a:r>
              <a:rPr sz="1100">
                <a:solidFill>
                  <a:srgbClr val="CBD5E1"/>
                </a:solidFill>
                <a:latin typeface="Consolas"/>
              </a:rPr>
              <a:t>  - packages/auth/**</a:t>
            </a:r>
          </a:p>
          <a:p>
            <a:pPr>
              <a:spcAft>
                <a:spcPts val="100"/>
              </a:spcAft>
            </a:pPr>
            <a:r>
              <a:rPr sz="1100">
                <a:solidFill>
                  <a:srgbClr val="CBD5E1"/>
                </a:solidFill>
                <a:latin typeface="Consolas"/>
              </a:rPr>
              <a:t>  - tests/auth/**</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Out of scope:</a:t>
            </a:r>
          </a:p>
          <a:p>
            <a:pPr>
              <a:spcAft>
                <a:spcPts val="100"/>
              </a:spcAft>
            </a:pPr>
            <a:r>
              <a:rPr sz="1100">
                <a:solidFill>
                  <a:srgbClr val="CBD5E1"/>
                </a:solidFill>
                <a:latin typeface="Consolas"/>
              </a:rPr>
              <a:t>  - packages/billing/**</a:t>
            </a:r>
          </a:p>
          <a:p>
            <a:pPr>
              <a:spcAft>
                <a:spcPts val="100"/>
              </a:spcAft>
            </a:pPr>
            <a:r>
              <a:rPr sz="1100">
                <a:solidFill>
                  <a:srgbClr val="CBD5E1"/>
                </a:solidFill>
                <a:latin typeface="Consolas"/>
              </a:rPr>
              <a:t>  - infra/**</a:t>
            </a:r>
          </a:p>
        </p:txBody>
      </p:sp>
      <p:sp>
        <p:nvSpPr>
          <p:cNvPr id="12" name="Rounded Rectangle 11"/>
          <p:cNvSpPr/>
          <p:nvPr/>
        </p:nvSpPr>
        <p:spPr>
          <a:xfrm>
            <a:off x="6217920" y="1874519"/>
            <a:ext cx="5440680" cy="40233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874519"/>
            <a:ext cx="5440680" cy="457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20239"/>
            <a:ext cx="5166360" cy="228600"/>
          </a:xfrm>
          <a:prstGeom prst="rect">
            <a:avLst/>
          </a:prstGeom>
          <a:noFill/>
        </p:spPr>
        <p:txBody>
          <a:bodyPr wrap="square" lIns="36576" rIns="36576" tIns="18288" bIns="18288">
            <a:spAutoFit/>
          </a:bodyPr>
          <a:lstStyle/>
          <a:p>
            <a:r>
              <a:rPr sz="1000" b="1">
                <a:solidFill>
                  <a:srgbClr val="FBBF24"/>
                </a:solidFill>
                <a:latin typeface="Segoe UI Semibold"/>
              </a:rPr>
              <a:t>mission.md  —  acceptance + authority</a:t>
            </a:r>
          </a:p>
        </p:txBody>
      </p:sp>
      <p:sp>
        <p:nvSpPr>
          <p:cNvPr id="15" name="TextBox 14"/>
          <p:cNvSpPr txBox="1"/>
          <p:nvPr/>
        </p:nvSpPr>
        <p:spPr>
          <a:xfrm>
            <a:off x="6382512" y="2167127"/>
            <a:ext cx="5166360" cy="3675888"/>
          </a:xfrm>
          <a:prstGeom prst="rect">
            <a:avLst/>
          </a:prstGeom>
          <a:noFill/>
        </p:spPr>
        <p:txBody>
          <a:bodyPr wrap="square" lIns="36576" rIns="36576">
            <a:spAutoFit/>
          </a:bodyPr>
          <a:lstStyle/>
          <a:p>
            <a:pPr>
              <a:spcAft>
                <a:spcPts val="100"/>
              </a:spcAft>
            </a:pPr>
            <a:r>
              <a:rPr sz="1100">
                <a:solidFill>
                  <a:srgbClr val="CBD5E1"/>
                </a:solidFill>
                <a:latin typeface="Consolas"/>
              </a:rPr>
              <a:t>Acceptance:</a:t>
            </a:r>
          </a:p>
          <a:p>
            <a:pPr>
              <a:spcAft>
                <a:spcPts val="100"/>
              </a:spcAft>
            </a:pPr>
            <a:r>
              <a:rPr sz="1100">
                <a:solidFill>
                  <a:srgbClr val="CBD5E1"/>
                </a:solidFill>
                <a:latin typeface="Consolas"/>
              </a:rPr>
              <a:t>  - P95 &lt; 80ms on /api/users/{id}</a:t>
            </a:r>
          </a:p>
          <a:p>
            <a:pPr>
              <a:spcAft>
                <a:spcPts val="100"/>
              </a:spcAft>
            </a:pPr>
            <a:r>
              <a:rPr sz="1100">
                <a:solidFill>
                  <a:srgbClr val="CBD5E1"/>
                </a:solidFill>
                <a:latin typeface="Consolas"/>
              </a:rPr>
              <a:t>  - No new dependencies</a:t>
            </a:r>
          </a:p>
          <a:p>
            <a:pPr>
              <a:spcAft>
                <a:spcPts val="100"/>
              </a:spcAft>
            </a:pPr>
            <a:r>
              <a:rPr sz="1100">
                <a:solidFill>
                  <a:srgbClr val="CBD5E1"/>
                </a:solidFill>
                <a:latin typeface="Consolas"/>
              </a:rPr>
              <a:t>  - All existing tests pass</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Authority:</a:t>
            </a:r>
          </a:p>
          <a:p>
            <a:pPr>
              <a:spcAft>
                <a:spcPts val="100"/>
              </a:spcAft>
            </a:pPr>
            <a:r>
              <a:rPr sz="1100">
                <a:solidFill>
                  <a:srgbClr val="CBD5E1"/>
                </a:solidFill>
                <a:latin typeface="Consolas"/>
              </a:rPr>
              <a:t>  - May write under packages/auth,</a:t>
            </a:r>
          </a:p>
          <a:p>
            <a:pPr>
              <a:spcAft>
                <a:spcPts val="100"/>
              </a:spcAft>
            </a:pPr>
            <a:r>
              <a:rPr sz="1100">
                <a:solidFill>
                  <a:srgbClr val="CBD5E1"/>
                </a:solidFill>
                <a:latin typeface="Consolas"/>
              </a:rPr>
              <a:t>                  tests/auth</a:t>
            </a:r>
          </a:p>
          <a:p>
            <a:pPr>
              <a:spcAft>
                <a:spcPts val="100"/>
              </a:spcAft>
            </a:pPr>
            <a:r>
              <a:rPr sz="1100">
                <a:solidFill>
                  <a:srgbClr val="CBD5E1"/>
                </a:solidFill>
                <a:latin typeface="Consolas"/>
              </a:rPr>
              <a:t>  - Must NOT write secrets</a:t>
            </a:r>
          </a:p>
          <a:p>
            <a:pPr>
              <a:spcAft>
                <a:spcPts val="100"/>
              </a:spcAft>
            </a:pPr>
            <a:r>
              <a:rPr sz="1100">
                <a:solidFill>
                  <a:srgbClr val="CBD5E1"/>
                </a:solidFill>
                <a:latin typeface="Consolas"/>
              </a:rPr>
              <a:t>  - Must NOT push to main</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Reporting:</a:t>
            </a:r>
          </a:p>
          <a:p>
            <a:pPr>
              <a:spcAft>
                <a:spcPts val="100"/>
              </a:spcAft>
            </a:pPr>
            <a:r>
              <a:rPr sz="1100">
                <a:solidFill>
                  <a:srgbClr val="CBD5E1"/>
                </a:solidFill>
                <a:latin typeface="Consolas"/>
              </a:rPr>
              <a:t>  - Hand back PR URL + decisions made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40</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DON'T LET PARALLELISM BECOME CHAOS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Guardrails for spawned squads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moment you spawn child teams, you need boundaries.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Reviewer Rejection Protocol • Rai charter • squad_state tools</a:t>
            </a:r>
          </a:p>
        </p:txBody>
      </p:sp>
      <p:sp>
        <p:nvSpPr>
          <p:cNvPr id="9" name="Rounded Rectangle 8"/>
          <p:cNvSpPr/>
          <p:nvPr/>
        </p:nvSpPr>
        <p:spPr>
          <a:xfrm>
            <a:off x="548640" y="1874519"/>
            <a:ext cx="3588410" cy="1645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358841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234440" y="2039112"/>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Authorized files</a:t>
            </a:r>
          </a:p>
        </p:txBody>
      </p:sp>
      <p:sp>
        <p:nvSpPr>
          <p:cNvPr id="13" name="TextBox 12"/>
          <p:cNvSpPr txBox="1"/>
          <p:nvPr/>
        </p:nvSpPr>
        <p:spPr>
          <a:xfrm>
            <a:off x="713232" y="2560320"/>
            <a:ext cx="3314090" cy="86868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Tell the child what it may inspect/change</a:t>
            </a:r>
          </a:p>
        </p:txBody>
      </p:sp>
      <p:sp>
        <p:nvSpPr>
          <p:cNvPr id="14" name="Rounded Rectangle 13"/>
          <p:cNvSpPr/>
          <p:nvPr/>
        </p:nvSpPr>
        <p:spPr>
          <a:xfrm>
            <a:off x="4301642" y="1874519"/>
            <a:ext cx="3588410" cy="1645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874519"/>
            <a:ext cx="358841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6234"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7" name="TextBox 16"/>
          <p:cNvSpPr txBox="1"/>
          <p:nvPr/>
        </p:nvSpPr>
        <p:spPr>
          <a:xfrm>
            <a:off x="4987442" y="2039112"/>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Branch discipline</a:t>
            </a:r>
          </a:p>
        </p:txBody>
      </p:sp>
      <p:sp>
        <p:nvSpPr>
          <p:cNvPr id="18" name="TextBox 17"/>
          <p:cNvSpPr txBox="1"/>
          <p:nvPr/>
        </p:nvSpPr>
        <p:spPr>
          <a:xfrm>
            <a:off x="4466234" y="2560320"/>
            <a:ext cx="3314090" cy="86868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No direct push to protected branches</a:t>
            </a:r>
          </a:p>
        </p:txBody>
      </p:sp>
      <p:sp>
        <p:nvSpPr>
          <p:cNvPr id="19" name="Rounded Rectangle 18"/>
          <p:cNvSpPr/>
          <p:nvPr/>
        </p:nvSpPr>
        <p:spPr>
          <a:xfrm>
            <a:off x="8054644" y="1874519"/>
            <a:ext cx="3588410" cy="1645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874519"/>
            <a:ext cx="358841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19236"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2" name="TextBox 21"/>
          <p:cNvSpPr txBox="1"/>
          <p:nvPr/>
        </p:nvSpPr>
        <p:spPr>
          <a:xfrm>
            <a:off x="8740444" y="2039112"/>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State protocol</a:t>
            </a:r>
          </a:p>
        </p:txBody>
      </p:sp>
      <p:sp>
        <p:nvSpPr>
          <p:cNvPr id="23" name="TextBox 22"/>
          <p:cNvSpPr txBox="1"/>
          <p:nvPr/>
        </p:nvSpPr>
        <p:spPr>
          <a:xfrm>
            <a:off x="8219236" y="2560320"/>
            <a:ext cx="3314090" cy="86868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Use runtime state tools</a:t>
            </a:r>
          </a:p>
          <a:p>
            <a:pPr>
              <a:spcAft>
                <a:spcPts val="300"/>
              </a:spcAft>
            </a:pPr>
            <a:r>
              <a:rPr sz="1200" b="1">
                <a:solidFill>
                  <a:srgbClr val="34D399"/>
                </a:solidFill>
                <a:latin typeface="Segoe UI"/>
              </a:rPr>
              <a:t>•  </a:t>
            </a:r>
            <a:r>
              <a:rPr sz="1200">
                <a:solidFill>
                  <a:srgbClr val="CBD5E1"/>
                </a:solidFill>
                <a:latin typeface="Segoe UI"/>
              </a:rPr>
              <a:t>Never git-write backend state by hand</a:t>
            </a:r>
          </a:p>
        </p:txBody>
      </p:sp>
      <p:sp>
        <p:nvSpPr>
          <p:cNvPr id="24" name="Rounded Rectangle 23"/>
          <p:cNvSpPr/>
          <p:nvPr/>
        </p:nvSpPr>
        <p:spPr>
          <a:xfrm>
            <a:off x="548640" y="3685031"/>
            <a:ext cx="3588410" cy="1645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85031"/>
            <a:ext cx="358841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849623"/>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7" name="TextBox 26"/>
          <p:cNvSpPr txBox="1"/>
          <p:nvPr/>
        </p:nvSpPr>
        <p:spPr>
          <a:xfrm>
            <a:off x="1234440" y="3849623"/>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Reviewer gates</a:t>
            </a:r>
          </a:p>
        </p:txBody>
      </p:sp>
      <p:sp>
        <p:nvSpPr>
          <p:cNvPr id="28" name="TextBox 27"/>
          <p:cNvSpPr txBox="1"/>
          <p:nvPr/>
        </p:nvSpPr>
        <p:spPr>
          <a:xfrm>
            <a:off x="713232" y="4370831"/>
            <a:ext cx="3314090" cy="86868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Rejected author is locked out</a:t>
            </a:r>
          </a:p>
          <a:p>
            <a:pPr>
              <a:spcAft>
                <a:spcPts val="300"/>
              </a:spcAft>
            </a:pPr>
            <a:r>
              <a:rPr sz="1200" b="1">
                <a:solidFill>
                  <a:srgbClr val="FBBF24"/>
                </a:solidFill>
                <a:latin typeface="Segoe UI"/>
              </a:rPr>
              <a:t>•  </a:t>
            </a:r>
            <a:r>
              <a:rPr sz="1200">
                <a:solidFill>
                  <a:srgbClr val="CBD5E1"/>
                </a:solidFill>
                <a:latin typeface="Segoe UI"/>
              </a:rPr>
              <a:t>A different agent revises</a:t>
            </a:r>
          </a:p>
        </p:txBody>
      </p:sp>
      <p:sp>
        <p:nvSpPr>
          <p:cNvPr id="29" name="Rounded Rectangle 28"/>
          <p:cNvSpPr/>
          <p:nvPr/>
        </p:nvSpPr>
        <p:spPr>
          <a:xfrm>
            <a:off x="4301642" y="3685031"/>
            <a:ext cx="3588410" cy="1645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685031"/>
            <a:ext cx="358841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6234" y="3849623"/>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32" name="TextBox 31"/>
          <p:cNvSpPr txBox="1"/>
          <p:nvPr/>
        </p:nvSpPr>
        <p:spPr>
          <a:xfrm>
            <a:off x="4987442" y="3849623"/>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RAI pass</a:t>
            </a:r>
          </a:p>
        </p:txBody>
      </p:sp>
      <p:sp>
        <p:nvSpPr>
          <p:cNvPr id="33" name="TextBox 32"/>
          <p:cNvSpPr txBox="1"/>
          <p:nvPr/>
        </p:nvSpPr>
        <p:spPr>
          <a:xfrm>
            <a:off x="4466234" y="4370831"/>
            <a:ext cx="3314090" cy="86868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Rai catches secrets</a:t>
            </a:r>
          </a:p>
          <a:p>
            <a:pPr>
              <a:spcAft>
                <a:spcPts val="300"/>
              </a:spcAft>
            </a:pPr>
            <a:r>
              <a:rPr sz="1200" b="1">
                <a:solidFill>
                  <a:srgbClr val="FB7185"/>
                </a:solidFill>
                <a:latin typeface="Segoe UI"/>
              </a:rPr>
              <a:t>•  </a:t>
            </a:r>
            <a:r>
              <a:rPr sz="1200">
                <a:solidFill>
                  <a:srgbClr val="CBD5E1"/>
                </a:solidFill>
                <a:latin typeface="Segoe UI"/>
              </a:rPr>
              <a:t>Catches unsafe patterns</a:t>
            </a:r>
          </a:p>
        </p:txBody>
      </p:sp>
      <p:sp>
        <p:nvSpPr>
          <p:cNvPr id="34" name="Rounded Rectangle 33"/>
          <p:cNvSpPr/>
          <p:nvPr/>
        </p:nvSpPr>
        <p:spPr>
          <a:xfrm>
            <a:off x="8054644" y="3685031"/>
            <a:ext cx="3588410" cy="1645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685031"/>
            <a:ext cx="358841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19236" y="3849623"/>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37" name="TextBox 36"/>
          <p:cNvSpPr txBox="1"/>
          <p:nvPr/>
        </p:nvSpPr>
        <p:spPr>
          <a:xfrm>
            <a:off x="8740444" y="3849623"/>
            <a:ext cx="2811170" cy="411480"/>
          </a:xfrm>
          <a:prstGeom prst="rect">
            <a:avLst/>
          </a:prstGeom>
          <a:noFill/>
        </p:spPr>
        <p:txBody>
          <a:bodyPr wrap="square" lIns="36576" rIns="36576" tIns="18288" bIns="18288" anchor="ctr">
            <a:spAutoFit/>
          </a:bodyPr>
          <a:lstStyle/>
          <a:p>
            <a:r>
              <a:rPr sz="1400" b="1">
                <a:solidFill>
                  <a:srgbClr val="F8FAFC"/>
                </a:solidFill>
                <a:latin typeface="Segoe UI"/>
              </a:rPr>
              <a:t>Fan-in schema</a:t>
            </a:r>
          </a:p>
        </p:txBody>
      </p:sp>
      <p:sp>
        <p:nvSpPr>
          <p:cNvPr id="38" name="TextBox 37"/>
          <p:cNvSpPr txBox="1"/>
          <p:nvPr/>
        </p:nvSpPr>
        <p:spPr>
          <a:xfrm>
            <a:off x="8219236" y="4370831"/>
            <a:ext cx="3314090" cy="86868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status / branch / pr</a:t>
            </a:r>
          </a:p>
          <a:p>
            <a:pPr>
              <a:spcAft>
                <a:spcPts val="300"/>
              </a:spcAft>
            </a:pPr>
            <a:r>
              <a:rPr sz="1200" b="1">
                <a:solidFill>
                  <a:srgbClr val="34D399"/>
                </a:solidFill>
                <a:latin typeface="Segoe UI"/>
              </a:rPr>
              <a:t>•  </a:t>
            </a:r>
            <a:r>
              <a:rPr sz="1200">
                <a:solidFill>
                  <a:srgbClr val="CBD5E1"/>
                </a:solidFill>
                <a:latin typeface="Segoe UI"/>
              </a:rPr>
              <a:t>decisions, open risks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64592" cy="228600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41</a:t>
            </a:r>
          </a:p>
        </p:txBody>
      </p:sp>
      <p:sp>
        <p:nvSpPr>
          <p:cNvPr id="5" name="TextBox 4"/>
          <p:cNvSpPr txBox="1"/>
          <p:nvPr/>
        </p:nvSpPr>
        <p:spPr>
          <a:xfrm>
            <a:off x="960120" y="2331720"/>
            <a:ext cx="11094415" cy="457200"/>
          </a:xfrm>
          <a:prstGeom prst="rect">
            <a:avLst/>
          </a:prstGeom>
          <a:noFill/>
        </p:spPr>
        <p:txBody>
          <a:bodyPr wrap="square" lIns="36576" rIns="36576" tIns="18288" bIns="18288">
            <a:spAutoFit/>
          </a:bodyPr>
          <a:lstStyle/>
          <a:p>
            <a:r>
              <a:rPr sz="1400" b="1">
                <a:solidFill>
                  <a:srgbClr val="FBBF24"/>
                </a:solidFill>
                <a:latin typeface="Segoe UI Semibold"/>
              </a:rPr>
              <a:t>PATTERN 4</a:t>
            </a:r>
          </a:p>
        </p:txBody>
      </p:sp>
      <p:sp>
        <p:nvSpPr>
          <p:cNvPr id="6" name="TextBox 5"/>
          <p:cNvSpPr txBox="1"/>
          <p:nvPr/>
        </p:nvSpPr>
        <p:spPr>
          <a:xfrm>
            <a:off x="960120" y="2788920"/>
            <a:ext cx="11094415" cy="1828800"/>
          </a:xfrm>
          <a:prstGeom prst="rect">
            <a:avLst/>
          </a:prstGeom>
          <a:noFill/>
        </p:spPr>
        <p:txBody>
          <a:bodyPr wrap="square" lIns="36576" rIns="36576" tIns="18288" bIns="18288">
            <a:spAutoFit/>
          </a:bodyPr>
          <a:lstStyle/>
          <a:p>
            <a:r>
              <a:rPr sz="5400" b="1">
                <a:solidFill>
                  <a:srgbClr val="F8FAFC"/>
                </a:solidFill>
                <a:latin typeface="Segoe UI"/>
              </a:rPr>
              <a:t>➃ Cross-squad
communication</a:t>
            </a:r>
          </a:p>
        </p:txBody>
      </p:sp>
      <p:sp>
        <p:nvSpPr>
          <p:cNvPr id="7" name="TextBox 6"/>
          <p:cNvSpPr txBox="1"/>
          <p:nvPr/>
        </p:nvSpPr>
        <p:spPr>
          <a:xfrm>
            <a:off x="960120" y="4526280"/>
            <a:ext cx="11094415" cy="1280160"/>
          </a:xfrm>
          <a:prstGeom prst="rect">
            <a:avLst/>
          </a:prstGeom>
          <a:noFill/>
        </p:spPr>
        <p:txBody>
          <a:bodyPr wrap="square" lIns="36576" rIns="36576" tIns="18288" bIns="18288">
            <a:spAutoFit/>
          </a:bodyPr>
          <a:lstStyle/>
          <a:p>
            <a:r>
              <a:rPr sz="2000" b="0">
                <a:solidFill>
                  <a:srgbClr val="CBD5E1"/>
                </a:solidFill>
                <a:latin typeface="Segoe UI"/>
              </a:rPr>
              <a:t>A squad's public API is a manifest, a work request, and a clean feedback channel — not its internal history.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BBF24"/>
                </a:solidFill>
                <a:latin typeface="Segoe UI Semibold"/>
              </a:rPr>
              <a:t>DISCOVERY</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Manifest = public API contract</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Each squad publishes what it can do and how to reach it.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docs/features/cross-squad-orchestration.md:89-132 • cross-squad.ts:31-49</a:t>
            </a:r>
          </a:p>
        </p:txBody>
      </p:sp>
      <p:sp>
        <p:nvSpPr>
          <p:cNvPr id="9" name="Rounded Rectangle 8"/>
          <p:cNvSpPr/>
          <p:nvPr/>
        </p:nvSpPr>
        <p:spPr>
          <a:xfrm>
            <a:off x="548640" y="1874519"/>
            <a:ext cx="6035040" cy="301752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6035040" cy="457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760720" cy="228600"/>
          </a:xfrm>
          <a:prstGeom prst="rect">
            <a:avLst/>
          </a:prstGeom>
          <a:noFill/>
        </p:spPr>
        <p:txBody>
          <a:bodyPr wrap="square" lIns="36576" rIns="36576" tIns="18288" bIns="18288">
            <a:spAutoFit/>
          </a:bodyPr>
          <a:lstStyle/>
          <a:p>
            <a:r>
              <a:rPr sz="1000" b="1">
                <a:solidFill>
                  <a:srgbClr val="FBBF24"/>
                </a:solidFill>
                <a:latin typeface="Segoe UI Semibold"/>
              </a:rPr>
              <a:t>public contract</a:t>
            </a:r>
          </a:p>
        </p:txBody>
      </p:sp>
      <p:sp>
        <p:nvSpPr>
          <p:cNvPr id="12" name="TextBox 11"/>
          <p:cNvSpPr txBox="1"/>
          <p:nvPr/>
        </p:nvSpPr>
        <p:spPr>
          <a:xfrm>
            <a:off x="713232" y="2167127"/>
            <a:ext cx="5760720" cy="2670048"/>
          </a:xfrm>
          <a:prstGeom prst="rect">
            <a:avLst/>
          </a:prstGeom>
          <a:noFill/>
        </p:spPr>
        <p:txBody>
          <a:bodyPr wrap="square" lIns="36576" rIns="36576">
            <a:spAutoFit/>
          </a:bodyPr>
          <a:lstStyle/>
          <a:p>
            <a:pPr>
              <a:spcAft>
                <a:spcPts val="100"/>
              </a:spcAft>
            </a:pPr>
            <a:r>
              <a:rPr sz="1100">
                <a:solidFill>
                  <a:srgbClr val="94A3B8"/>
                </a:solidFill>
                <a:latin typeface="Consolas"/>
              </a:rPr>
              <a:t>// .squad/manifest.json</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"name": "platform-squad",</a:t>
            </a:r>
          </a:p>
          <a:p>
            <a:pPr>
              <a:spcAft>
                <a:spcPts val="100"/>
              </a:spcAft>
            </a:pPr>
            <a:r>
              <a:rPr sz="1100">
                <a:solidFill>
                  <a:srgbClr val="CBD5E1"/>
                </a:solidFill>
                <a:latin typeface="Consolas"/>
              </a:rPr>
              <a:t>  "version": "1.0.0",</a:t>
            </a:r>
          </a:p>
          <a:p>
            <a:pPr>
              <a:spcAft>
                <a:spcPts val="100"/>
              </a:spcAft>
            </a:pPr>
            <a:r>
              <a:rPr sz="1100">
                <a:solidFill>
                  <a:srgbClr val="CBD5E1"/>
                </a:solidFill>
                <a:latin typeface="Consolas"/>
              </a:rPr>
              <a:t>  "description": "Platform engineering squad",</a:t>
            </a:r>
          </a:p>
          <a:p>
            <a:pPr>
              <a:spcAft>
                <a:spcPts val="100"/>
              </a:spcAft>
            </a:pPr>
            <a:r>
              <a:rPr sz="1100">
                <a:solidFill>
                  <a:srgbClr val="CBD5E1"/>
                </a:solidFill>
                <a:latin typeface="Consolas"/>
              </a:rPr>
              <a:t>  "capabilities": ["infra", "observability"],</a:t>
            </a:r>
          </a:p>
          <a:p>
            <a:pPr>
              <a:spcAft>
                <a:spcPts val="100"/>
              </a:spcAft>
            </a:pPr>
            <a:r>
              <a:rPr sz="1100">
                <a:solidFill>
                  <a:srgbClr val="CBD5E1"/>
                </a:solidFill>
                <a:latin typeface="Consolas"/>
              </a:rPr>
              <a:t>  "contact": {</a:t>
            </a:r>
          </a:p>
          <a:p>
            <a:pPr>
              <a:spcAft>
                <a:spcPts val="100"/>
              </a:spcAft>
            </a:pPr>
            <a:r>
              <a:rPr sz="1100">
                <a:solidFill>
                  <a:srgbClr val="CBD5E1"/>
                </a:solidFill>
                <a:latin typeface="Consolas"/>
              </a:rPr>
              <a:t>    "repo": "acme/platform",</a:t>
            </a:r>
          </a:p>
          <a:p>
            <a:pPr>
              <a:spcAft>
                <a:spcPts val="100"/>
              </a:spcAft>
            </a:pPr>
            <a:r>
              <a:rPr sz="1100">
                <a:solidFill>
                  <a:srgbClr val="CBD5E1"/>
                </a:solidFill>
                <a:latin typeface="Consolas"/>
              </a:rPr>
              <a:t>    "labels": ["squad:platform"]</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"accepts": ["issues"],</a:t>
            </a:r>
          </a:p>
          <a:p>
            <a:pPr>
              <a:spcAft>
                <a:spcPts val="100"/>
              </a:spcAft>
            </a:pPr>
            <a:r>
              <a:rPr sz="1100">
                <a:solidFill>
                  <a:srgbClr val="CBD5E1"/>
                </a:solidFill>
                <a:latin typeface="Consolas"/>
              </a:rPr>
              <a:t>  "skills": ["..."]</a:t>
            </a:r>
          </a:p>
          <a:p>
            <a:pPr>
              <a:spcAft>
                <a:spcPts val="100"/>
              </a:spcAft>
            </a:pPr>
            <a:r>
              <a:rPr sz="1100">
                <a:solidFill>
                  <a:srgbClr val="CBD5E1"/>
                </a:solidFill>
                <a:latin typeface="Consolas"/>
              </a:rPr>
              <a:t>}</a:t>
            </a:r>
          </a:p>
        </p:txBody>
      </p:sp>
      <p:sp>
        <p:nvSpPr>
          <p:cNvPr id="13" name="Rounded Rectangle 12"/>
          <p:cNvSpPr/>
          <p:nvPr/>
        </p:nvSpPr>
        <p:spPr>
          <a:xfrm>
            <a:off x="6766559" y="1874519"/>
            <a:ext cx="4846320" cy="30175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66559" y="1874519"/>
            <a:ext cx="484632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31151"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6" name="TextBox 15"/>
          <p:cNvSpPr txBox="1"/>
          <p:nvPr/>
        </p:nvSpPr>
        <p:spPr>
          <a:xfrm>
            <a:off x="7452359" y="2039112"/>
            <a:ext cx="4069080" cy="411480"/>
          </a:xfrm>
          <a:prstGeom prst="rect">
            <a:avLst/>
          </a:prstGeom>
          <a:noFill/>
        </p:spPr>
        <p:txBody>
          <a:bodyPr wrap="square" lIns="36576" rIns="36576" tIns="18288" bIns="18288" anchor="ctr">
            <a:spAutoFit/>
          </a:bodyPr>
          <a:lstStyle/>
          <a:p>
            <a:r>
              <a:rPr sz="1500" b="1">
                <a:solidFill>
                  <a:srgbClr val="F8FAFC"/>
                </a:solidFill>
                <a:latin typeface="Segoe UI"/>
              </a:rPr>
              <a:t>Why manifests matter</a:t>
            </a:r>
          </a:p>
        </p:txBody>
      </p:sp>
      <p:sp>
        <p:nvSpPr>
          <p:cNvPr id="17" name="TextBox 16"/>
          <p:cNvSpPr txBox="1"/>
          <p:nvPr/>
        </p:nvSpPr>
        <p:spPr>
          <a:xfrm>
            <a:off x="6931151" y="2560320"/>
            <a:ext cx="4572000" cy="2240279"/>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Consumers do not inspect internal .squad/ files</a:t>
            </a:r>
          </a:p>
          <a:p>
            <a:pPr>
              <a:spcAft>
                <a:spcPts val="300"/>
              </a:spcAft>
            </a:pPr>
            <a:r>
              <a:rPr sz="1200" b="1">
                <a:solidFill>
                  <a:srgbClr val="FBBF24"/>
                </a:solidFill>
                <a:latin typeface="Segoe UI"/>
              </a:rPr>
              <a:t>•  </a:t>
            </a:r>
            <a:r>
              <a:rPr sz="1200">
                <a:solidFill>
                  <a:srgbClr val="CBD5E1"/>
                </a:solidFill>
                <a:latin typeface="Segoe UI"/>
              </a:rPr>
              <a:t>Capabilities are explicit</a:t>
            </a:r>
          </a:p>
          <a:p>
            <a:pPr>
              <a:spcAft>
                <a:spcPts val="300"/>
              </a:spcAft>
            </a:pPr>
            <a:r>
              <a:rPr sz="1200" b="1">
                <a:solidFill>
                  <a:srgbClr val="FBBF24"/>
                </a:solidFill>
                <a:latin typeface="Segoe UI"/>
              </a:rPr>
              <a:t>•  </a:t>
            </a:r>
            <a:r>
              <a:rPr sz="1200">
                <a:solidFill>
                  <a:srgbClr val="CBD5E1"/>
                </a:solidFill>
                <a:latin typeface="Segoe UI"/>
              </a:rPr>
              <a:t>Contact + labels route work cleanly</a:t>
            </a:r>
          </a:p>
          <a:p>
            <a:pPr>
              <a:spcAft>
                <a:spcPts val="300"/>
              </a:spcAft>
            </a:pPr>
            <a:r>
              <a:rPr sz="1200" b="1">
                <a:solidFill>
                  <a:srgbClr val="FBBF24"/>
                </a:solidFill>
                <a:latin typeface="Segoe UI"/>
              </a:rPr>
              <a:t>•  </a:t>
            </a:r>
            <a:r>
              <a:rPr sz="1200">
                <a:solidFill>
                  <a:srgbClr val="CBD5E1"/>
                </a:solidFill>
                <a:latin typeface="Segoe UI"/>
              </a:rPr>
              <a:t>`accepts` declares boundaries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BBF24"/>
                </a:solidFill>
                <a:latin typeface="Segoe UI Semibold"/>
              </a:rPr>
              <a:t>HANDOFF PROTOCOL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Discover → Delegate → Track</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Delegation is issue-based. The target squad receives context, labels, and acceptance criteria.</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docs/features/cross-squad-orchestration.md:31-80 • packages/squad-sdk/src/runtime/cross-squad.ts:152-282</a:t>
            </a:r>
          </a:p>
        </p:txBody>
      </p:sp>
      <p:sp>
        <p:nvSpPr>
          <p:cNvPr id="9" name="Rounded Rectangle 8"/>
          <p:cNvSpPr/>
          <p:nvPr/>
        </p:nvSpPr>
        <p:spPr>
          <a:xfrm>
            <a:off x="548640" y="1874519"/>
            <a:ext cx="5486400" cy="32004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486400" cy="457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212080" cy="228600"/>
          </a:xfrm>
          <a:prstGeom prst="rect">
            <a:avLst/>
          </a:prstGeom>
          <a:noFill/>
        </p:spPr>
        <p:txBody>
          <a:bodyPr wrap="square" lIns="36576" rIns="36576" tIns="18288" bIns="18288">
            <a:spAutoFit/>
          </a:bodyPr>
          <a:lstStyle/>
          <a:p>
            <a:r>
              <a:rPr sz="1000" b="1">
                <a:solidFill>
                  <a:srgbClr val="FBBF24"/>
                </a:solidFill>
                <a:latin typeface="Segoe UI Semibold"/>
              </a:rPr>
              <a:t>operator view</a:t>
            </a:r>
          </a:p>
        </p:txBody>
      </p:sp>
      <p:sp>
        <p:nvSpPr>
          <p:cNvPr id="12" name="TextBox 11"/>
          <p:cNvSpPr txBox="1"/>
          <p:nvPr/>
        </p:nvSpPr>
        <p:spPr>
          <a:xfrm>
            <a:off x="713232" y="2167127"/>
            <a:ext cx="5212080" cy="2852928"/>
          </a:xfrm>
          <a:prstGeom prst="rect">
            <a:avLst/>
          </a:prstGeom>
          <a:noFill/>
        </p:spPr>
        <p:txBody>
          <a:bodyPr wrap="square" lIns="36576" rIns="36576">
            <a:spAutoFit/>
          </a:bodyPr>
          <a:lstStyle/>
          <a:p>
            <a:pPr>
              <a:spcAft>
                <a:spcPts val="100"/>
              </a:spcAft>
            </a:pPr>
            <a:r>
              <a:rPr sz="1100">
                <a:solidFill>
                  <a:srgbClr val="F8FAFC"/>
                </a:solidFill>
                <a:latin typeface="Consolas"/>
              </a:rPr>
              <a:t>$ squad discover</a:t>
            </a:r>
          </a:p>
          <a:p>
            <a:pPr>
              <a:spcAft>
                <a:spcPts val="100"/>
              </a:spcAft>
            </a:pPr>
            <a:r>
              <a:rPr sz="1100">
                <a:solidFill>
                  <a:srgbClr val="CBD5E1"/>
                </a:solidFill>
                <a:latin typeface="Consolas"/>
              </a:rPr>
              <a:t>Known Squads:</a:t>
            </a:r>
          </a:p>
          <a:p>
            <a:pPr>
              <a:spcAft>
                <a:spcPts val="100"/>
              </a:spcAft>
            </a:pPr>
            <a:r>
              <a:rPr sz="1100">
                <a:solidFill>
                  <a:srgbClr val="CBD5E1"/>
                </a:solidFill>
                <a:latin typeface="Consolas"/>
              </a:rPr>
              <a:t>  backend-squad</a:t>
            </a:r>
          </a:p>
          <a:p>
            <a:pPr>
              <a:spcAft>
                <a:spcPts val="100"/>
              </a:spcAft>
            </a:pPr>
            <a:r>
              <a:rPr sz="1100">
                <a:solidFill>
                  <a:srgbClr val="CBD5E1"/>
                </a:solidFill>
                <a:latin typeface="Consolas"/>
              </a:rPr>
              <a:t>    Capabilities: api, database</a:t>
            </a:r>
          </a:p>
          <a:p>
            <a:pPr>
              <a:spcAft>
                <a:spcPts val="100"/>
              </a:spcAft>
            </a:pPr>
            <a:r>
              <a:rPr sz="1100">
                <a:solidFill>
                  <a:srgbClr val="CBD5E1"/>
                </a:solidFill>
                <a:latin typeface="Consolas"/>
              </a:rPr>
              <a:t>    Accepts:      issues</a:t>
            </a:r>
          </a:p>
          <a:p>
            <a:pPr>
              <a:spcAft>
                <a:spcPts val="100"/>
              </a:spcAft>
            </a:pPr>
            <a:r>
              <a:rPr sz="1100">
                <a:solidFill>
                  <a:srgbClr val="CBD5E1"/>
                </a:solidFill>
                <a:latin typeface="Consolas"/>
              </a:rPr>
              <a:t>    Contact:      acme/backend  squad:backend</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squad delegate backend-squad \</a:t>
            </a:r>
          </a:p>
          <a:p>
            <a:pPr>
              <a:spcAft>
                <a:spcPts val="100"/>
              </a:spcAft>
            </a:pPr>
            <a:r>
              <a:rPr sz="1100">
                <a:solidFill>
                  <a:srgbClr val="CBD5E1"/>
                </a:solidFill>
                <a:latin typeface="Consolas"/>
              </a:rPr>
              <a:t>  "Implement caching for /users API"</a:t>
            </a:r>
          </a:p>
          <a:p>
            <a:pPr>
              <a:spcAft>
                <a:spcPts val="100"/>
              </a:spcAft>
            </a:pPr>
            <a:r>
              <a:rPr sz="1100">
                <a:solidFill>
                  <a:srgbClr val="CBD5E1"/>
                </a:solidFill>
                <a:latin typeface="Consolas"/>
              </a:rPr>
              <a:t>  → creates issue in target repo</a:t>
            </a:r>
          </a:p>
          <a:p>
            <a:pPr>
              <a:spcAft>
                <a:spcPts val="100"/>
              </a:spcAft>
            </a:pPr>
            <a:r>
              <a:rPr sz="1100">
                <a:solidFill>
                  <a:srgbClr val="CBD5E1"/>
                </a:solidFill>
                <a:latin typeface="Consolas"/>
              </a:rPr>
              <a:t>  → labels: squad:backend + squad:cross-squad</a:t>
            </a:r>
          </a:p>
        </p:txBody>
      </p:sp>
      <p:sp>
        <p:nvSpPr>
          <p:cNvPr id="13" name="Rounded Rectangle 12"/>
          <p:cNvSpPr/>
          <p:nvPr/>
        </p:nvSpPr>
        <p:spPr>
          <a:xfrm>
            <a:off x="6217920" y="1874519"/>
            <a:ext cx="5394960"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5394960" cy="73152"/>
          </a:xfrm>
          <a:prstGeom prst="rect">
            <a:avLst/>
          </a:prstGeom>
          <a:solidFill>
            <a:srgbClr val="FB7185"/>
          </a:solidFill>
          <a:ln w="9525">
            <a:solidFill>
              <a:srgbClr val="FB71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039112"/>
            <a:ext cx="502920" cy="411480"/>
          </a:xfrm>
          <a:prstGeom prst="rect">
            <a:avLst/>
          </a:prstGeom>
          <a:noFill/>
        </p:spPr>
        <p:txBody>
          <a:bodyPr wrap="square" lIns="36576" rIns="36576" tIns="18288" bIns="18288" anchor="ctr">
            <a:spAutoFit/>
          </a:bodyPr>
          <a:lstStyle/>
          <a:p>
            <a:r>
              <a:rPr sz="2200" b="1">
                <a:solidFill>
                  <a:srgbClr val="FB7185"/>
                </a:solidFill>
                <a:latin typeface="Segoe UI"/>
              </a:rPr>
              <a:t>✖</a:t>
            </a:r>
          </a:p>
        </p:txBody>
      </p:sp>
      <p:sp>
        <p:nvSpPr>
          <p:cNvPr id="16" name="TextBox 15"/>
          <p:cNvSpPr txBox="1"/>
          <p:nvPr/>
        </p:nvSpPr>
        <p:spPr>
          <a:xfrm>
            <a:off x="6903720" y="2039112"/>
            <a:ext cx="4617720" cy="411480"/>
          </a:xfrm>
          <a:prstGeom prst="rect">
            <a:avLst/>
          </a:prstGeom>
          <a:noFill/>
        </p:spPr>
        <p:txBody>
          <a:bodyPr wrap="square" lIns="36576" rIns="36576" tIns="18288" bIns="18288" anchor="ctr">
            <a:spAutoFit/>
          </a:bodyPr>
          <a:lstStyle/>
          <a:p>
            <a:r>
              <a:rPr sz="1500" b="1">
                <a:solidFill>
                  <a:srgbClr val="F8FAFC"/>
                </a:solidFill>
                <a:latin typeface="Segoe UI"/>
              </a:rPr>
              <a:t>Anti-patterns</a:t>
            </a:r>
          </a:p>
        </p:txBody>
      </p:sp>
      <p:sp>
        <p:nvSpPr>
          <p:cNvPr id="17" name="TextBox 16"/>
          <p:cNvSpPr txBox="1"/>
          <p:nvPr/>
        </p:nvSpPr>
        <p:spPr>
          <a:xfrm>
            <a:off x="6382512" y="2560320"/>
            <a:ext cx="5120640" cy="2423160"/>
          </a:xfrm>
          <a:prstGeom prst="rect">
            <a:avLst/>
          </a:prstGeom>
          <a:noFill/>
        </p:spPr>
        <p:txBody>
          <a:bodyPr wrap="square" lIns="45720" rIns="45720">
            <a:spAutoFit/>
          </a:bodyPr>
          <a:lstStyle/>
          <a:p>
            <a:pPr>
              <a:spcAft>
                <a:spcPts val="300"/>
              </a:spcAft>
            </a:pPr>
            <a:r>
              <a:rPr sz="1200" b="1">
                <a:solidFill>
                  <a:srgbClr val="FB7185"/>
                </a:solidFill>
                <a:latin typeface="Segoe UI"/>
              </a:rPr>
              <a:t>•  </a:t>
            </a:r>
            <a:r>
              <a:rPr sz="1200">
                <a:solidFill>
                  <a:srgbClr val="CBD5E1"/>
                </a:solidFill>
                <a:latin typeface="Segoe UI"/>
              </a:rPr>
              <a:t>Never write directly into another squad's .squad/</a:t>
            </a:r>
          </a:p>
          <a:p>
            <a:pPr>
              <a:spcAft>
                <a:spcPts val="300"/>
              </a:spcAft>
            </a:pPr>
            <a:r>
              <a:rPr sz="1200" b="1">
                <a:solidFill>
                  <a:srgbClr val="FB7185"/>
                </a:solidFill>
                <a:latin typeface="Segoe UI"/>
              </a:rPr>
              <a:t>•  </a:t>
            </a:r>
            <a:r>
              <a:rPr sz="1200">
                <a:solidFill>
                  <a:srgbClr val="CBD5E1"/>
                </a:solidFill>
                <a:latin typeface="Segoe UI"/>
              </a:rPr>
              <a:t>Never depend on another squad's internals</a:t>
            </a:r>
          </a:p>
          <a:p>
            <a:pPr>
              <a:spcAft>
                <a:spcPts val="300"/>
              </a:spcAft>
            </a:pPr>
            <a:r>
              <a:rPr sz="1200" b="1">
                <a:solidFill>
                  <a:srgbClr val="FB7185"/>
                </a:solidFill>
                <a:latin typeface="Segoe UI"/>
              </a:rPr>
              <a:t>•  </a:t>
            </a:r>
            <a:r>
              <a:rPr sz="1200">
                <a:solidFill>
                  <a:srgbClr val="CBD5E1"/>
                </a:solidFill>
                <a:latin typeface="Segoe UI"/>
              </a:rPr>
              <a:t>Do not share secrets in handoffs</a:t>
            </a:r>
          </a:p>
          <a:p>
            <a:pPr>
              <a:spcAft>
                <a:spcPts val="300"/>
              </a:spcAft>
            </a:pPr>
            <a:r>
              <a:rPr sz="1200" b="1">
                <a:solidFill>
                  <a:srgbClr val="FB7185"/>
                </a:solidFill>
                <a:latin typeface="Segoe UI"/>
              </a:rPr>
              <a:t>•  </a:t>
            </a:r>
            <a:r>
              <a:rPr sz="1200">
                <a:solidFill>
                  <a:srgbClr val="CBD5E1"/>
                </a:solidFill>
                <a:latin typeface="Segoe UI"/>
              </a:rPr>
              <a:t>Always include acceptance criteria</a:t>
            </a:r>
          </a:p>
          <a:p>
            <a:pPr>
              <a:spcAft>
                <a:spcPts val="300"/>
              </a:spcAft>
            </a:pPr>
            <a:r>
              <a:rPr sz="1200" b="1">
                <a:solidFill>
                  <a:srgbClr val="FB7185"/>
                </a:solidFill>
                <a:latin typeface="Segoe UI"/>
              </a:rPr>
              <a:t>•  </a:t>
            </a:r>
            <a:r>
              <a:rPr sz="1200">
                <a:solidFill>
                  <a:srgbClr val="CBD5E1"/>
                </a:solidFill>
                <a:latin typeface="Segoe UI"/>
              </a:rPr>
              <a:t>Avoid circular delegation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44</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BBF24"/>
                </a:solidFill>
                <a:latin typeface="Segoe UI Semibold"/>
              </a:rPr>
              <a:t>PATTERN COMPARISON</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Choose the right communication pattern</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These mechanisms solve different coordination problems.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docs/.../distributed-mesh.md:213-257 • multiple-squads.md:17-27</a:t>
            </a:r>
          </a:p>
        </p:txBody>
      </p:sp>
      <p:sp>
        <p:nvSpPr>
          <p:cNvPr id="9" name="Rounded Rectangle 8"/>
          <p:cNvSpPr/>
          <p:nvPr/>
        </p:nvSpPr>
        <p:spPr>
          <a:xfrm>
            <a:off x="548640" y="1874519"/>
            <a:ext cx="2636443"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2636443"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234440"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Upstream</a:t>
            </a:r>
          </a:p>
        </p:txBody>
      </p:sp>
      <p:sp>
        <p:nvSpPr>
          <p:cNvPr id="13" name="TextBox 12"/>
          <p:cNvSpPr txBox="1"/>
          <p:nvPr/>
        </p:nvSpPr>
        <p:spPr>
          <a:xfrm>
            <a:off x="713232" y="2560320"/>
            <a:ext cx="2362123" cy="260604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Parent → child</a:t>
            </a:r>
          </a:p>
          <a:p>
            <a:pPr>
              <a:spcAft>
                <a:spcPts val="300"/>
              </a:spcAft>
            </a:pPr>
            <a:r>
              <a:rPr sz="1200" b="1">
                <a:solidFill>
                  <a:srgbClr val="38BDF8"/>
                </a:solidFill>
                <a:latin typeface="Segoe UI"/>
              </a:rPr>
              <a:t>•  </a:t>
            </a:r>
            <a:r>
              <a:rPr sz="1200">
                <a:solidFill>
                  <a:srgbClr val="CBD5E1"/>
                </a:solidFill>
                <a:latin typeface="Segoe UI"/>
              </a:rPr>
              <a:t>Flows: policies, skills, wisdom</a:t>
            </a:r>
          </a:p>
          <a:p>
            <a:pPr>
              <a:spcAft>
                <a:spcPts val="300"/>
              </a:spcAft>
            </a:pPr>
            <a:r>
              <a:rPr sz="1200" b="1">
                <a:solidFill>
                  <a:srgbClr val="38BDF8"/>
                </a:solidFill>
                <a:latin typeface="Segoe UI"/>
              </a:rPr>
              <a:t>•  </a:t>
            </a:r>
            <a:r>
              <a:rPr sz="1200">
                <a:solidFill>
                  <a:srgbClr val="CBD5E1"/>
                </a:solidFill>
                <a:latin typeface="Segoe UI"/>
              </a:rPr>
              <a:t>Config: upstream.json</a:t>
            </a:r>
          </a:p>
        </p:txBody>
      </p:sp>
      <p:sp>
        <p:nvSpPr>
          <p:cNvPr id="14" name="Rounded Rectangle 13"/>
          <p:cNvSpPr/>
          <p:nvPr/>
        </p:nvSpPr>
        <p:spPr>
          <a:xfrm>
            <a:off x="3367963" y="1874519"/>
            <a:ext cx="2636443"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7963" y="1874519"/>
            <a:ext cx="2636443"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2555"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17" name="TextBox 16"/>
          <p:cNvSpPr txBox="1"/>
          <p:nvPr/>
        </p:nvSpPr>
        <p:spPr>
          <a:xfrm>
            <a:off x="4053763"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Cross-squad</a:t>
            </a:r>
          </a:p>
        </p:txBody>
      </p:sp>
      <p:sp>
        <p:nvSpPr>
          <p:cNvPr id="18" name="TextBox 17"/>
          <p:cNvSpPr txBox="1"/>
          <p:nvPr/>
        </p:nvSpPr>
        <p:spPr>
          <a:xfrm>
            <a:off x="3532555" y="2560320"/>
            <a:ext cx="2362123" cy="260604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Peer → owning squad</a:t>
            </a:r>
          </a:p>
          <a:p>
            <a:pPr>
              <a:spcAft>
                <a:spcPts val="300"/>
              </a:spcAft>
            </a:pPr>
            <a:r>
              <a:rPr sz="1200" b="1">
                <a:solidFill>
                  <a:srgbClr val="FBBF24"/>
                </a:solidFill>
                <a:latin typeface="Segoe UI"/>
              </a:rPr>
              <a:t>•  </a:t>
            </a:r>
            <a:r>
              <a:rPr sz="1200">
                <a:solidFill>
                  <a:srgbClr val="CBD5E1"/>
                </a:solidFill>
                <a:latin typeface="Segoe UI"/>
              </a:rPr>
              <a:t>Flows: work requests</a:t>
            </a:r>
          </a:p>
          <a:p>
            <a:pPr>
              <a:spcAft>
                <a:spcPts val="300"/>
              </a:spcAft>
            </a:pPr>
            <a:r>
              <a:rPr sz="1200" b="1">
                <a:solidFill>
                  <a:srgbClr val="FBBF24"/>
                </a:solidFill>
                <a:latin typeface="Segoe UI"/>
              </a:rPr>
              <a:t>•  </a:t>
            </a:r>
            <a:r>
              <a:rPr sz="1200">
                <a:solidFill>
                  <a:srgbClr val="CBD5E1"/>
                </a:solidFill>
                <a:latin typeface="Segoe UI"/>
              </a:rPr>
              <a:t>Config: manifest + issues</a:t>
            </a:r>
          </a:p>
        </p:txBody>
      </p:sp>
      <p:sp>
        <p:nvSpPr>
          <p:cNvPr id="19" name="Rounded Rectangle 18"/>
          <p:cNvSpPr/>
          <p:nvPr/>
        </p:nvSpPr>
        <p:spPr>
          <a:xfrm>
            <a:off x="6187287" y="1874519"/>
            <a:ext cx="2636443"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1874519"/>
            <a:ext cx="2636443"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1879"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2" name="TextBox 21"/>
          <p:cNvSpPr txBox="1"/>
          <p:nvPr/>
        </p:nvSpPr>
        <p:spPr>
          <a:xfrm>
            <a:off x="6873087"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Distributed mesh</a:t>
            </a:r>
          </a:p>
        </p:txBody>
      </p:sp>
      <p:sp>
        <p:nvSpPr>
          <p:cNvPr id="23" name="TextBox 22"/>
          <p:cNvSpPr txBox="1"/>
          <p:nvPr/>
        </p:nvSpPr>
        <p:spPr>
          <a:xfrm>
            <a:off x="6351879" y="2560320"/>
            <a:ext cx="2362123" cy="260604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Peer ⇄ peer</a:t>
            </a:r>
          </a:p>
          <a:p>
            <a:pPr>
              <a:spcAft>
                <a:spcPts val="300"/>
              </a:spcAft>
            </a:pPr>
            <a:r>
              <a:rPr sz="1200" b="1">
                <a:solidFill>
                  <a:srgbClr val="34D399"/>
                </a:solidFill>
                <a:latin typeface="Segoe UI"/>
              </a:rPr>
              <a:t>•  </a:t>
            </a:r>
            <a:r>
              <a:rPr sz="1200">
                <a:solidFill>
                  <a:srgbClr val="CBD5E1"/>
                </a:solidFill>
                <a:latin typeface="Segoe UI"/>
              </a:rPr>
              <a:t>Flows: state billboards</a:t>
            </a:r>
          </a:p>
          <a:p>
            <a:pPr>
              <a:spcAft>
                <a:spcPts val="300"/>
              </a:spcAft>
            </a:pPr>
            <a:r>
              <a:rPr sz="1200" b="1">
                <a:solidFill>
                  <a:srgbClr val="34D399"/>
                </a:solidFill>
                <a:latin typeface="Segoe UI"/>
              </a:rPr>
              <a:t>•  </a:t>
            </a:r>
            <a:r>
              <a:rPr sz="1200">
                <a:solidFill>
                  <a:srgbClr val="CBD5E1"/>
                </a:solidFill>
                <a:latin typeface="Segoe UI"/>
              </a:rPr>
              <a:t>Config: mesh.json + sync</a:t>
            </a:r>
          </a:p>
        </p:txBody>
      </p:sp>
      <p:sp>
        <p:nvSpPr>
          <p:cNvPr id="24" name="Rounded Rectangle 23"/>
          <p:cNvSpPr/>
          <p:nvPr/>
        </p:nvSpPr>
        <p:spPr>
          <a:xfrm>
            <a:off x="9006611" y="1874519"/>
            <a:ext cx="2636443"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611" y="1874519"/>
            <a:ext cx="2636443"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203"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27" name="TextBox 26"/>
          <p:cNvSpPr txBox="1"/>
          <p:nvPr/>
        </p:nvSpPr>
        <p:spPr>
          <a:xfrm>
            <a:off x="9692411" y="2039112"/>
            <a:ext cx="1859203" cy="411480"/>
          </a:xfrm>
          <a:prstGeom prst="rect">
            <a:avLst/>
          </a:prstGeom>
          <a:noFill/>
        </p:spPr>
        <p:txBody>
          <a:bodyPr wrap="square" lIns="36576" rIns="36576" tIns="18288" bIns="18288" anchor="ctr">
            <a:spAutoFit/>
          </a:bodyPr>
          <a:lstStyle/>
          <a:p>
            <a:r>
              <a:rPr sz="1700" b="1">
                <a:solidFill>
                  <a:srgbClr val="F8FAFC"/>
                </a:solidFill>
                <a:latin typeface="Segoe UI"/>
              </a:rPr>
              <a:t>Export/import</a:t>
            </a:r>
          </a:p>
        </p:txBody>
      </p:sp>
      <p:sp>
        <p:nvSpPr>
          <p:cNvPr id="28" name="TextBox 27"/>
          <p:cNvSpPr txBox="1"/>
          <p:nvPr/>
        </p:nvSpPr>
        <p:spPr>
          <a:xfrm>
            <a:off x="9171203" y="2560320"/>
            <a:ext cx="2362123" cy="260604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Snapshot copy</a:t>
            </a:r>
          </a:p>
          <a:p>
            <a:pPr>
              <a:spcAft>
                <a:spcPts val="300"/>
              </a:spcAft>
            </a:pPr>
            <a:r>
              <a:rPr sz="1200" b="1">
                <a:solidFill>
                  <a:srgbClr val="A78BFA"/>
                </a:solidFill>
                <a:latin typeface="Segoe UI"/>
              </a:rPr>
              <a:t>•  </a:t>
            </a:r>
            <a:r>
              <a:rPr sz="1200">
                <a:solidFill>
                  <a:srgbClr val="CBD5E1"/>
                </a:solidFill>
                <a:latin typeface="Segoe UI"/>
              </a:rPr>
              <a:t>Flows: trained knowledge</a:t>
            </a:r>
          </a:p>
          <a:p>
            <a:pPr>
              <a:spcAft>
                <a:spcPts val="300"/>
              </a:spcAft>
            </a:pPr>
            <a:r>
              <a:rPr sz="1200" b="1">
                <a:solidFill>
                  <a:srgbClr val="A78BFA"/>
                </a:solidFill>
                <a:latin typeface="Segoe UI"/>
              </a:rPr>
              <a:t>•  </a:t>
            </a:r>
            <a:r>
              <a:rPr sz="1200">
                <a:solidFill>
                  <a:srgbClr val="CBD5E1"/>
                </a:solidFill>
                <a:latin typeface="Segoe UI"/>
              </a:rPr>
              <a:t>Config: squad export/import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45</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BBF24"/>
                </a:solidFill>
                <a:latin typeface="Segoe UI Semibold"/>
              </a:rPr>
              <a:t>ACROSS MACHINES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Distributed mesh: three trust zones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Remote state must be materialized locally before agents read it.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docs/.../features/distributed-mesh.md:15-43 • SKILL.md:42-54</a:t>
            </a:r>
          </a:p>
        </p:txBody>
      </p:sp>
      <p:sp>
        <p:nvSpPr>
          <p:cNvPr id="9" name="TextBox 8"/>
          <p:cNvSpPr txBox="1"/>
          <p:nvPr/>
        </p:nvSpPr>
        <p:spPr>
          <a:xfrm>
            <a:off x="548640" y="1874519"/>
            <a:ext cx="11094415" cy="640080"/>
          </a:xfrm>
          <a:prstGeom prst="rect">
            <a:avLst/>
          </a:prstGeom>
          <a:noFill/>
        </p:spPr>
        <p:txBody>
          <a:bodyPr wrap="square" lIns="36576" rIns="36576" tIns="18288" bIns="18288">
            <a:spAutoFit/>
          </a:bodyPr>
          <a:lstStyle/>
          <a:p>
            <a:pPr algn="ctr"/>
            <a:r>
              <a:rPr sz="1800" b="1">
                <a:solidFill>
                  <a:srgbClr val="F8FAFC"/>
                </a:solidFill>
                <a:latin typeface="Segoe UI"/>
              </a:rPr>
              <a:t>“The filesystem is the mesh. Git is how the mesh crosses machine boundaries.”</a:t>
            </a:r>
          </a:p>
        </p:txBody>
      </p:sp>
      <p:sp>
        <p:nvSpPr>
          <p:cNvPr id="10" name="Rounded Rectangle 9"/>
          <p:cNvSpPr/>
          <p:nvPr/>
        </p:nvSpPr>
        <p:spPr>
          <a:xfrm>
            <a:off x="548640" y="2697479"/>
            <a:ext cx="3576218" cy="2926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97479"/>
            <a:ext cx="3576218"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86207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1</a:t>
            </a:r>
          </a:p>
        </p:txBody>
      </p:sp>
      <p:sp>
        <p:nvSpPr>
          <p:cNvPr id="13" name="TextBox 12"/>
          <p:cNvSpPr txBox="1"/>
          <p:nvPr/>
        </p:nvSpPr>
        <p:spPr>
          <a:xfrm>
            <a:off x="1234440" y="286207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Zone 1 — Local</a:t>
            </a:r>
          </a:p>
        </p:txBody>
      </p:sp>
      <p:sp>
        <p:nvSpPr>
          <p:cNvPr id="14" name="TextBox 13"/>
          <p:cNvSpPr txBox="1"/>
          <p:nvPr/>
        </p:nvSpPr>
        <p:spPr>
          <a:xfrm>
            <a:off x="713232" y="3383279"/>
            <a:ext cx="3301898" cy="214884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Same host / filesystem</a:t>
            </a:r>
          </a:p>
          <a:p>
            <a:pPr>
              <a:spcAft>
                <a:spcPts val="300"/>
              </a:spcAft>
            </a:pPr>
            <a:r>
              <a:rPr sz="1200" b="1">
                <a:solidFill>
                  <a:srgbClr val="38BDF8"/>
                </a:solidFill>
                <a:latin typeface="Segoe UI"/>
              </a:rPr>
              <a:t>•  </a:t>
            </a:r>
            <a:r>
              <a:rPr sz="1200">
                <a:solidFill>
                  <a:srgbClr val="CBD5E1"/>
                </a:solidFill>
                <a:latin typeface="Segoe UI"/>
              </a:rPr>
              <a:t>Direct file read</a:t>
            </a:r>
          </a:p>
        </p:txBody>
      </p:sp>
      <p:sp>
        <p:nvSpPr>
          <p:cNvPr id="15" name="Rounded Rectangle 14"/>
          <p:cNvSpPr/>
          <p:nvPr/>
        </p:nvSpPr>
        <p:spPr>
          <a:xfrm>
            <a:off x="4307738" y="2697479"/>
            <a:ext cx="3576218" cy="2926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7738" y="2697479"/>
            <a:ext cx="3576218"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286207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2</a:t>
            </a:r>
          </a:p>
        </p:txBody>
      </p:sp>
      <p:sp>
        <p:nvSpPr>
          <p:cNvPr id="18" name="TextBox 17"/>
          <p:cNvSpPr txBox="1"/>
          <p:nvPr/>
        </p:nvSpPr>
        <p:spPr>
          <a:xfrm>
            <a:off x="4993538" y="286207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Zone 2 — Remote-trusted</a:t>
            </a:r>
          </a:p>
        </p:txBody>
      </p:sp>
      <p:sp>
        <p:nvSpPr>
          <p:cNvPr id="19" name="TextBox 18"/>
          <p:cNvSpPr txBox="1"/>
          <p:nvPr/>
        </p:nvSpPr>
        <p:spPr>
          <a:xfrm>
            <a:off x="4472330" y="3383279"/>
            <a:ext cx="3301898" cy="214884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Different host, same org</a:t>
            </a:r>
          </a:p>
          <a:p>
            <a:pPr>
              <a:spcAft>
                <a:spcPts val="300"/>
              </a:spcAft>
            </a:pPr>
            <a:r>
              <a:rPr sz="1200" b="1">
                <a:solidFill>
                  <a:srgbClr val="34D399"/>
                </a:solidFill>
                <a:latin typeface="Segoe UI"/>
              </a:rPr>
              <a:t>•  </a:t>
            </a:r>
            <a:r>
              <a:rPr sz="1200">
                <a:solidFill>
                  <a:srgbClr val="CBD5E1"/>
                </a:solidFill>
                <a:latin typeface="Segoe UI"/>
              </a:rPr>
              <a:t>git pull from shared repo</a:t>
            </a:r>
          </a:p>
        </p:txBody>
      </p:sp>
      <p:sp>
        <p:nvSpPr>
          <p:cNvPr id="20" name="Rounded Rectangle 19"/>
          <p:cNvSpPr/>
          <p:nvPr/>
        </p:nvSpPr>
        <p:spPr>
          <a:xfrm>
            <a:off x="8066836" y="2697479"/>
            <a:ext cx="3576218" cy="29260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6836" y="2697479"/>
            <a:ext cx="3576218"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1428" y="286207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3</a:t>
            </a:r>
          </a:p>
        </p:txBody>
      </p:sp>
      <p:sp>
        <p:nvSpPr>
          <p:cNvPr id="23" name="TextBox 22"/>
          <p:cNvSpPr txBox="1"/>
          <p:nvPr/>
        </p:nvSpPr>
        <p:spPr>
          <a:xfrm>
            <a:off x="8752636" y="286207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Zone 3 — Remote-opaque</a:t>
            </a:r>
          </a:p>
        </p:txBody>
      </p:sp>
      <p:sp>
        <p:nvSpPr>
          <p:cNvPr id="24" name="TextBox 23"/>
          <p:cNvSpPr txBox="1"/>
          <p:nvPr/>
        </p:nvSpPr>
        <p:spPr>
          <a:xfrm>
            <a:off x="8231428" y="3383279"/>
            <a:ext cx="3301898" cy="214884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Different org / no shared auth</a:t>
            </a:r>
          </a:p>
          <a:p>
            <a:pPr>
              <a:spcAft>
                <a:spcPts val="300"/>
              </a:spcAft>
            </a:pPr>
            <a:r>
              <a:rPr sz="1200" b="1">
                <a:solidFill>
                  <a:srgbClr val="FBBF24"/>
                </a:solidFill>
                <a:latin typeface="Segoe UI"/>
              </a:rPr>
              <a:t>•  </a:t>
            </a:r>
            <a:r>
              <a:rPr sz="1200">
                <a:solidFill>
                  <a:srgbClr val="CBD5E1"/>
                </a:solidFill>
                <a:latin typeface="Segoe UI"/>
              </a:rPr>
              <a:t>curl published SUMMARY.md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64592" cy="228600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46</a:t>
            </a:r>
          </a:p>
        </p:txBody>
      </p:sp>
      <p:sp>
        <p:nvSpPr>
          <p:cNvPr id="5" name="TextBox 4"/>
          <p:cNvSpPr txBox="1"/>
          <p:nvPr/>
        </p:nvSpPr>
        <p:spPr>
          <a:xfrm>
            <a:off x="960120" y="2331720"/>
            <a:ext cx="11094415" cy="457200"/>
          </a:xfrm>
          <a:prstGeom prst="rect">
            <a:avLst/>
          </a:prstGeom>
          <a:noFill/>
        </p:spPr>
        <p:txBody>
          <a:bodyPr wrap="square" lIns="36576" rIns="36576" tIns="18288" bIns="18288">
            <a:spAutoFit/>
          </a:bodyPr>
          <a:lstStyle/>
          <a:p>
            <a:r>
              <a:rPr sz="1400" b="1">
                <a:solidFill>
                  <a:srgbClr val="A78BFA"/>
                </a:solidFill>
                <a:latin typeface="Segoe UI Semibold"/>
              </a:rPr>
              <a:t>PATTERN 5</a:t>
            </a:r>
          </a:p>
        </p:txBody>
      </p:sp>
      <p:sp>
        <p:nvSpPr>
          <p:cNvPr id="6" name="TextBox 5"/>
          <p:cNvSpPr txBox="1"/>
          <p:nvPr/>
        </p:nvSpPr>
        <p:spPr>
          <a:xfrm>
            <a:off x="960120" y="2788920"/>
            <a:ext cx="11094415" cy="1828800"/>
          </a:xfrm>
          <a:prstGeom prst="rect">
            <a:avLst/>
          </a:prstGeom>
          <a:noFill/>
        </p:spPr>
        <p:txBody>
          <a:bodyPr wrap="square" lIns="36576" rIns="36576" tIns="18288" bIns="18288">
            <a:spAutoFit/>
          </a:bodyPr>
          <a:lstStyle/>
          <a:p>
            <a:r>
              <a:rPr sz="5400" b="1">
                <a:solidFill>
                  <a:srgbClr val="F8FAFC"/>
                </a:solidFill>
                <a:latin typeface="Segoe UI"/>
              </a:rPr>
              <a:t>➄ Monorepo without
stepping on yourself</a:t>
            </a:r>
          </a:p>
        </p:txBody>
      </p:sp>
      <p:sp>
        <p:nvSpPr>
          <p:cNvPr id="7" name="TextBox 6"/>
          <p:cNvSpPr txBox="1"/>
          <p:nvPr/>
        </p:nvSpPr>
        <p:spPr>
          <a:xfrm>
            <a:off x="960120" y="4526280"/>
            <a:ext cx="11094415" cy="1280160"/>
          </a:xfrm>
          <a:prstGeom prst="rect">
            <a:avLst/>
          </a:prstGeom>
          <a:noFill/>
        </p:spPr>
        <p:txBody>
          <a:bodyPr wrap="square" lIns="36576" rIns="36576" tIns="18288" bIns="18288">
            <a:spAutoFit/>
          </a:bodyPr>
          <a:lstStyle/>
          <a:p>
            <a:r>
              <a:rPr sz="2000" b="0">
                <a:solidFill>
                  <a:srgbClr val="CBD5E1"/>
                </a:solidFill>
                <a:latin typeface="Segoe UI"/>
              </a:rPr>
              <a:t>Multiple squads in one git repo: agent file at the root, .squad/ per package, workflows where they actually run.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47</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TOPOLOGY</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One git root, many squads, one agent file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Squad split its own concept of ‘root’ in two so monorepos can host independent teams.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packages/squad-sdk/src/config/init.ts:144-148, 1262, 1298-1305 • PR #939</a:t>
            </a:r>
          </a:p>
        </p:txBody>
      </p:sp>
      <p:sp>
        <p:nvSpPr>
          <p:cNvPr id="9" name="Rounded Rectangle 8"/>
          <p:cNvSpPr/>
          <p:nvPr/>
        </p:nvSpPr>
        <p:spPr>
          <a:xfrm>
            <a:off x="548640" y="1874519"/>
            <a:ext cx="5943600" cy="36576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943600" cy="4572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5669280" cy="228600"/>
          </a:xfrm>
          <a:prstGeom prst="rect">
            <a:avLst/>
          </a:prstGeom>
          <a:noFill/>
        </p:spPr>
        <p:txBody>
          <a:bodyPr wrap="square" lIns="36576" rIns="36576" tIns="18288" bIns="18288">
            <a:spAutoFit/>
          </a:bodyPr>
          <a:lstStyle/>
          <a:p>
            <a:r>
              <a:rPr sz="1000" b="1">
                <a:solidFill>
                  <a:srgbClr val="A78BFA"/>
                </a:solidFill>
                <a:latin typeface="Segoe UI Semibold"/>
              </a:rPr>
              <a:t>one repo, many squads, one agent file</a:t>
            </a:r>
          </a:p>
        </p:txBody>
      </p:sp>
      <p:sp>
        <p:nvSpPr>
          <p:cNvPr id="12" name="TextBox 11"/>
          <p:cNvSpPr txBox="1"/>
          <p:nvPr/>
        </p:nvSpPr>
        <p:spPr>
          <a:xfrm>
            <a:off x="713232" y="2167127"/>
            <a:ext cx="5669280" cy="3310128"/>
          </a:xfrm>
          <a:prstGeom prst="rect">
            <a:avLst/>
          </a:prstGeom>
          <a:noFill/>
        </p:spPr>
        <p:txBody>
          <a:bodyPr wrap="square" lIns="36576" rIns="36576">
            <a:spAutoFit/>
          </a:bodyPr>
          <a:lstStyle/>
          <a:p>
            <a:pPr>
              <a:spcAft>
                <a:spcPts val="100"/>
              </a:spcAft>
            </a:pPr>
            <a:r>
              <a:rPr sz="1100">
                <a:solidFill>
                  <a:srgbClr val="CBD5E1"/>
                </a:solidFill>
                <a:latin typeface="Consolas"/>
              </a:rPr>
              <a:t>acme-monorepo/                       # git root</a:t>
            </a:r>
          </a:p>
          <a:p>
            <a:pPr>
              <a:spcAft>
                <a:spcPts val="100"/>
              </a:spcAft>
            </a:pPr>
            <a:r>
              <a:rPr sz="1100">
                <a:solidFill>
                  <a:srgbClr val="CBD5E1"/>
                </a:solidFill>
                <a:latin typeface="Consolas"/>
              </a:rPr>
              <a:t>  .git/                              # the only .git</a:t>
            </a:r>
          </a:p>
          <a:p>
            <a:pPr>
              <a:spcAft>
                <a:spcPts val="100"/>
              </a:spcAft>
            </a:pPr>
            <a:r>
              <a:rPr sz="1100">
                <a:solidFill>
                  <a:srgbClr val="CBD5E1"/>
                </a:solidFill>
                <a:latin typeface="Consolas"/>
              </a:rPr>
              <a:t>  .github/</a:t>
            </a:r>
          </a:p>
          <a:p>
            <a:pPr>
              <a:spcAft>
                <a:spcPts val="100"/>
              </a:spcAft>
            </a:pPr>
            <a:r>
              <a:rPr sz="1100">
                <a:solidFill>
                  <a:srgbClr val="CBD5E1"/>
                </a:solidFill>
                <a:latin typeface="Consolas"/>
              </a:rPr>
              <a:t>    agents/squad.agent.md            # ← single discovery point</a:t>
            </a:r>
          </a:p>
          <a:p>
            <a:pPr>
              <a:spcAft>
                <a:spcPts val="100"/>
              </a:spcAft>
            </a:pPr>
            <a:r>
              <a:rPr sz="1100">
                <a:solidFill>
                  <a:srgbClr val="CBD5E1"/>
                </a:solidFill>
                <a:latin typeface="Consolas"/>
              </a:rPr>
              <a:t>    workflows/                       # ← only here runs</a:t>
            </a:r>
          </a:p>
          <a:p>
            <a:pPr>
              <a:spcAft>
                <a:spcPts val="100"/>
              </a:spcAft>
            </a:pPr>
            <a:r>
              <a:rPr sz="1100">
                <a:solidFill>
                  <a:srgbClr val="CBD5E1"/>
                </a:solidFill>
                <a:latin typeface="Consolas"/>
              </a:rPr>
              <a:t>      squad-ci.yml</a:t>
            </a:r>
          </a:p>
          <a:p>
            <a:pPr>
              <a:spcAft>
                <a:spcPts val="100"/>
              </a:spcAft>
            </a:pPr>
            <a:r>
              <a:rPr sz="1100">
                <a:solidFill>
                  <a:srgbClr val="CBD5E1"/>
                </a:solidFill>
                <a:latin typeface="Consolas"/>
              </a:rPr>
              <a:t>      squad-heartbeat.yml</a:t>
            </a:r>
          </a:p>
          <a:p>
            <a:pPr>
              <a:spcAft>
                <a:spcPts val="100"/>
              </a:spcAft>
            </a:pPr>
            <a:r>
              <a:rPr sz="1100">
                <a:solidFill>
                  <a:srgbClr val="CBD5E1"/>
                </a:solidFill>
                <a:latin typeface="Consolas"/>
              </a:rPr>
              <a:t>  packages/</a:t>
            </a:r>
          </a:p>
          <a:p>
            <a:pPr>
              <a:spcAft>
                <a:spcPts val="100"/>
              </a:spcAft>
            </a:pPr>
            <a:r>
              <a:rPr sz="1100">
                <a:solidFill>
                  <a:srgbClr val="CBD5E1"/>
                </a:solidFill>
                <a:latin typeface="Consolas"/>
              </a:rPr>
              <a:t>    ui/</a:t>
            </a:r>
          </a:p>
          <a:p>
            <a:pPr>
              <a:spcAft>
                <a:spcPts val="100"/>
              </a:spcAft>
            </a:pPr>
            <a:r>
              <a:rPr sz="1100">
                <a:solidFill>
                  <a:srgbClr val="CBD5E1"/>
                </a:solidFill>
                <a:latin typeface="Consolas"/>
              </a:rPr>
              <a:t>      .squad/                        # team-alpha</a:t>
            </a:r>
          </a:p>
          <a:p>
            <a:pPr>
              <a:spcAft>
                <a:spcPts val="100"/>
              </a:spcAft>
            </a:pPr>
            <a:r>
              <a:rPr sz="1100">
                <a:solidFill>
                  <a:srgbClr val="CBD5E1"/>
                </a:solidFill>
                <a:latin typeface="Consolas"/>
              </a:rPr>
              <a:t>        team.md  routing.md  decisions.md</a:t>
            </a:r>
          </a:p>
          <a:p>
            <a:pPr>
              <a:spcAft>
                <a:spcPts val="100"/>
              </a:spcAft>
            </a:pPr>
            <a:r>
              <a:rPr sz="1100">
                <a:solidFill>
                  <a:srgbClr val="CBD5E1"/>
                </a:solidFill>
                <a:latin typeface="Consolas"/>
              </a:rPr>
              <a:t>    api/</a:t>
            </a:r>
          </a:p>
          <a:p>
            <a:pPr>
              <a:spcAft>
                <a:spcPts val="100"/>
              </a:spcAft>
            </a:pPr>
            <a:r>
              <a:rPr sz="1100">
                <a:solidFill>
                  <a:srgbClr val="CBD5E1"/>
                </a:solidFill>
                <a:latin typeface="Consolas"/>
              </a:rPr>
              <a:t>      .squad/                        # team-bravo</a:t>
            </a:r>
          </a:p>
          <a:p>
            <a:pPr>
              <a:spcAft>
                <a:spcPts val="100"/>
              </a:spcAft>
            </a:pPr>
            <a:r>
              <a:rPr sz="1100">
                <a:solidFill>
                  <a:srgbClr val="CBD5E1"/>
                </a:solidFill>
                <a:latin typeface="Consolas"/>
              </a:rPr>
              <a:t>        team.md  routing.md  decisions.md</a:t>
            </a:r>
          </a:p>
          <a:p>
            <a:pPr>
              <a:spcAft>
                <a:spcPts val="100"/>
              </a:spcAft>
            </a:pPr>
            <a:r>
              <a:rPr sz="1100">
                <a:solidFill>
                  <a:srgbClr val="CBD5E1"/>
                </a:solidFill>
                <a:latin typeface="Consolas"/>
              </a:rPr>
              <a:t>    infra/</a:t>
            </a:r>
          </a:p>
          <a:p>
            <a:pPr>
              <a:spcAft>
                <a:spcPts val="100"/>
              </a:spcAft>
            </a:pPr>
            <a:r>
              <a:rPr sz="1100">
                <a:solidFill>
                  <a:srgbClr val="CBD5E1"/>
                </a:solidFill>
                <a:latin typeface="Consolas"/>
              </a:rPr>
              <a:t>      .squad/                        # team-charlie</a:t>
            </a:r>
          </a:p>
          <a:p>
            <a:pPr>
              <a:spcAft>
                <a:spcPts val="100"/>
              </a:spcAft>
            </a:pPr>
            <a:r>
              <a:rPr sz="1100">
                <a:solidFill>
                  <a:srgbClr val="CBD5E1"/>
                </a:solidFill>
                <a:latin typeface="Consolas"/>
              </a:rPr>
              <a:t>        team.md  routing.md  decisions.md</a:t>
            </a:r>
          </a:p>
        </p:txBody>
      </p:sp>
      <p:sp>
        <p:nvSpPr>
          <p:cNvPr id="13" name="Rounded Rectangle 12"/>
          <p:cNvSpPr/>
          <p:nvPr/>
        </p:nvSpPr>
        <p:spPr>
          <a:xfrm>
            <a:off x="6675120" y="1874519"/>
            <a:ext cx="4937760" cy="36576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874519"/>
            <a:ext cx="4937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6" name="TextBox 15"/>
          <p:cNvSpPr txBox="1"/>
          <p:nvPr/>
        </p:nvSpPr>
        <p:spPr>
          <a:xfrm>
            <a:off x="7360920" y="2039112"/>
            <a:ext cx="4160520" cy="411480"/>
          </a:xfrm>
          <a:prstGeom prst="rect">
            <a:avLst/>
          </a:prstGeom>
          <a:noFill/>
        </p:spPr>
        <p:txBody>
          <a:bodyPr wrap="square" lIns="36576" rIns="36576" tIns="18288" bIns="18288" anchor="ctr">
            <a:spAutoFit/>
          </a:bodyPr>
          <a:lstStyle/>
          <a:p>
            <a:r>
              <a:rPr sz="1400" b="1">
                <a:solidFill>
                  <a:srgbClr val="F8FAFC"/>
                </a:solidFill>
                <a:latin typeface="Segoe UI"/>
              </a:rPr>
              <a:t>Two roots, one repo</a:t>
            </a:r>
          </a:p>
        </p:txBody>
      </p:sp>
      <p:sp>
        <p:nvSpPr>
          <p:cNvPr id="17" name="TextBox 16"/>
          <p:cNvSpPr txBox="1"/>
          <p:nvPr/>
        </p:nvSpPr>
        <p:spPr>
          <a:xfrm>
            <a:off x="6839712" y="2560320"/>
            <a:ext cx="4663440" cy="288036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agentFileRoot  →  git root</a:t>
            </a:r>
          </a:p>
          <a:p>
            <a:pPr>
              <a:spcAft>
                <a:spcPts val="300"/>
              </a:spcAft>
            </a:pPr>
            <a:r>
              <a:rPr sz="1200" b="1">
                <a:solidFill>
                  <a:srgbClr val="A78BFA"/>
                </a:solidFill>
                <a:latin typeface="Segoe UI"/>
              </a:rPr>
              <a:t>•  </a:t>
            </a:r>
            <a:r>
              <a:rPr sz="1200">
                <a:solidFill>
                  <a:srgbClr val="CBD5E1"/>
                </a:solidFill>
                <a:latin typeface="Segoe UI"/>
              </a:rPr>
              <a:t>teamRoot       →  package subfolder</a:t>
            </a:r>
          </a:p>
          <a:p>
            <a:pPr>
              <a:spcAft>
                <a:spcPts val="300"/>
              </a:spcAft>
            </a:pPr>
            <a:r>
              <a:rPr sz="1200" b="1">
                <a:solidFill>
                  <a:srgbClr val="A78BFA"/>
                </a:solidFill>
                <a:latin typeface="Segoe UI"/>
              </a:rPr>
              <a:t>•  </a:t>
            </a:r>
            <a:r>
              <a:rPr sz="1200">
                <a:solidFill>
                  <a:srgbClr val="CBD5E1"/>
                </a:solidFill>
                <a:latin typeface="Segoe UI"/>
              </a:rPr>
              <a:t>Copilot discovers ONE agent file at the root</a:t>
            </a:r>
          </a:p>
          <a:p>
            <a:pPr>
              <a:spcAft>
                <a:spcPts val="300"/>
              </a:spcAft>
            </a:pPr>
            <a:r>
              <a:rPr sz="1200" b="1">
                <a:solidFill>
                  <a:srgbClr val="A78BFA"/>
                </a:solidFill>
                <a:latin typeface="Segoe UI"/>
              </a:rPr>
              <a:t>•  </a:t>
            </a:r>
            <a:r>
              <a:rPr sz="1200">
                <a:solidFill>
                  <a:srgbClr val="CBD5E1"/>
                </a:solidFill>
                <a:latin typeface="Segoe UI"/>
              </a:rPr>
              <a:t>Each .squad/ owns its team identity, decisions, history</a:t>
            </a:r>
          </a:p>
          <a:p>
            <a:pPr>
              <a:spcAft>
                <a:spcPts val="300"/>
              </a:spcAft>
            </a:pPr>
            <a:r>
              <a:rPr sz="1200" b="1">
                <a:solidFill>
                  <a:srgbClr val="A78BFA"/>
                </a:solidFill>
                <a:latin typeface="Segoe UI"/>
              </a:rPr>
              <a:t>•  </a:t>
            </a:r>
            <a:r>
              <a:rPr sz="1200">
                <a:solidFill>
                  <a:srgbClr val="CBD5E1"/>
                </a:solidFill>
                <a:latin typeface="Segoe UI"/>
              </a:rPr>
              <a:t>Workflows live at the git root — Actions ignores subfolders</a:t>
            </a:r>
          </a:p>
          <a:p>
            <a:pPr>
              <a:spcAft>
                <a:spcPts val="300"/>
              </a:spcAft>
            </a:pPr>
            <a:r>
              <a:rPr sz="1200" b="1">
                <a:solidFill>
                  <a:srgbClr val="A78BFA"/>
                </a:solidFill>
                <a:latin typeface="Segoe UI"/>
              </a:rPr>
              <a:t>•  </a:t>
            </a:r>
            <a:r>
              <a:rPr sz="1200">
                <a:solidFill>
                  <a:srgbClr val="CBD5E1"/>
                </a:solidFill>
                <a:latin typeface="Segoe UI"/>
              </a:rPr>
              <a:t>Multiple squads do NOT collide on shared workflow files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48</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ACTIVATION</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`squad init` inside a package: what actually happens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No nested git init, agent file at the root, workflows skipped with a clear warning.</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packages/squad-cli/src/cli/core/init.ts:30-44 • test/init-scaffolding.test.ts:246-275</a:t>
            </a:r>
          </a:p>
        </p:txBody>
      </p:sp>
      <p:sp>
        <p:nvSpPr>
          <p:cNvPr id="9" name="Rounded Rectangle 8"/>
          <p:cNvSpPr/>
          <p:nvPr/>
        </p:nvSpPr>
        <p:spPr>
          <a:xfrm>
            <a:off x="548640" y="1874519"/>
            <a:ext cx="11094415" cy="38404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1094415" cy="4572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920239"/>
            <a:ext cx="10820095" cy="228600"/>
          </a:xfrm>
          <a:prstGeom prst="rect">
            <a:avLst/>
          </a:prstGeom>
          <a:noFill/>
        </p:spPr>
        <p:txBody>
          <a:bodyPr wrap="square" lIns="36576" rIns="36576" tIns="18288" bIns="18288">
            <a:spAutoFit/>
          </a:bodyPr>
          <a:lstStyle/>
          <a:p>
            <a:r>
              <a:rPr sz="1000" b="1">
                <a:solidFill>
                  <a:srgbClr val="A78BFA"/>
                </a:solidFill>
                <a:latin typeface="Segoe UI Semibold"/>
              </a:rPr>
              <a:t>init in a subfolder — verbatim shape</a:t>
            </a:r>
          </a:p>
        </p:txBody>
      </p:sp>
      <p:sp>
        <p:nvSpPr>
          <p:cNvPr id="12" name="TextBox 11"/>
          <p:cNvSpPr txBox="1"/>
          <p:nvPr/>
        </p:nvSpPr>
        <p:spPr>
          <a:xfrm>
            <a:off x="713232" y="2167127"/>
            <a:ext cx="10820095" cy="3493008"/>
          </a:xfrm>
          <a:prstGeom prst="rect">
            <a:avLst/>
          </a:prstGeom>
          <a:noFill/>
        </p:spPr>
        <p:txBody>
          <a:bodyPr wrap="square" lIns="36576" rIns="36576">
            <a:spAutoFit/>
          </a:bodyPr>
          <a:lstStyle/>
          <a:p>
            <a:pPr>
              <a:spcAft>
                <a:spcPts val="100"/>
              </a:spcAft>
            </a:pPr>
            <a:r>
              <a:rPr sz="1100">
                <a:solidFill>
                  <a:srgbClr val="F8FAFC"/>
                </a:solidFill>
                <a:latin typeface="Consolas"/>
              </a:rPr>
              <a:t>$ cd acme-monorepo/packages/ui</a:t>
            </a:r>
          </a:p>
          <a:p>
            <a:pPr>
              <a:spcAft>
                <a:spcPts val="100"/>
              </a:spcAft>
            </a:pPr>
            <a:r>
              <a:rPr sz="1100">
                <a:solidFill>
                  <a:srgbClr val="F8FAFC"/>
                </a:solidFill>
                <a:latin typeface="Consolas"/>
              </a:rPr>
              <a:t>$ squad init</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Detected parent git repo at acme-monorepo/  → monorepo subfolder mode</a:t>
            </a:r>
          </a:p>
          <a:p>
            <a:pPr>
              <a:spcAft>
                <a:spcPts val="100"/>
              </a:spcAft>
            </a:pPr>
            <a:r>
              <a:rPr sz="1100">
                <a:solidFill>
                  <a:srgbClr val="CBD5E1"/>
                </a:solidFill>
                <a:latin typeface="Consolas"/>
              </a:rPr>
              <a:t>  ✓ .squad/ created in packages/ui/</a:t>
            </a:r>
          </a:p>
          <a:p>
            <a:pPr>
              <a:spcAft>
                <a:spcPts val="100"/>
              </a:spcAft>
            </a:pPr>
            <a:r>
              <a:rPr sz="1100">
                <a:solidFill>
                  <a:srgbClr val="CBD5E1"/>
                </a:solidFill>
                <a:latin typeface="Consolas"/>
              </a:rPr>
              <a:t>  ✓ .github/agents/squad.agent.md placed at git root</a:t>
            </a:r>
          </a:p>
          <a:p>
            <a:pPr>
              <a:spcAft>
                <a:spcPts val="100"/>
              </a:spcAft>
            </a:pPr>
            <a:r>
              <a:rPr sz="1100">
                <a:solidFill>
                  <a:srgbClr val="CBD5E1"/>
                </a:solidFill>
                <a:latin typeface="Consolas"/>
              </a:rPr>
              <a:t>  ⚠ Skipped GitHub Actions workflows in monorepo-subfolder mode —</a:t>
            </a:r>
          </a:p>
          <a:p>
            <a:pPr>
              <a:spcAft>
                <a:spcPts val="100"/>
              </a:spcAft>
            </a:pPr>
            <a:r>
              <a:rPr sz="1100">
                <a:solidFill>
                  <a:srgbClr val="CBD5E1"/>
                </a:solidFill>
                <a:latin typeface="Consolas"/>
              </a:rPr>
              <a:t>    workflows must be at the git root. Set up workflows manually or</a:t>
            </a:r>
          </a:p>
          <a:p>
            <a:pPr>
              <a:spcAft>
                <a:spcPts val="100"/>
              </a:spcAft>
            </a:pPr>
            <a:r>
              <a:rPr sz="1100">
                <a:solidFill>
                  <a:srgbClr val="CBD5E1"/>
                </a:solidFill>
                <a:latin typeface="Consolas"/>
              </a:rPr>
              <a:t>    use a single shared workflow for all squads.</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behind the scenes (SDK contract)</a:t>
            </a:r>
          </a:p>
          <a:p>
            <a:pPr>
              <a:spcAft>
                <a:spcPts val="100"/>
              </a:spcAft>
            </a:pPr>
            <a:r>
              <a:rPr sz="1100">
                <a:solidFill>
                  <a:srgbClr val="CBD5E1"/>
                </a:solidFill>
                <a:latin typeface="Consolas"/>
              </a:rPr>
              <a:t>initSquad({</a:t>
            </a:r>
          </a:p>
          <a:p>
            <a:pPr>
              <a:spcAft>
                <a:spcPts val="100"/>
              </a:spcAft>
            </a:pPr>
            <a:r>
              <a:rPr sz="1100">
                <a:solidFill>
                  <a:srgbClr val="CBD5E1"/>
                </a:solidFill>
                <a:latin typeface="Consolas"/>
              </a:rPr>
              <a:t>  teamRoot:      "packages/ui",          // .squad/ lives here</a:t>
            </a:r>
          </a:p>
          <a:p>
            <a:pPr>
              <a:spcAft>
                <a:spcPts val="100"/>
              </a:spcAft>
            </a:pPr>
            <a:r>
              <a:rPr sz="1100">
                <a:solidFill>
                  <a:srgbClr val="CBD5E1"/>
                </a:solidFill>
                <a:latin typeface="Consolas"/>
              </a:rPr>
              <a:t>  agentFileRoot: "acme-monorepo",        // git root — Copilot discovery</a:t>
            </a:r>
          </a:p>
          <a:p>
            <a:pPr>
              <a:spcAft>
                <a:spcPts val="100"/>
              </a:spcAft>
            </a:pPr>
            <a:r>
              <a:rPr sz="1100">
                <a:solidFill>
                  <a:srgbClr val="CBD5E1"/>
                </a:solidFill>
                <a:latin typeface="Consolas"/>
              </a:rPr>
              <a:t>  includeWorkflows: true,                  // honored only at root</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invariants (enforced by tests)</a:t>
            </a:r>
          </a:p>
          <a:p>
            <a:pPr>
              <a:spcAft>
                <a:spcPts val="100"/>
              </a:spcAft>
            </a:pPr>
            <a:r>
              <a:rPr sz="1100">
                <a:solidFill>
                  <a:srgbClr val="CBD5E1"/>
                </a:solidFill>
                <a:latin typeface="Consolas"/>
              </a:rPr>
              <a:t>  packages/ui/.git/                         → does not exist (no nested init)</a:t>
            </a:r>
          </a:p>
          <a:p>
            <a:pPr>
              <a:spcAft>
                <a:spcPts val="100"/>
              </a:spcAft>
            </a:pPr>
            <a:r>
              <a:rPr sz="1100">
                <a:solidFill>
                  <a:srgbClr val="CBD5E1"/>
                </a:solidFill>
                <a:latin typeface="Consolas"/>
              </a:rPr>
              <a:t>  acme-monorepo/.github/agents/squad...md   → exists</a:t>
            </a:r>
          </a:p>
          <a:p>
            <a:pPr>
              <a:spcAft>
                <a:spcPts val="100"/>
              </a:spcAft>
            </a:pPr>
            <a:r>
              <a:rPr sz="1100">
                <a:solidFill>
                  <a:srgbClr val="CBD5E1"/>
                </a:solidFill>
                <a:latin typeface="Consolas"/>
              </a:rPr>
              <a:t>  packages/ui/.github/agents/squad...md     → does not exist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49</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PER-AGENT CONTROL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Model selection cascade — four layers, first match wins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Check top-down, stop at the first hit. Each layer has a different scope: cross-session → session → charter → task.</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.squad-templates/model-selection-reference.md:5-46 • .github/agents/squad.agent.md:414-420</a:t>
            </a:r>
          </a:p>
        </p:txBody>
      </p:sp>
      <p:sp>
        <p:nvSpPr>
          <p:cNvPr id="9" name="Rounded Rectangle 8"/>
          <p:cNvSpPr/>
          <p:nvPr/>
        </p:nvSpPr>
        <p:spPr>
          <a:xfrm>
            <a:off x="548640" y="1874519"/>
            <a:ext cx="11094415" cy="1005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64592" cy="100584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65960"/>
            <a:ext cx="1097280" cy="274320"/>
          </a:xfrm>
          <a:prstGeom prst="rect">
            <a:avLst/>
          </a:prstGeom>
          <a:noFill/>
        </p:spPr>
        <p:txBody>
          <a:bodyPr wrap="square" lIns="36576" rIns="36576" tIns="18288" bIns="18288">
            <a:spAutoFit/>
          </a:bodyPr>
          <a:lstStyle/>
          <a:p>
            <a:r>
              <a:rPr sz="1100" b="1">
                <a:solidFill>
                  <a:srgbClr val="A78BFA"/>
                </a:solidFill>
                <a:latin typeface="Consolas"/>
              </a:rPr>
              <a:t>LAYER 0</a:t>
            </a:r>
          </a:p>
        </p:txBody>
      </p:sp>
      <p:sp>
        <p:nvSpPr>
          <p:cNvPr id="12" name="TextBox 11"/>
          <p:cNvSpPr txBox="1"/>
          <p:nvPr/>
        </p:nvSpPr>
        <p:spPr>
          <a:xfrm>
            <a:off x="1965960" y="1920239"/>
            <a:ext cx="4114800" cy="384048"/>
          </a:xfrm>
          <a:prstGeom prst="rect">
            <a:avLst/>
          </a:prstGeom>
          <a:noFill/>
        </p:spPr>
        <p:txBody>
          <a:bodyPr wrap="square" lIns="36576" rIns="36576" tIns="18288" bIns="18288" anchor="ctr">
            <a:spAutoFit/>
          </a:bodyPr>
          <a:lstStyle/>
          <a:p>
            <a:r>
              <a:rPr sz="1700" b="1">
                <a:solidFill>
                  <a:srgbClr val="F8FAFC"/>
                </a:solidFill>
                <a:latin typeface="Segoe UI"/>
              </a:rPr>
              <a:t>Persistent config</a:t>
            </a:r>
          </a:p>
        </p:txBody>
      </p:sp>
      <p:sp>
        <p:nvSpPr>
          <p:cNvPr id="13" name="TextBox 12"/>
          <p:cNvSpPr txBox="1"/>
          <p:nvPr/>
        </p:nvSpPr>
        <p:spPr>
          <a:xfrm>
            <a:off x="868680" y="2331720"/>
            <a:ext cx="5486400" cy="274320"/>
          </a:xfrm>
          <a:prstGeom prst="rect">
            <a:avLst/>
          </a:prstGeom>
          <a:noFill/>
        </p:spPr>
        <p:txBody>
          <a:bodyPr wrap="square" lIns="36576" rIns="36576" tIns="18288" bIns="18288">
            <a:spAutoFit/>
          </a:bodyPr>
          <a:lstStyle/>
          <a:p>
            <a:r>
              <a:rPr sz="1000" b="0">
                <a:solidFill>
                  <a:srgbClr val="CBD5E1"/>
                </a:solidFill>
                <a:latin typeface="Segoe UI"/>
              </a:rPr>
              <a:t>Survives across sessions • user set it once • read on every spawn</a:t>
            </a:r>
          </a:p>
        </p:txBody>
      </p:sp>
      <p:sp>
        <p:nvSpPr>
          <p:cNvPr id="14" name="TextBox 13"/>
          <p:cNvSpPr txBox="1"/>
          <p:nvPr/>
        </p:nvSpPr>
        <p:spPr>
          <a:xfrm>
            <a:off x="868680" y="2606039"/>
            <a:ext cx="5486400" cy="256032"/>
          </a:xfrm>
          <a:prstGeom prst="rect">
            <a:avLst/>
          </a:prstGeom>
          <a:noFill/>
        </p:spPr>
        <p:txBody>
          <a:bodyPr wrap="square" lIns="36576" rIns="36576" tIns="18288" bIns="18288">
            <a:spAutoFit/>
          </a:bodyPr>
          <a:lstStyle/>
          <a:p>
            <a:r>
              <a:rPr sz="1000" b="0">
                <a:solidFill>
                  <a:srgbClr val="94A3B8"/>
                </a:solidFill>
                <a:latin typeface="Consolas"/>
              </a:rPr>
              <a:t>.squad/config.json</a:t>
            </a:r>
          </a:p>
        </p:txBody>
      </p:sp>
      <p:sp>
        <p:nvSpPr>
          <p:cNvPr id="15" name="TextBox 14"/>
          <p:cNvSpPr txBox="1"/>
          <p:nvPr/>
        </p:nvSpPr>
        <p:spPr>
          <a:xfrm>
            <a:off x="6309359" y="1965960"/>
            <a:ext cx="5150815" cy="228600"/>
          </a:xfrm>
          <a:prstGeom prst="rect">
            <a:avLst/>
          </a:prstGeom>
          <a:noFill/>
        </p:spPr>
        <p:txBody>
          <a:bodyPr wrap="square" lIns="36576" rIns="36576" tIns="18288" bIns="18288">
            <a:spAutoFit/>
          </a:bodyPr>
          <a:lstStyle/>
          <a:p>
            <a:r>
              <a:rPr sz="900" b="1">
                <a:solidFill>
                  <a:srgbClr val="A78BFA"/>
                </a:solidFill>
                <a:latin typeface="Segoe UI Semibold"/>
              </a:rPr>
              <a:t>EXAMPLE</a:t>
            </a:r>
          </a:p>
        </p:txBody>
      </p:sp>
      <p:sp>
        <p:nvSpPr>
          <p:cNvPr id="16" name="TextBox 15"/>
          <p:cNvSpPr txBox="1"/>
          <p:nvPr/>
        </p:nvSpPr>
        <p:spPr>
          <a:xfrm>
            <a:off x="6309359" y="2194560"/>
            <a:ext cx="5150815" cy="640080"/>
          </a:xfrm>
          <a:prstGeom prst="rect">
            <a:avLst/>
          </a:prstGeom>
          <a:noFill/>
        </p:spPr>
        <p:txBody>
          <a:bodyPr wrap="square" lIns="36576" rIns="36576" tIns="18288" bIns="18288">
            <a:spAutoFit/>
          </a:bodyPr>
          <a:lstStyle/>
          <a:p>
            <a:r>
              <a:rPr sz="1100" b="0">
                <a:solidFill>
                  <a:srgbClr val="F8FAFC"/>
                </a:solidFill>
                <a:latin typeface="Consolas"/>
              </a:rPr>
              <a:t>"defaultModel": "claude-opus-4.8",  "agentModelOverrides": { "Scribe": "claude-haiku-4.5" }</a:t>
            </a:r>
          </a:p>
        </p:txBody>
      </p:sp>
      <p:sp>
        <p:nvSpPr>
          <p:cNvPr id="17" name="Rounded Rectangle 16"/>
          <p:cNvSpPr/>
          <p:nvPr/>
        </p:nvSpPr>
        <p:spPr>
          <a:xfrm>
            <a:off x="548640" y="2990088"/>
            <a:ext cx="11094415" cy="1005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990088"/>
            <a:ext cx="164592" cy="100584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081528"/>
            <a:ext cx="1097280" cy="274320"/>
          </a:xfrm>
          <a:prstGeom prst="rect">
            <a:avLst/>
          </a:prstGeom>
          <a:noFill/>
        </p:spPr>
        <p:txBody>
          <a:bodyPr wrap="square" lIns="36576" rIns="36576" tIns="18288" bIns="18288">
            <a:spAutoFit/>
          </a:bodyPr>
          <a:lstStyle/>
          <a:p>
            <a:r>
              <a:rPr sz="1100" b="1">
                <a:solidFill>
                  <a:srgbClr val="38BDF8"/>
                </a:solidFill>
                <a:latin typeface="Consolas"/>
              </a:rPr>
              <a:t>LAYER 1</a:t>
            </a:r>
          </a:p>
        </p:txBody>
      </p:sp>
      <p:sp>
        <p:nvSpPr>
          <p:cNvPr id="20" name="TextBox 19"/>
          <p:cNvSpPr txBox="1"/>
          <p:nvPr/>
        </p:nvSpPr>
        <p:spPr>
          <a:xfrm>
            <a:off x="1965960" y="3035808"/>
            <a:ext cx="4114800" cy="384048"/>
          </a:xfrm>
          <a:prstGeom prst="rect">
            <a:avLst/>
          </a:prstGeom>
          <a:noFill/>
        </p:spPr>
        <p:txBody>
          <a:bodyPr wrap="square" lIns="36576" rIns="36576" tIns="18288" bIns="18288" anchor="ctr">
            <a:spAutoFit/>
          </a:bodyPr>
          <a:lstStyle/>
          <a:p>
            <a:r>
              <a:rPr sz="1700" b="1">
                <a:solidFill>
                  <a:srgbClr val="F8FAFC"/>
                </a:solidFill>
                <a:latin typeface="Segoe UI"/>
              </a:rPr>
              <a:t>Session directive</a:t>
            </a:r>
          </a:p>
        </p:txBody>
      </p:sp>
      <p:sp>
        <p:nvSpPr>
          <p:cNvPr id="21" name="TextBox 20"/>
          <p:cNvSpPr txBox="1"/>
          <p:nvPr/>
        </p:nvSpPr>
        <p:spPr>
          <a:xfrm>
            <a:off x="868680" y="3447288"/>
            <a:ext cx="5486400" cy="274320"/>
          </a:xfrm>
          <a:prstGeom prst="rect">
            <a:avLst/>
          </a:prstGeom>
          <a:noFill/>
        </p:spPr>
        <p:txBody>
          <a:bodyPr wrap="square" lIns="36576" rIns="36576" tIns="18288" bIns="18288">
            <a:spAutoFit/>
          </a:bodyPr>
          <a:lstStyle/>
          <a:p>
            <a:r>
              <a:rPr sz="1000" b="0">
                <a:solidFill>
                  <a:srgbClr val="CBD5E1"/>
                </a:solidFill>
                <a:latin typeface="Segoe UI"/>
              </a:rPr>
              <a:t>Verbal • sticks until session ends or contradicted</a:t>
            </a:r>
          </a:p>
        </p:txBody>
      </p:sp>
      <p:sp>
        <p:nvSpPr>
          <p:cNvPr id="22" name="TextBox 21"/>
          <p:cNvSpPr txBox="1"/>
          <p:nvPr/>
        </p:nvSpPr>
        <p:spPr>
          <a:xfrm>
            <a:off x="868680" y="3721608"/>
            <a:ext cx="5486400" cy="256032"/>
          </a:xfrm>
          <a:prstGeom prst="rect">
            <a:avLst/>
          </a:prstGeom>
          <a:noFill/>
        </p:spPr>
        <p:txBody>
          <a:bodyPr wrap="square" lIns="36576" rIns="36576" tIns="18288" bIns="18288">
            <a:spAutoFit/>
          </a:bodyPr>
          <a:lstStyle/>
          <a:p>
            <a:r>
              <a:rPr sz="1000" b="0">
                <a:solidFill>
                  <a:srgbClr val="94A3B8"/>
                </a:solidFill>
                <a:latin typeface="Consolas"/>
              </a:rPr>
              <a:t>natural language at the prompt</a:t>
            </a:r>
          </a:p>
        </p:txBody>
      </p:sp>
      <p:sp>
        <p:nvSpPr>
          <p:cNvPr id="23" name="TextBox 22"/>
          <p:cNvSpPr txBox="1"/>
          <p:nvPr/>
        </p:nvSpPr>
        <p:spPr>
          <a:xfrm>
            <a:off x="6309359" y="3081528"/>
            <a:ext cx="5150815" cy="228600"/>
          </a:xfrm>
          <a:prstGeom prst="rect">
            <a:avLst/>
          </a:prstGeom>
          <a:noFill/>
        </p:spPr>
        <p:txBody>
          <a:bodyPr wrap="square" lIns="36576" rIns="36576" tIns="18288" bIns="18288">
            <a:spAutoFit/>
          </a:bodyPr>
          <a:lstStyle/>
          <a:p>
            <a:r>
              <a:rPr sz="900" b="1">
                <a:solidFill>
                  <a:srgbClr val="38BDF8"/>
                </a:solidFill>
                <a:latin typeface="Segoe UI Semibold"/>
              </a:rPr>
              <a:t>EXAMPLE</a:t>
            </a:r>
          </a:p>
        </p:txBody>
      </p:sp>
      <p:sp>
        <p:nvSpPr>
          <p:cNvPr id="24" name="TextBox 23"/>
          <p:cNvSpPr txBox="1"/>
          <p:nvPr/>
        </p:nvSpPr>
        <p:spPr>
          <a:xfrm>
            <a:off x="6309359" y="3310128"/>
            <a:ext cx="5150815" cy="640080"/>
          </a:xfrm>
          <a:prstGeom prst="rect">
            <a:avLst/>
          </a:prstGeom>
          <a:noFill/>
        </p:spPr>
        <p:txBody>
          <a:bodyPr wrap="square" lIns="36576" rIns="36576" tIns="18288" bIns="18288">
            <a:spAutoFit/>
          </a:bodyPr>
          <a:lstStyle/>
          <a:p>
            <a:r>
              <a:rPr sz="1100" b="0">
                <a:solidFill>
                  <a:srgbClr val="F8FAFC"/>
                </a:solidFill>
                <a:latin typeface="Consolas"/>
              </a:rPr>
              <a:t>“use claude-opus-4.8 for this session”   “save costs”</a:t>
            </a:r>
          </a:p>
        </p:txBody>
      </p:sp>
      <p:sp>
        <p:nvSpPr>
          <p:cNvPr id="25" name="Rounded Rectangle 24"/>
          <p:cNvSpPr/>
          <p:nvPr/>
        </p:nvSpPr>
        <p:spPr>
          <a:xfrm>
            <a:off x="548640" y="4105656"/>
            <a:ext cx="11094415" cy="1005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105656"/>
            <a:ext cx="164592" cy="100584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197096"/>
            <a:ext cx="1097280" cy="274320"/>
          </a:xfrm>
          <a:prstGeom prst="rect">
            <a:avLst/>
          </a:prstGeom>
          <a:noFill/>
        </p:spPr>
        <p:txBody>
          <a:bodyPr wrap="square" lIns="36576" rIns="36576" tIns="18288" bIns="18288">
            <a:spAutoFit/>
          </a:bodyPr>
          <a:lstStyle/>
          <a:p>
            <a:r>
              <a:rPr sz="1100" b="1">
                <a:solidFill>
                  <a:srgbClr val="FBBF24"/>
                </a:solidFill>
                <a:latin typeface="Consolas"/>
              </a:rPr>
              <a:t>LAYER 2</a:t>
            </a:r>
          </a:p>
        </p:txBody>
      </p:sp>
      <p:sp>
        <p:nvSpPr>
          <p:cNvPr id="28" name="TextBox 27"/>
          <p:cNvSpPr txBox="1"/>
          <p:nvPr/>
        </p:nvSpPr>
        <p:spPr>
          <a:xfrm>
            <a:off x="1965960" y="4151376"/>
            <a:ext cx="4114800" cy="384048"/>
          </a:xfrm>
          <a:prstGeom prst="rect">
            <a:avLst/>
          </a:prstGeom>
          <a:noFill/>
        </p:spPr>
        <p:txBody>
          <a:bodyPr wrap="square" lIns="36576" rIns="36576" tIns="18288" bIns="18288" anchor="ctr">
            <a:spAutoFit/>
          </a:bodyPr>
          <a:lstStyle/>
          <a:p>
            <a:r>
              <a:rPr sz="1700" b="1">
                <a:solidFill>
                  <a:srgbClr val="F8FAFC"/>
                </a:solidFill>
                <a:latin typeface="Segoe UI"/>
              </a:rPr>
              <a:t>Charter preference</a:t>
            </a:r>
          </a:p>
        </p:txBody>
      </p:sp>
      <p:sp>
        <p:nvSpPr>
          <p:cNvPr id="29" name="TextBox 28"/>
          <p:cNvSpPr txBox="1"/>
          <p:nvPr/>
        </p:nvSpPr>
        <p:spPr>
          <a:xfrm>
            <a:off x="868680" y="4562856"/>
            <a:ext cx="5486400" cy="274320"/>
          </a:xfrm>
          <a:prstGeom prst="rect">
            <a:avLst/>
          </a:prstGeom>
          <a:noFill/>
        </p:spPr>
        <p:txBody>
          <a:bodyPr wrap="square" lIns="36576" rIns="36576" tIns="18288" bIns="18288">
            <a:spAutoFit/>
          </a:bodyPr>
          <a:lstStyle/>
          <a:p>
            <a:r>
              <a:rPr sz="1000" b="0">
                <a:solidFill>
                  <a:srgbClr val="CBD5E1"/>
                </a:solidFill>
                <a:latin typeface="Segoe UI"/>
              </a:rPr>
              <a:t>Per-agent default in version control • lives with the agent identity</a:t>
            </a:r>
          </a:p>
        </p:txBody>
      </p:sp>
      <p:sp>
        <p:nvSpPr>
          <p:cNvPr id="30" name="TextBox 29"/>
          <p:cNvSpPr txBox="1"/>
          <p:nvPr/>
        </p:nvSpPr>
        <p:spPr>
          <a:xfrm>
            <a:off x="868680" y="4837176"/>
            <a:ext cx="5486400" cy="256032"/>
          </a:xfrm>
          <a:prstGeom prst="rect">
            <a:avLst/>
          </a:prstGeom>
          <a:noFill/>
        </p:spPr>
        <p:txBody>
          <a:bodyPr wrap="square" lIns="36576" rIns="36576" tIns="18288" bIns="18288">
            <a:spAutoFit/>
          </a:bodyPr>
          <a:lstStyle/>
          <a:p>
            <a:r>
              <a:rPr sz="1000" b="0">
                <a:solidFill>
                  <a:srgbClr val="94A3B8"/>
                </a:solidFill>
                <a:latin typeface="Consolas"/>
              </a:rPr>
              <a:t>.squad/agents/{name}/charter.md  — ## Model section</a:t>
            </a:r>
          </a:p>
        </p:txBody>
      </p:sp>
      <p:sp>
        <p:nvSpPr>
          <p:cNvPr id="31" name="TextBox 30"/>
          <p:cNvSpPr txBox="1"/>
          <p:nvPr/>
        </p:nvSpPr>
        <p:spPr>
          <a:xfrm>
            <a:off x="6309359" y="4197096"/>
            <a:ext cx="5150815" cy="228600"/>
          </a:xfrm>
          <a:prstGeom prst="rect">
            <a:avLst/>
          </a:prstGeom>
          <a:noFill/>
        </p:spPr>
        <p:txBody>
          <a:bodyPr wrap="square" lIns="36576" rIns="36576" tIns="18288" bIns="18288">
            <a:spAutoFit/>
          </a:bodyPr>
          <a:lstStyle/>
          <a:p>
            <a:r>
              <a:rPr sz="900" b="1">
                <a:solidFill>
                  <a:srgbClr val="FBBF24"/>
                </a:solidFill>
                <a:latin typeface="Segoe UI Semibold"/>
              </a:rPr>
              <a:t>EXAMPLE</a:t>
            </a:r>
          </a:p>
        </p:txBody>
      </p:sp>
      <p:sp>
        <p:nvSpPr>
          <p:cNvPr id="32" name="TextBox 31"/>
          <p:cNvSpPr txBox="1"/>
          <p:nvPr/>
        </p:nvSpPr>
        <p:spPr>
          <a:xfrm>
            <a:off x="6309359" y="4425696"/>
            <a:ext cx="5150815" cy="640080"/>
          </a:xfrm>
          <a:prstGeom prst="rect">
            <a:avLst/>
          </a:prstGeom>
          <a:noFill/>
        </p:spPr>
        <p:txBody>
          <a:bodyPr wrap="square" lIns="36576" rIns="36576" tIns="18288" bIns="18288">
            <a:spAutoFit/>
          </a:bodyPr>
          <a:lstStyle/>
          <a:p>
            <a:r>
              <a:rPr sz="1100" b="0">
                <a:solidFill>
                  <a:srgbClr val="F8FAFC"/>
                </a:solidFill>
                <a:latin typeface="Consolas"/>
              </a:rPr>
              <a:t>Preferred: claude-opus-4.8</a:t>
            </a:r>
          </a:p>
        </p:txBody>
      </p:sp>
      <p:sp>
        <p:nvSpPr>
          <p:cNvPr id="33" name="Rounded Rectangle 32"/>
          <p:cNvSpPr/>
          <p:nvPr/>
        </p:nvSpPr>
        <p:spPr>
          <a:xfrm>
            <a:off x="548640" y="5221224"/>
            <a:ext cx="11094415" cy="100584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221224"/>
            <a:ext cx="164592" cy="100584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312664"/>
            <a:ext cx="1097280" cy="274320"/>
          </a:xfrm>
          <a:prstGeom prst="rect">
            <a:avLst/>
          </a:prstGeom>
          <a:noFill/>
        </p:spPr>
        <p:txBody>
          <a:bodyPr wrap="square" lIns="36576" rIns="36576" tIns="18288" bIns="18288">
            <a:spAutoFit/>
          </a:bodyPr>
          <a:lstStyle/>
          <a:p>
            <a:r>
              <a:rPr sz="1100" b="1">
                <a:solidFill>
                  <a:srgbClr val="34D399"/>
                </a:solidFill>
                <a:latin typeface="Consolas"/>
              </a:rPr>
              <a:t>LAYER 3</a:t>
            </a:r>
          </a:p>
        </p:txBody>
      </p:sp>
      <p:sp>
        <p:nvSpPr>
          <p:cNvPr id="36" name="TextBox 35"/>
          <p:cNvSpPr txBox="1"/>
          <p:nvPr/>
        </p:nvSpPr>
        <p:spPr>
          <a:xfrm>
            <a:off x="1965960" y="5266944"/>
            <a:ext cx="4114800" cy="384048"/>
          </a:xfrm>
          <a:prstGeom prst="rect">
            <a:avLst/>
          </a:prstGeom>
          <a:noFill/>
        </p:spPr>
        <p:txBody>
          <a:bodyPr wrap="square" lIns="36576" rIns="36576" tIns="18288" bIns="18288" anchor="ctr">
            <a:spAutoFit/>
          </a:bodyPr>
          <a:lstStyle/>
          <a:p>
            <a:r>
              <a:rPr sz="1700" b="1">
                <a:solidFill>
                  <a:srgbClr val="F8FAFC"/>
                </a:solidFill>
                <a:latin typeface="Segoe UI"/>
              </a:rPr>
              <a:t>Task-aware auto-select</a:t>
            </a:r>
          </a:p>
        </p:txBody>
      </p:sp>
      <p:sp>
        <p:nvSpPr>
          <p:cNvPr id="37" name="TextBox 36"/>
          <p:cNvSpPr txBox="1"/>
          <p:nvPr/>
        </p:nvSpPr>
        <p:spPr>
          <a:xfrm>
            <a:off x="868680" y="5678424"/>
            <a:ext cx="5486400" cy="274320"/>
          </a:xfrm>
          <a:prstGeom prst="rect">
            <a:avLst/>
          </a:prstGeom>
          <a:noFill/>
        </p:spPr>
        <p:txBody>
          <a:bodyPr wrap="square" lIns="36576" rIns="36576" tIns="18288" bIns="18288">
            <a:spAutoFit/>
          </a:bodyPr>
          <a:lstStyle/>
          <a:p>
            <a:r>
              <a:rPr sz="1000" b="0">
                <a:solidFill>
                  <a:srgbClr val="CBD5E1"/>
                </a:solidFill>
                <a:latin typeface="Segoe UI"/>
              </a:rPr>
              <a:t>Cost-first • unless code or prompt architecture is being written</a:t>
            </a:r>
          </a:p>
        </p:txBody>
      </p:sp>
      <p:sp>
        <p:nvSpPr>
          <p:cNvPr id="38" name="TextBox 37"/>
          <p:cNvSpPr txBox="1"/>
          <p:nvPr/>
        </p:nvSpPr>
        <p:spPr>
          <a:xfrm>
            <a:off x="868680" y="5952744"/>
            <a:ext cx="5486400" cy="256032"/>
          </a:xfrm>
          <a:prstGeom prst="rect">
            <a:avLst/>
          </a:prstGeom>
          <a:noFill/>
        </p:spPr>
        <p:txBody>
          <a:bodyPr wrap="square" lIns="36576" rIns="36576" tIns="18288" bIns="18288">
            <a:spAutoFit/>
          </a:bodyPr>
          <a:lstStyle/>
          <a:p>
            <a:r>
              <a:rPr sz="1000" b="0">
                <a:solidFill>
                  <a:srgbClr val="94A3B8"/>
                </a:solidFill>
                <a:latin typeface="Consolas"/>
              </a:rPr>
              <a:t>role + task-output tables</a:t>
            </a:r>
          </a:p>
        </p:txBody>
      </p:sp>
      <p:sp>
        <p:nvSpPr>
          <p:cNvPr id="39" name="TextBox 38"/>
          <p:cNvSpPr txBox="1"/>
          <p:nvPr/>
        </p:nvSpPr>
        <p:spPr>
          <a:xfrm>
            <a:off x="6309359" y="5312664"/>
            <a:ext cx="5150815" cy="228600"/>
          </a:xfrm>
          <a:prstGeom prst="rect">
            <a:avLst/>
          </a:prstGeom>
          <a:noFill/>
        </p:spPr>
        <p:txBody>
          <a:bodyPr wrap="square" lIns="36576" rIns="36576" tIns="18288" bIns="18288">
            <a:spAutoFit/>
          </a:bodyPr>
          <a:lstStyle/>
          <a:p>
            <a:r>
              <a:rPr sz="900" b="1">
                <a:solidFill>
                  <a:srgbClr val="34D399"/>
                </a:solidFill>
                <a:latin typeface="Segoe UI Semibold"/>
              </a:rPr>
              <a:t>EXAMPLE</a:t>
            </a:r>
          </a:p>
        </p:txBody>
      </p:sp>
      <p:sp>
        <p:nvSpPr>
          <p:cNvPr id="40" name="TextBox 39"/>
          <p:cNvSpPr txBox="1"/>
          <p:nvPr/>
        </p:nvSpPr>
        <p:spPr>
          <a:xfrm>
            <a:off x="6309359" y="5541264"/>
            <a:ext cx="5150815" cy="640080"/>
          </a:xfrm>
          <a:prstGeom prst="rect">
            <a:avLst/>
          </a:prstGeom>
          <a:noFill/>
        </p:spPr>
        <p:txBody>
          <a:bodyPr wrap="square" lIns="36576" rIns="36576" tIns="18288" bIns="18288">
            <a:spAutoFit/>
          </a:bodyPr>
          <a:lstStyle/>
          <a:p>
            <a:r>
              <a:rPr sz="1100" b="0">
                <a:solidFill>
                  <a:srgbClr val="F8FAFC"/>
                </a:solidFill>
                <a:latin typeface="Consolas"/>
              </a:rPr>
              <a:t>code→sonnet  •  prompts→sonnet  •  docs/triage/logs→haiku  •  vision→opus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50</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PRACTICAL RECIPE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Surviving throttling: dial premium where it matters, haiku everywhere else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One config file. Three escape hatches when you need to deviate.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.squad-templates/model-selection-reference.md:7-11, 26-46</a:t>
            </a:r>
          </a:p>
        </p:txBody>
      </p:sp>
      <p:sp>
        <p:nvSpPr>
          <p:cNvPr id="9" name="Rounded Rectangle 8"/>
          <p:cNvSpPr/>
          <p:nvPr/>
        </p:nvSpPr>
        <p:spPr>
          <a:xfrm>
            <a:off x="548640" y="1874519"/>
            <a:ext cx="5212080" cy="393192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521208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2" name="TextBox 11"/>
          <p:cNvSpPr txBox="1"/>
          <p:nvPr/>
        </p:nvSpPr>
        <p:spPr>
          <a:xfrm>
            <a:off x="1234440" y="2039112"/>
            <a:ext cx="4434840" cy="411480"/>
          </a:xfrm>
          <a:prstGeom prst="rect">
            <a:avLst/>
          </a:prstGeom>
          <a:noFill/>
        </p:spPr>
        <p:txBody>
          <a:bodyPr wrap="square" lIns="36576" rIns="36576" tIns="18288" bIns="18288" anchor="ctr">
            <a:spAutoFit/>
          </a:bodyPr>
          <a:lstStyle/>
          <a:p>
            <a:r>
              <a:rPr sz="1400" b="1">
                <a:solidFill>
                  <a:srgbClr val="F8FAFC"/>
                </a:solidFill>
                <a:latin typeface="Segoe UI"/>
              </a:rPr>
              <a:t>The model NAME is the knob</a:t>
            </a:r>
          </a:p>
        </p:txBody>
      </p:sp>
      <p:sp>
        <p:nvSpPr>
          <p:cNvPr id="13" name="TextBox 12"/>
          <p:cNvSpPr txBox="1"/>
          <p:nvPr/>
        </p:nvSpPr>
        <p:spPr>
          <a:xfrm>
            <a:off x="713232" y="2560320"/>
            <a:ext cx="4937760" cy="3154679"/>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Effort and context window are encoded in the variant string</a:t>
            </a:r>
          </a:p>
          <a:p>
            <a:pPr>
              <a:spcAft>
                <a:spcPts val="300"/>
              </a:spcAft>
            </a:pPr>
            <a:r>
              <a:rPr sz="1200" b="1">
                <a:solidFill>
                  <a:srgbClr val="38BDF8"/>
                </a:solidFill>
                <a:latin typeface="Segoe UI"/>
              </a:rPr>
              <a:t>•  </a:t>
            </a:r>
            <a:r>
              <a:rPr sz="1200">
                <a:solidFill>
                  <a:srgbClr val="CBD5E1"/>
                </a:solidFill>
                <a:latin typeface="Segoe UI"/>
              </a:rPr>
              <a:t>claude-opus-4.7         → standard</a:t>
            </a:r>
          </a:p>
          <a:p>
            <a:pPr>
              <a:spcAft>
                <a:spcPts val="300"/>
              </a:spcAft>
            </a:pPr>
            <a:r>
              <a:rPr sz="1200" b="1">
                <a:solidFill>
                  <a:srgbClr val="38BDF8"/>
                </a:solidFill>
                <a:latin typeface="Segoe UI"/>
              </a:rPr>
              <a:t>•  </a:t>
            </a:r>
            <a:r>
              <a:rPr sz="1200">
                <a:solidFill>
                  <a:srgbClr val="CBD5E1"/>
                </a:solidFill>
                <a:latin typeface="Segoe UI"/>
              </a:rPr>
              <a:t>claude-opus-4.7-high    → high reasoning effort</a:t>
            </a:r>
          </a:p>
          <a:p>
            <a:pPr>
              <a:spcAft>
                <a:spcPts val="300"/>
              </a:spcAft>
            </a:pPr>
            <a:r>
              <a:rPr sz="1200" b="1">
                <a:solidFill>
                  <a:srgbClr val="38BDF8"/>
                </a:solidFill>
                <a:latin typeface="Segoe UI"/>
              </a:rPr>
              <a:t>•  </a:t>
            </a:r>
            <a:r>
              <a:rPr sz="1200">
                <a:solidFill>
                  <a:srgbClr val="CBD5E1"/>
                </a:solidFill>
                <a:latin typeface="Segoe UI"/>
              </a:rPr>
              <a:t>claude-opus-4.7-xhigh   → extra-high effort</a:t>
            </a:r>
          </a:p>
          <a:p>
            <a:pPr>
              <a:spcAft>
                <a:spcPts val="300"/>
              </a:spcAft>
            </a:pPr>
            <a:r>
              <a:rPr sz="1200" b="1">
                <a:solidFill>
                  <a:srgbClr val="38BDF8"/>
                </a:solidFill>
                <a:latin typeface="Segoe UI"/>
              </a:rPr>
              <a:t>•  </a:t>
            </a:r>
            <a:r>
              <a:rPr sz="1200">
                <a:solidFill>
                  <a:srgbClr val="CBD5E1"/>
                </a:solidFill>
                <a:latin typeface="Segoe UI"/>
              </a:rPr>
              <a:t>claude-opus-4.7-1m-internal → 1M context window</a:t>
            </a:r>
          </a:p>
          <a:p>
            <a:pPr>
              <a:spcAft>
                <a:spcPts val="300"/>
              </a:spcAft>
            </a:pPr>
            <a:r>
              <a:rPr sz="1200" b="1">
                <a:solidFill>
                  <a:srgbClr val="38BDF8"/>
                </a:solidFill>
                <a:latin typeface="Segoe UI"/>
              </a:rPr>
              <a:t>•  </a:t>
            </a:r>
            <a:r>
              <a:rPr sz="1200">
                <a:solidFill>
                  <a:srgbClr val="CBD5E1"/>
                </a:solidFill>
                <a:latin typeface="Segoe UI"/>
              </a:rPr>
              <a:t>No separate 'effort' or 'context' API — the SDK just receives the string</a:t>
            </a:r>
          </a:p>
          <a:p>
            <a:pPr>
              <a:spcAft>
                <a:spcPts val="300"/>
              </a:spcAft>
            </a:pPr>
            <a:r>
              <a:rPr sz="1200" b="1">
                <a:solidFill>
                  <a:srgbClr val="38BDF8"/>
                </a:solidFill>
                <a:latin typeface="Segoe UI"/>
              </a:rPr>
              <a:t>•  </a:t>
            </a:r>
            <a:r>
              <a:rPr sz="1200">
                <a:solidFill>
                  <a:srgbClr val="CBD5E1"/>
                </a:solidFill>
                <a:latin typeface="Segoe UI"/>
              </a:rPr>
              <a:t>When new variants ship, swap the string — no agent rewrites</a:t>
            </a:r>
          </a:p>
        </p:txBody>
      </p:sp>
      <p:sp>
        <p:nvSpPr>
          <p:cNvPr id="14" name="Rounded Rectangle 13"/>
          <p:cNvSpPr/>
          <p:nvPr/>
        </p:nvSpPr>
        <p:spPr>
          <a:xfrm>
            <a:off x="5943600" y="1874519"/>
            <a:ext cx="5669280" cy="393192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1874519"/>
            <a:ext cx="566928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08192" y="1920239"/>
            <a:ext cx="5394960" cy="228600"/>
          </a:xfrm>
          <a:prstGeom prst="rect">
            <a:avLst/>
          </a:prstGeom>
          <a:noFill/>
        </p:spPr>
        <p:txBody>
          <a:bodyPr wrap="square" lIns="36576" rIns="36576" tIns="18288" bIns="18288">
            <a:spAutoFit/>
          </a:bodyPr>
          <a:lstStyle/>
          <a:p>
            <a:r>
              <a:rPr sz="1000" b="1">
                <a:solidFill>
                  <a:srgbClr val="34D399"/>
                </a:solidFill>
                <a:latin typeface="Segoe UI Semibold"/>
              </a:rPr>
              <a:t>practical recipe — cost first, code second</a:t>
            </a:r>
          </a:p>
        </p:txBody>
      </p:sp>
      <p:sp>
        <p:nvSpPr>
          <p:cNvPr id="17" name="TextBox 16"/>
          <p:cNvSpPr txBox="1"/>
          <p:nvPr/>
        </p:nvSpPr>
        <p:spPr>
          <a:xfrm>
            <a:off x="6108192" y="2167127"/>
            <a:ext cx="5394960" cy="3584448"/>
          </a:xfrm>
          <a:prstGeom prst="rect">
            <a:avLst/>
          </a:prstGeom>
          <a:noFill/>
        </p:spPr>
        <p:txBody>
          <a:bodyPr wrap="square" lIns="36576" rIns="36576">
            <a:spAutoFit/>
          </a:bodyPr>
          <a:lstStyle/>
          <a:p>
            <a:pPr>
              <a:spcAft>
                <a:spcPts val="100"/>
              </a:spcAft>
            </a:pPr>
            <a:r>
              <a:rPr sz="1100">
                <a:solidFill>
                  <a:srgbClr val="94A3B8"/>
                </a:solidFill>
                <a:latin typeface="Consolas"/>
              </a:rPr>
              <a:t>// .squad/config.json  — survive throttling cleanly</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"version": 1,</a:t>
            </a:r>
          </a:p>
          <a:p>
            <a:pPr>
              <a:spcAft>
                <a:spcPts val="100"/>
              </a:spcAft>
            </a:pPr>
            <a:r>
              <a:rPr sz="1100">
                <a:solidFill>
                  <a:srgbClr val="CBD5E1"/>
                </a:solidFill>
                <a:latin typeface="Consolas"/>
              </a:rPr>
              <a:t>  "defaultModel": "claude-opus-4.8",</a:t>
            </a:r>
          </a:p>
          <a:p>
            <a:pPr>
              <a:spcAft>
                <a:spcPts val="100"/>
              </a:spcAft>
            </a:pPr>
            <a:r>
              <a:rPr sz="1100">
                <a:solidFill>
                  <a:srgbClr val="CBD5E1"/>
                </a:solidFill>
                <a:latin typeface="Consolas"/>
              </a:rPr>
              <a:t>  "agentModelOverrides": {</a:t>
            </a:r>
          </a:p>
          <a:p>
            <a:pPr>
              <a:spcAft>
                <a:spcPts val="100"/>
              </a:spcAft>
            </a:pPr>
            <a:r>
              <a:rPr sz="1100">
                <a:solidFill>
                  <a:srgbClr val="CBD5E1"/>
                </a:solidFill>
                <a:latin typeface="Consolas"/>
              </a:rPr>
              <a:t>    "Scribe":   "claude-haiku-4.5",   // logs, merges — cheap</a:t>
            </a:r>
          </a:p>
          <a:p>
            <a:pPr>
              <a:spcAft>
                <a:spcPts val="100"/>
              </a:spcAft>
            </a:pPr>
            <a:r>
              <a:rPr sz="1100">
                <a:solidFill>
                  <a:srgbClr val="CBD5E1"/>
                </a:solidFill>
                <a:latin typeface="Consolas"/>
              </a:rPr>
              <a:t>    "Ralph":    "claude-haiku-4.5",   // backlog loop — cheap</a:t>
            </a:r>
          </a:p>
          <a:p>
            <a:pPr>
              <a:spcAft>
                <a:spcPts val="100"/>
              </a:spcAft>
            </a:pPr>
            <a:r>
              <a:rPr sz="1100">
                <a:solidFill>
                  <a:srgbClr val="CBD5E1"/>
                </a:solidFill>
                <a:latin typeface="Consolas"/>
              </a:rPr>
              <a:t>    "Lead":     "claude-opus-4.8",    // architecture — premium</a:t>
            </a:r>
          </a:p>
          <a:p>
            <a:pPr>
              <a:spcAft>
                <a:spcPts val="100"/>
              </a:spcAft>
            </a:pPr>
            <a:r>
              <a:rPr sz="1100">
                <a:solidFill>
                  <a:srgbClr val="CBD5E1"/>
                </a:solidFill>
                <a:latin typeface="Consolas"/>
              </a:rPr>
              <a:t>    "Designer": "claude-opus-4.5"     // vision required</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or per session, no file edit:</a:t>
            </a:r>
          </a:p>
          <a:p>
            <a:pPr>
              <a:spcAft>
                <a:spcPts val="100"/>
              </a:spcAft>
            </a:pPr>
            <a:r>
              <a:rPr sz="1100">
                <a:solidFill>
                  <a:srgbClr val="F8FAFC"/>
                </a:solidFill>
                <a:latin typeface="Consolas"/>
              </a:rPr>
              <a:t>&gt; “use claude-opus-4.8 for this session”</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or pin in a charter (lives with the agent):</a:t>
            </a:r>
          </a:p>
          <a:p>
            <a:pPr>
              <a:spcAft>
                <a:spcPts val="100"/>
              </a:spcAft>
            </a:pPr>
            <a:r>
              <a:rPr sz="1100">
                <a:solidFill>
                  <a:srgbClr val="94A3B8"/>
                </a:solidFill>
                <a:latin typeface="Consolas"/>
              </a:rPr>
              <a:t>// .squad/agents/lead/charter.md</a:t>
            </a:r>
          </a:p>
          <a:p>
            <a:pPr>
              <a:spcAft>
                <a:spcPts val="100"/>
              </a:spcAft>
            </a:pPr>
            <a:r>
              <a:rPr sz="1100">
                <a:solidFill>
                  <a:srgbClr val="F8FAFC"/>
                </a:solidFill>
                <a:latin typeface="Consolas"/>
              </a:rPr>
              <a:t>## Model</a:t>
            </a:r>
          </a:p>
          <a:p>
            <a:pPr>
              <a:spcAft>
                <a:spcPts val="100"/>
              </a:spcAft>
            </a:pPr>
            <a:r>
              <a:rPr sz="1100">
                <a:solidFill>
                  <a:srgbClr val="CBD5E1"/>
                </a:solidFill>
                <a:latin typeface="Consolas"/>
              </a:rPr>
              <a:t>Preferred: claude-opus-4.8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377440"/>
            <a:ext cx="164592" cy="228600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51</a:t>
            </a:r>
          </a:p>
        </p:txBody>
      </p:sp>
      <p:sp>
        <p:nvSpPr>
          <p:cNvPr id="5" name="TextBox 4"/>
          <p:cNvSpPr txBox="1"/>
          <p:nvPr/>
        </p:nvSpPr>
        <p:spPr>
          <a:xfrm>
            <a:off x="960120" y="2331720"/>
            <a:ext cx="11094415" cy="457200"/>
          </a:xfrm>
          <a:prstGeom prst="rect">
            <a:avLst/>
          </a:prstGeom>
          <a:noFill/>
        </p:spPr>
        <p:txBody>
          <a:bodyPr wrap="square" lIns="36576" rIns="36576" tIns="18288" bIns="18288">
            <a:spAutoFit/>
          </a:bodyPr>
          <a:lstStyle/>
          <a:p>
            <a:r>
              <a:rPr sz="1400" b="1">
                <a:solidFill>
                  <a:srgbClr val="38BDF8"/>
                </a:solidFill>
                <a:latin typeface="Segoe UI Semibold"/>
              </a:rPr>
              <a:t>SYNTHESIS</a:t>
            </a:r>
          </a:p>
        </p:txBody>
      </p:sp>
      <p:sp>
        <p:nvSpPr>
          <p:cNvPr id="6" name="TextBox 5"/>
          <p:cNvSpPr txBox="1"/>
          <p:nvPr/>
        </p:nvSpPr>
        <p:spPr>
          <a:xfrm>
            <a:off x="960120" y="2788920"/>
            <a:ext cx="11094415" cy="1828800"/>
          </a:xfrm>
          <a:prstGeom prst="rect">
            <a:avLst/>
          </a:prstGeom>
          <a:noFill/>
        </p:spPr>
        <p:txBody>
          <a:bodyPr wrap="square" lIns="36576" rIns="36576" tIns="18288" bIns="18288">
            <a:spAutoFit/>
          </a:bodyPr>
          <a:lstStyle/>
          <a:p>
            <a:r>
              <a:rPr sz="5400" b="1">
                <a:solidFill>
                  <a:srgbClr val="F8FAFC"/>
                </a:solidFill>
                <a:latin typeface="Segoe UI"/>
              </a:rPr>
              <a:t>Now watch all five patterns
fire in sequence</a:t>
            </a:r>
          </a:p>
        </p:txBody>
      </p:sp>
      <p:sp>
        <p:nvSpPr>
          <p:cNvPr id="7" name="TextBox 6"/>
          <p:cNvSpPr txBox="1"/>
          <p:nvPr/>
        </p:nvSpPr>
        <p:spPr>
          <a:xfrm>
            <a:off x="960120" y="4526280"/>
            <a:ext cx="11094415" cy="1280160"/>
          </a:xfrm>
          <a:prstGeom prst="rect">
            <a:avLst/>
          </a:prstGeom>
          <a:noFill/>
        </p:spPr>
        <p:txBody>
          <a:bodyPr wrap="square" lIns="36576" rIns="36576" tIns="18288" bIns="18288">
            <a:spAutoFit/>
          </a:bodyPr>
          <a:lstStyle/>
          <a:p>
            <a:r>
              <a:rPr sz="2000" b="0">
                <a:solidFill>
                  <a:srgbClr val="CBD5E1"/>
                </a:solidFill>
                <a:latin typeface="Segoe UI"/>
              </a:rPr>
              <a:t>One natural-language directive → classifier → governed write → git note → orphan branch. Six stages, real artifacts.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END-TO-END SEQUENCE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One sentence, six stages, real git artifacts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Trace a directive from natural language through to the orphan branch and git note.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memory/index.ts • state-backend.ts • .github/agents/squad.agent.md (Directive Capture)</a:t>
            </a:r>
          </a:p>
        </p:txBody>
      </p:sp>
      <p:sp>
        <p:nvSpPr>
          <p:cNvPr id="9" name="Rounded Rectangle 8"/>
          <p:cNvSpPr/>
          <p:nvPr/>
        </p:nvSpPr>
        <p:spPr>
          <a:xfrm>
            <a:off x="548640"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1. User prompt</a:t>
            </a:r>
          </a:p>
        </p:txBody>
      </p:sp>
      <p:sp>
        <p:nvSpPr>
          <p:cNvPr id="11" name="TextBox 10"/>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2" name="Rounded Rectangle 11"/>
          <p:cNvSpPr/>
          <p:nvPr/>
        </p:nvSpPr>
        <p:spPr>
          <a:xfrm>
            <a:off x="2443429"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2. Coordinator + agents</a:t>
            </a:r>
          </a:p>
        </p:txBody>
      </p:sp>
      <p:sp>
        <p:nvSpPr>
          <p:cNvPr id="14" name="TextBox 13"/>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5" name="Rounded Rectangle 14"/>
          <p:cNvSpPr/>
          <p:nvPr/>
        </p:nvSpPr>
        <p:spPr>
          <a:xfrm>
            <a:off x="4338218"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3. Decision emerges</a:t>
            </a:r>
          </a:p>
        </p:txBody>
      </p:sp>
      <p:sp>
        <p:nvSpPr>
          <p:cNvPr id="17" name="TextBox 16"/>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8" name="Rounded Rectangle 17"/>
          <p:cNvSpPr/>
          <p:nvPr/>
        </p:nvSpPr>
        <p:spPr>
          <a:xfrm>
            <a:off x="6233007"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4. Classify + call tool</a:t>
            </a:r>
          </a:p>
        </p:txBody>
      </p:sp>
      <p:sp>
        <p:nvSpPr>
          <p:cNvPr id="20" name="TextBox 19"/>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1" name="Rounded Rectangle 20"/>
          <p:cNvSpPr/>
          <p:nvPr/>
        </p:nvSpPr>
        <p:spPr>
          <a:xfrm>
            <a:off x="812779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5. Write to state</a:t>
            </a:r>
          </a:p>
        </p:txBody>
      </p:sp>
      <p:sp>
        <p:nvSpPr>
          <p:cNvPr id="23" name="TextBox 22"/>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4" name="Rounded Rectangle 23"/>
          <p:cNvSpPr/>
          <p:nvPr/>
        </p:nvSpPr>
        <p:spPr>
          <a:xfrm>
            <a:off x="1002258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6. Verify</a:t>
            </a:r>
          </a:p>
        </p:txBody>
      </p:sp>
      <p:sp>
        <p:nvSpPr>
          <p:cNvPr id="26" name="Rounded Rectangle 25"/>
          <p:cNvSpPr/>
          <p:nvPr/>
        </p:nvSpPr>
        <p:spPr>
          <a:xfrm>
            <a:off x="548640" y="2834639"/>
            <a:ext cx="11094415"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2971800"/>
            <a:ext cx="10545775" cy="457200"/>
          </a:xfrm>
          <a:prstGeom prst="rect">
            <a:avLst/>
          </a:prstGeom>
          <a:noFill/>
        </p:spPr>
        <p:txBody>
          <a:bodyPr wrap="square" lIns="36576" rIns="36576" tIns="18288" bIns="18288">
            <a:spAutoFit/>
          </a:bodyPr>
          <a:lstStyle/>
          <a:p>
            <a:r>
              <a:rPr sz="1800" b="1">
                <a:solidFill>
                  <a:srgbClr val="38BDF8"/>
                </a:solidFill>
                <a:latin typeface="Segoe UI"/>
              </a:rPr>
              <a:t>What this sequence shows</a:t>
            </a:r>
          </a:p>
        </p:txBody>
      </p:sp>
      <p:sp>
        <p:nvSpPr>
          <p:cNvPr id="28" name="TextBox 27"/>
          <p:cNvSpPr txBox="1"/>
          <p:nvPr/>
        </p:nvSpPr>
        <p:spPr>
          <a:xfrm>
            <a:off x="822959" y="3474720"/>
            <a:ext cx="10545775" cy="2377440"/>
          </a:xfrm>
          <a:prstGeom prst="rect">
            <a:avLst/>
          </a:prstGeom>
          <a:noFill/>
        </p:spPr>
        <p:txBody>
          <a:bodyPr wrap="square" lIns="36576" rIns="36576" tIns="18288" bIns="18288">
            <a:spAutoFit/>
          </a:bodyPr>
          <a:lstStyle/>
          <a:p>
            <a:r>
              <a:rPr sz="1500" b="0">
                <a:solidFill>
                  <a:srgbClr val="CBD5E1"/>
                </a:solidFill>
                <a:latin typeface="Segoe UI"/>
              </a:rPr>
              <a:t>We follow ONE durable sentence — “Always run the SDK tests before merging.” — from the moment the user types it through to the git note and orphan branch where it lives.
Each of the next five slides zooms one stage. Real code from packages/squad-sdk/src/memory and packages/squad-sdk/src/state-backend.ts; real commands you can run on the deck repo afterwards.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STAGE 1 — USER PROMPT</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A sentence the team should remember forever</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Captured before any work is dispatched. This is the input to the whole pipeline.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.github/agents/squad.agent.md — Directive Capture</a:t>
            </a:r>
          </a:p>
        </p:txBody>
      </p:sp>
      <p:sp>
        <p:nvSpPr>
          <p:cNvPr id="9" name="Rounded Rectangle 8"/>
          <p:cNvSpPr/>
          <p:nvPr/>
        </p:nvSpPr>
        <p:spPr>
          <a:xfrm>
            <a:off x="548640" y="182879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799"/>
            <a:ext cx="1620469" cy="54864"/>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F8FAFC"/>
                </a:solidFill>
                <a:latin typeface="Segoe UI Semibold"/>
              </a:rPr>
              <a:t>1. User prompt</a:t>
            </a:r>
          </a:p>
        </p:txBody>
      </p:sp>
      <p:sp>
        <p:nvSpPr>
          <p:cNvPr id="12" name="TextBox 11"/>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3" name="Rounded Rectangle 12"/>
          <p:cNvSpPr/>
          <p:nvPr/>
        </p:nvSpPr>
        <p:spPr>
          <a:xfrm>
            <a:off x="2443429"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2. Coordinator + agents</a:t>
            </a:r>
          </a:p>
        </p:txBody>
      </p:sp>
      <p:sp>
        <p:nvSpPr>
          <p:cNvPr id="15" name="TextBox 14"/>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6" name="Rounded Rectangle 15"/>
          <p:cNvSpPr/>
          <p:nvPr/>
        </p:nvSpPr>
        <p:spPr>
          <a:xfrm>
            <a:off x="4338218"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3. Decision emerges</a:t>
            </a:r>
          </a:p>
        </p:txBody>
      </p:sp>
      <p:sp>
        <p:nvSpPr>
          <p:cNvPr id="18" name="TextBox 17"/>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9" name="Rounded Rectangle 18"/>
          <p:cNvSpPr/>
          <p:nvPr/>
        </p:nvSpPr>
        <p:spPr>
          <a:xfrm>
            <a:off x="6233007"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4. Classify + call tool</a:t>
            </a:r>
          </a:p>
        </p:txBody>
      </p:sp>
      <p:sp>
        <p:nvSpPr>
          <p:cNvPr id="21" name="TextBox 20"/>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2" name="Rounded Rectangle 21"/>
          <p:cNvSpPr/>
          <p:nvPr/>
        </p:nvSpPr>
        <p:spPr>
          <a:xfrm>
            <a:off x="812779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5. Write to state</a:t>
            </a:r>
          </a:p>
        </p:txBody>
      </p:sp>
      <p:sp>
        <p:nvSpPr>
          <p:cNvPr id="24" name="TextBox 23"/>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5" name="Rounded Rectangle 24"/>
          <p:cNvSpPr/>
          <p:nvPr/>
        </p:nvSpPr>
        <p:spPr>
          <a:xfrm>
            <a:off x="1002258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6. Verify</a:t>
            </a:r>
          </a:p>
        </p:txBody>
      </p:sp>
      <p:sp>
        <p:nvSpPr>
          <p:cNvPr id="27" name="Rounded Rectangle 26"/>
          <p:cNvSpPr/>
          <p:nvPr/>
        </p:nvSpPr>
        <p:spPr>
          <a:xfrm>
            <a:off x="548640" y="2834639"/>
            <a:ext cx="5943600"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834639"/>
            <a:ext cx="59436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80359"/>
            <a:ext cx="5669280" cy="228600"/>
          </a:xfrm>
          <a:prstGeom prst="rect">
            <a:avLst/>
          </a:prstGeom>
          <a:noFill/>
        </p:spPr>
        <p:txBody>
          <a:bodyPr wrap="square" lIns="36576" rIns="36576" tIns="18288" bIns="18288">
            <a:spAutoFit/>
          </a:bodyPr>
          <a:lstStyle/>
          <a:p>
            <a:r>
              <a:rPr sz="1000" b="1">
                <a:solidFill>
                  <a:srgbClr val="38BDF8"/>
                </a:solidFill>
                <a:latin typeface="Segoe UI Semibold"/>
              </a:rPr>
              <a:t>what the human typed</a:t>
            </a:r>
          </a:p>
        </p:txBody>
      </p:sp>
      <p:sp>
        <p:nvSpPr>
          <p:cNvPr id="30" name="TextBox 29"/>
          <p:cNvSpPr txBox="1"/>
          <p:nvPr/>
        </p:nvSpPr>
        <p:spPr>
          <a:xfrm>
            <a:off x="713232" y="3127247"/>
            <a:ext cx="5669280" cy="2761488"/>
          </a:xfrm>
          <a:prstGeom prst="rect">
            <a:avLst/>
          </a:prstGeom>
          <a:noFill/>
        </p:spPr>
        <p:txBody>
          <a:bodyPr wrap="square" lIns="36576" rIns="36576">
            <a:spAutoFit/>
          </a:bodyPr>
          <a:lstStyle/>
          <a:p>
            <a:pPr>
              <a:spcAft>
                <a:spcPts val="100"/>
              </a:spcAft>
            </a:pPr>
            <a:r>
              <a:rPr sz="1100">
                <a:solidFill>
                  <a:srgbClr val="F8FAFC"/>
                </a:solidFill>
                <a:latin typeface="Consolas"/>
              </a:rPr>
              <a:t>&gt; Always run the SDK tests before merging.</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(Plain natural-language directive.</a:t>
            </a:r>
          </a:p>
          <a:p>
            <a:pPr>
              <a:spcAft>
                <a:spcPts val="100"/>
              </a:spcAft>
            </a:pPr>
            <a:r>
              <a:rPr sz="1100">
                <a:solidFill>
                  <a:srgbClr val="CBD5E1"/>
                </a:solidFill>
                <a:latin typeface="Consolas"/>
              </a:rPr>
              <a:t> No command. No flag. No JSON.</a:t>
            </a:r>
          </a:p>
          <a:p>
            <a:pPr>
              <a:spcAft>
                <a:spcPts val="100"/>
              </a:spcAft>
            </a:pPr>
            <a:r>
              <a:rPr sz="1100">
                <a:solidFill>
                  <a:srgbClr val="CBD5E1"/>
                </a:solidFill>
                <a:latin typeface="Consolas"/>
              </a:rPr>
              <a:t> The user does not say “remember this”.)</a:t>
            </a:r>
          </a:p>
        </p:txBody>
      </p:sp>
      <p:sp>
        <p:nvSpPr>
          <p:cNvPr id="31" name="Rounded Rectangle 30"/>
          <p:cNvSpPr/>
          <p:nvPr/>
        </p:nvSpPr>
        <p:spPr>
          <a:xfrm>
            <a:off x="6675120" y="2834639"/>
            <a:ext cx="4937760"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2834639"/>
            <a:ext cx="4937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39712" y="299923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34" name="TextBox 33"/>
          <p:cNvSpPr txBox="1"/>
          <p:nvPr/>
        </p:nvSpPr>
        <p:spPr>
          <a:xfrm>
            <a:off x="7360920" y="2999232"/>
            <a:ext cx="4160520" cy="411480"/>
          </a:xfrm>
          <a:prstGeom prst="rect">
            <a:avLst/>
          </a:prstGeom>
          <a:noFill/>
        </p:spPr>
        <p:txBody>
          <a:bodyPr wrap="square" lIns="36576" rIns="36576" tIns="18288" bIns="18288" anchor="ctr">
            <a:spAutoFit/>
          </a:bodyPr>
          <a:lstStyle/>
          <a:p>
            <a:r>
              <a:rPr sz="1400" b="1">
                <a:solidFill>
                  <a:srgbClr val="F8FAFC"/>
                </a:solidFill>
                <a:latin typeface="Segoe UI"/>
              </a:rPr>
              <a:t>Why this is hard</a:t>
            </a:r>
          </a:p>
        </p:txBody>
      </p:sp>
      <p:sp>
        <p:nvSpPr>
          <p:cNvPr id="35" name="TextBox 34"/>
          <p:cNvSpPr txBox="1"/>
          <p:nvPr/>
        </p:nvSpPr>
        <p:spPr>
          <a:xfrm>
            <a:off x="6839712" y="3520439"/>
            <a:ext cx="4663440" cy="233172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The team has no way to know what's important</a:t>
            </a:r>
          </a:p>
          <a:p>
            <a:pPr>
              <a:spcAft>
                <a:spcPts val="300"/>
              </a:spcAft>
            </a:pPr>
            <a:r>
              <a:rPr sz="1200" b="1">
                <a:solidFill>
                  <a:srgbClr val="38BDF8"/>
                </a:solidFill>
                <a:latin typeface="Segoe UI"/>
              </a:rPr>
              <a:t>•  </a:t>
            </a:r>
            <a:r>
              <a:rPr sz="1200">
                <a:solidFill>
                  <a:srgbClr val="CBD5E1"/>
                </a:solidFill>
                <a:latin typeface="Segoe UI"/>
              </a:rPr>
              <a:t>Tomorrow another agent will violate this</a:t>
            </a:r>
          </a:p>
          <a:p>
            <a:pPr>
              <a:spcAft>
                <a:spcPts val="300"/>
              </a:spcAft>
            </a:pPr>
            <a:r>
              <a:rPr sz="1200" b="1">
                <a:solidFill>
                  <a:srgbClr val="38BDF8"/>
                </a:solidFill>
                <a:latin typeface="Segoe UI"/>
              </a:rPr>
              <a:t>•  </a:t>
            </a:r>
            <a:r>
              <a:rPr sz="1200">
                <a:solidFill>
                  <a:srgbClr val="CBD5E1"/>
                </a:solidFill>
                <a:latin typeface="Segoe UI"/>
              </a:rPr>
              <a:t>Old solution: tell the user to edit decisions.md</a:t>
            </a:r>
          </a:p>
          <a:p>
            <a:pPr>
              <a:spcAft>
                <a:spcPts val="300"/>
              </a:spcAft>
            </a:pPr>
            <a:r>
              <a:rPr sz="1200" b="1">
                <a:solidFill>
                  <a:srgbClr val="38BDF8"/>
                </a:solidFill>
                <a:latin typeface="Segoe UI"/>
              </a:rPr>
              <a:t>•  </a:t>
            </a:r>
            <a:r>
              <a:rPr sz="1200">
                <a:solidFill>
                  <a:srgbClr val="CBD5E1"/>
                </a:solidFill>
                <a:latin typeface="Segoe UI"/>
              </a:rPr>
              <a:t>New solution: the coordinator listens for directive signals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54</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STAGE 2 — COORDINATOR + AGENTS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coordinator chooses: knowledge event vs. work</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A directive is captured before any specialist is spawned.</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.github/agents/squad.agent.md — Directive Capture • routing table</a:t>
            </a:r>
          </a:p>
        </p:txBody>
      </p:sp>
      <p:sp>
        <p:nvSpPr>
          <p:cNvPr id="9" name="Rounded Rectangle 8"/>
          <p:cNvSpPr/>
          <p:nvPr/>
        </p:nvSpPr>
        <p:spPr>
          <a:xfrm>
            <a:off x="548640"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1. User prompt</a:t>
            </a:r>
          </a:p>
        </p:txBody>
      </p:sp>
      <p:sp>
        <p:nvSpPr>
          <p:cNvPr id="11" name="TextBox 10"/>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2" name="Rounded Rectangle 11"/>
          <p:cNvSpPr/>
          <p:nvPr/>
        </p:nvSpPr>
        <p:spPr>
          <a:xfrm>
            <a:off x="2443429" y="182879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43429" y="1828799"/>
            <a:ext cx="1620469" cy="54864"/>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F8FAFC"/>
                </a:solidFill>
                <a:latin typeface="Segoe UI Semibold"/>
              </a:rPr>
              <a:t>2. Coordinator + agents</a:t>
            </a:r>
          </a:p>
        </p:txBody>
      </p:sp>
      <p:sp>
        <p:nvSpPr>
          <p:cNvPr id="15" name="TextBox 14"/>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6" name="Rounded Rectangle 15"/>
          <p:cNvSpPr/>
          <p:nvPr/>
        </p:nvSpPr>
        <p:spPr>
          <a:xfrm>
            <a:off x="4338218"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3. Decision emerges</a:t>
            </a:r>
          </a:p>
        </p:txBody>
      </p:sp>
      <p:sp>
        <p:nvSpPr>
          <p:cNvPr id="18" name="TextBox 17"/>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9" name="Rounded Rectangle 18"/>
          <p:cNvSpPr/>
          <p:nvPr/>
        </p:nvSpPr>
        <p:spPr>
          <a:xfrm>
            <a:off x="6233007"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4. Classify + call tool</a:t>
            </a:r>
          </a:p>
        </p:txBody>
      </p:sp>
      <p:sp>
        <p:nvSpPr>
          <p:cNvPr id="21" name="TextBox 20"/>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2" name="Rounded Rectangle 21"/>
          <p:cNvSpPr/>
          <p:nvPr/>
        </p:nvSpPr>
        <p:spPr>
          <a:xfrm>
            <a:off x="812779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5. Write to state</a:t>
            </a:r>
          </a:p>
        </p:txBody>
      </p:sp>
      <p:sp>
        <p:nvSpPr>
          <p:cNvPr id="24" name="TextBox 23"/>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5" name="Rounded Rectangle 24"/>
          <p:cNvSpPr/>
          <p:nvPr/>
        </p:nvSpPr>
        <p:spPr>
          <a:xfrm>
            <a:off x="1002258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6. Verify</a:t>
            </a:r>
          </a:p>
        </p:txBody>
      </p:sp>
      <p:sp>
        <p:nvSpPr>
          <p:cNvPr id="27" name="Rounded Rectangle 26"/>
          <p:cNvSpPr/>
          <p:nvPr/>
        </p:nvSpPr>
        <p:spPr>
          <a:xfrm>
            <a:off x="548640" y="2834639"/>
            <a:ext cx="5943600"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834639"/>
            <a:ext cx="59436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80359"/>
            <a:ext cx="5669280" cy="228600"/>
          </a:xfrm>
          <a:prstGeom prst="rect">
            <a:avLst/>
          </a:prstGeom>
          <a:noFill/>
        </p:spPr>
        <p:txBody>
          <a:bodyPr wrap="square" lIns="36576" rIns="36576" tIns="18288" bIns="18288">
            <a:spAutoFit/>
          </a:bodyPr>
          <a:lstStyle/>
          <a:p>
            <a:r>
              <a:rPr sz="1000" b="1">
                <a:solidFill>
                  <a:srgbClr val="38BDF8"/>
                </a:solidFill>
                <a:latin typeface="Segoe UI Semibold"/>
              </a:rPr>
              <a:t>coordinator detects + decides</a:t>
            </a:r>
          </a:p>
        </p:txBody>
      </p:sp>
      <p:sp>
        <p:nvSpPr>
          <p:cNvPr id="30" name="TextBox 29"/>
          <p:cNvSpPr txBox="1"/>
          <p:nvPr/>
        </p:nvSpPr>
        <p:spPr>
          <a:xfrm>
            <a:off x="713232" y="3127247"/>
            <a:ext cx="5669280" cy="2761488"/>
          </a:xfrm>
          <a:prstGeom prst="rect">
            <a:avLst/>
          </a:prstGeom>
          <a:noFill/>
        </p:spPr>
        <p:txBody>
          <a:bodyPr wrap="square" lIns="36576" rIns="36576">
            <a:spAutoFit/>
          </a:bodyPr>
          <a:lstStyle/>
          <a:p>
            <a:pPr>
              <a:spcAft>
                <a:spcPts val="100"/>
              </a:spcAft>
            </a:pPr>
            <a:r>
              <a:rPr sz="1100">
                <a:solidFill>
                  <a:srgbClr val="CBD5E1"/>
                </a:solidFill>
                <a:latin typeface="Consolas"/>
              </a:rPr>
              <a:t>Coordinator (Squad agent):</a:t>
            </a:r>
          </a:p>
          <a:p>
            <a:pPr>
              <a:spcAft>
                <a:spcPts val="100"/>
              </a:spcAft>
            </a:pPr>
            <a:r>
              <a:rPr sz="1100">
                <a:solidFill>
                  <a:srgbClr val="CBD5E1"/>
                </a:solidFill>
                <a:latin typeface="Consolas"/>
              </a:rPr>
              <a:t>  pattern check: /^\s*(always|never|must|do not)\b/i</a:t>
            </a:r>
          </a:p>
          <a:p>
            <a:pPr>
              <a:spcAft>
                <a:spcPts val="100"/>
              </a:spcAft>
            </a:pPr>
            <a:r>
              <a:rPr sz="1100">
                <a:solidFill>
                  <a:srgbClr val="CBD5E1"/>
                </a:solidFill>
                <a:latin typeface="Consolas"/>
              </a:rPr>
              <a:t>  hit → “always” → treat as DIRECTIVE</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Routing branch: directive-capture</a:t>
            </a:r>
          </a:p>
          <a:p>
            <a:pPr>
              <a:spcAft>
                <a:spcPts val="100"/>
              </a:spcAft>
            </a:pPr>
            <a:r>
              <a:rPr sz="1100">
                <a:solidFill>
                  <a:srgbClr val="CBD5E1"/>
                </a:solidFill>
                <a:latin typeface="Consolas"/>
              </a:rPr>
              <a:t>  • do NOT spawn implementation agents</a:t>
            </a:r>
          </a:p>
          <a:p>
            <a:pPr>
              <a:spcAft>
                <a:spcPts val="100"/>
              </a:spcAft>
            </a:pPr>
            <a:r>
              <a:rPr sz="1100">
                <a:solidFill>
                  <a:srgbClr val="CBD5E1"/>
                </a:solidFill>
                <a:latin typeface="Consolas"/>
              </a:rPr>
              <a:t>  • do NOT route to Lead for review</a:t>
            </a:r>
          </a:p>
          <a:p>
            <a:pPr>
              <a:spcAft>
                <a:spcPts val="100"/>
              </a:spcAft>
            </a:pPr>
            <a:r>
              <a:rPr sz="1100">
                <a:solidFill>
                  <a:srgbClr val="CBD5E1"/>
                </a:solidFill>
                <a:latin typeface="Consolas"/>
              </a:rPr>
              <a:t>  • DO call governed memory tool now</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(Scribe is informed; no fan-out happens.)</a:t>
            </a:r>
          </a:p>
        </p:txBody>
      </p:sp>
      <p:sp>
        <p:nvSpPr>
          <p:cNvPr id="31" name="Rounded Rectangle 30"/>
          <p:cNvSpPr/>
          <p:nvPr/>
        </p:nvSpPr>
        <p:spPr>
          <a:xfrm>
            <a:off x="6675120" y="2834639"/>
            <a:ext cx="4937760"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2834639"/>
            <a:ext cx="4937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39712" y="299923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34" name="TextBox 33"/>
          <p:cNvSpPr txBox="1"/>
          <p:nvPr/>
        </p:nvSpPr>
        <p:spPr>
          <a:xfrm>
            <a:off x="7360920" y="2999232"/>
            <a:ext cx="4160520" cy="411480"/>
          </a:xfrm>
          <a:prstGeom prst="rect">
            <a:avLst/>
          </a:prstGeom>
          <a:noFill/>
        </p:spPr>
        <p:txBody>
          <a:bodyPr wrap="square" lIns="36576" rIns="36576" tIns="18288" bIns="18288" anchor="ctr">
            <a:spAutoFit/>
          </a:bodyPr>
          <a:lstStyle/>
          <a:p>
            <a:r>
              <a:rPr sz="1400" b="1">
                <a:solidFill>
                  <a:srgbClr val="F8FAFC"/>
                </a:solidFill>
                <a:latin typeface="Segoe UI"/>
              </a:rPr>
              <a:t>When agents WOULD chat</a:t>
            </a:r>
          </a:p>
        </p:txBody>
      </p:sp>
      <p:sp>
        <p:nvSpPr>
          <p:cNvPr id="35" name="TextBox 34"/>
          <p:cNvSpPr txBox="1"/>
          <p:nvPr/>
        </p:nvSpPr>
        <p:spPr>
          <a:xfrm>
            <a:off x="6839712" y="3520439"/>
            <a:ext cx="4663440" cy="233172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Implementation requests fan out to specialists</a:t>
            </a:r>
          </a:p>
          <a:p>
            <a:pPr>
              <a:spcAft>
                <a:spcPts val="300"/>
              </a:spcAft>
            </a:pPr>
            <a:r>
              <a:rPr sz="1200" b="1">
                <a:solidFill>
                  <a:srgbClr val="34D399"/>
                </a:solidFill>
                <a:latin typeface="Segoe UI"/>
              </a:rPr>
              <a:t>•  </a:t>
            </a:r>
            <a:r>
              <a:rPr sz="1200">
                <a:solidFill>
                  <a:srgbClr val="CBD5E1"/>
                </a:solidFill>
                <a:latin typeface="Segoe UI"/>
              </a:rPr>
              <a:t>Directive capture does NOT — it's a pre-routing hook</a:t>
            </a:r>
          </a:p>
          <a:p>
            <a:pPr>
              <a:spcAft>
                <a:spcPts val="300"/>
              </a:spcAft>
            </a:pPr>
            <a:r>
              <a:rPr sz="1200" b="1">
                <a:solidFill>
                  <a:srgbClr val="34D399"/>
                </a:solidFill>
                <a:latin typeface="Segoe UI"/>
              </a:rPr>
              <a:t>•  </a:t>
            </a:r>
            <a:r>
              <a:rPr sz="1200">
                <a:solidFill>
                  <a:srgbClr val="CBD5E1"/>
                </a:solidFill>
                <a:latin typeface="Segoe UI"/>
              </a:rPr>
              <a:t>Pure knowledge events skip the team chatter</a:t>
            </a:r>
          </a:p>
          <a:p>
            <a:pPr>
              <a:spcAft>
                <a:spcPts val="300"/>
              </a:spcAft>
            </a:pPr>
            <a:r>
              <a:rPr sz="1200" b="1">
                <a:solidFill>
                  <a:srgbClr val="34D399"/>
                </a:solidFill>
                <a:latin typeface="Segoe UI"/>
              </a:rPr>
              <a:t>•  </a:t>
            </a:r>
            <a:r>
              <a:rPr sz="1200">
                <a:solidFill>
                  <a:srgbClr val="CBD5E1"/>
                </a:solidFill>
                <a:latin typeface="Segoe UI"/>
              </a:rPr>
              <a:t>Same pipeline shape; different participants per request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55</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FBBF24"/>
                </a:solidFill>
                <a:latin typeface="Segoe UI Semibold"/>
              </a:rPr>
              <a:t>STAGE 3 — DECISION EMERGES</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A candidate fact, not yet a memory</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coordinator constructs the request object. The classifier still has to vet it.</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memory/index.ts:667-680 — MemoryWriteRequest shape</a:t>
            </a:r>
          </a:p>
        </p:txBody>
      </p:sp>
      <p:sp>
        <p:nvSpPr>
          <p:cNvPr id="9" name="Rounded Rectangle 8"/>
          <p:cNvSpPr/>
          <p:nvPr/>
        </p:nvSpPr>
        <p:spPr>
          <a:xfrm>
            <a:off x="548640"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1. User prompt</a:t>
            </a:r>
          </a:p>
        </p:txBody>
      </p:sp>
      <p:sp>
        <p:nvSpPr>
          <p:cNvPr id="11" name="TextBox 10"/>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2" name="Rounded Rectangle 11"/>
          <p:cNvSpPr/>
          <p:nvPr/>
        </p:nvSpPr>
        <p:spPr>
          <a:xfrm>
            <a:off x="2443429"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2. Coordinator + agents</a:t>
            </a:r>
          </a:p>
        </p:txBody>
      </p:sp>
      <p:sp>
        <p:nvSpPr>
          <p:cNvPr id="14" name="TextBox 13"/>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5" name="Rounded Rectangle 14"/>
          <p:cNvSpPr/>
          <p:nvPr/>
        </p:nvSpPr>
        <p:spPr>
          <a:xfrm>
            <a:off x="4338218" y="182879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38218" y="1828799"/>
            <a:ext cx="1620469" cy="54864"/>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F8FAFC"/>
                </a:solidFill>
                <a:latin typeface="Segoe UI Semibold"/>
              </a:rPr>
              <a:t>3. Decision emerges</a:t>
            </a:r>
          </a:p>
        </p:txBody>
      </p:sp>
      <p:sp>
        <p:nvSpPr>
          <p:cNvPr id="18" name="TextBox 17"/>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9" name="Rounded Rectangle 18"/>
          <p:cNvSpPr/>
          <p:nvPr/>
        </p:nvSpPr>
        <p:spPr>
          <a:xfrm>
            <a:off x="6233007"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4. Classify + call tool</a:t>
            </a:r>
          </a:p>
        </p:txBody>
      </p:sp>
      <p:sp>
        <p:nvSpPr>
          <p:cNvPr id="21" name="TextBox 20"/>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2" name="Rounded Rectangle 21"/>
          <p:cNvSpPr/>
          <p:nvPr/>
        </p:nvSpPr>
        <p:spPr>
          <a:xfrm>
            <a:off x="812779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5. Write to state</a:t>
            </a:r>
          </a:p>
        </p:txBody>
      </p:sp>
      <p:sp>
        <p:nvSpPr>
          <p:cNvPr id="24" name="TextBox 23"/>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5" name="Rounded Rectangle 24"/>
          <p:cNvSpPr/>
          <p:nvPr/>
        </p:nvSpPr>
        <p:spPr>
          <a:xfrm>
            <a:off x="1002258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6. Verify</a:t>
            </a:r>
          </a:p>
        </p:txBody>
      </p:sp>
      <p:sp>
        <p:nvSpPr>
          <p:cNvPr id="27" name="Rounded Rectangle 26"/>
          <p:cNvSpPr/>
          <p:nvPr/>
        </p:nvSpPr>
        <p:spPr>
          <a:xfrm>
            <a:off x="548640" y="2834639"/>
            <a:ext cx="11094415"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834639"/>
            <a:ext cx="11094415" cy="45720"/>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80359"/>
            <a:ext cx="10820095" cy="228600"/>
          </a:xfrm>
          <a:prstGeom prst="rect">
            <a:avLst/>
          </a:prstGeom>
          <a:noFill/>
        </p:spPr>
        <p:txBody>
          <a:bodyPr wrap="square" lIns="36576" rIns="36576" tIns="18288" bIns="18288">
            <a:spAutoFit/>
          </a:bodyPr>
          <a:lstStyle/>
          <a:p>
            <a:r>
              <a:rPr sz="1000" b="1">
                <a:solidFill>
                  <a:srgbClr val="FBBF24"/>
                </a:solidFill>
                <a:latin typeface="Segoe UI Semibold"/>
              </a:rPr>
              <a:t>durable fact — not yet classified, not yet stored</a:t>
            </a:r>
          </a:p>
        </p:txBody>
      </p:sp>
      <p:sp>
        <p:nvSpPr>
          <p:cNvPr id="30" name="TextBox 29"/>
          <p:cNvSpPr txBox="1"/>
          <p:nvPr/>
        </p:nvSpPr>
        <p:spPr>
          <a:xfrm>
            <a:off x="713232" y="3127247"/>
            <a:ext cx="10820095" cy="2761488"/>
          </a:xfrm>
          <a:prstGeom prst="rect">
            <a:avLst/>
          </a:prstGeom>
          <a:noFill/>
        </p:spPr>
        <p:txBody>
          <a:bodyPr wrap="square" lIns="36576" rIns="36576">
            <a:spAutoFit/>
          </a:bodyPr>
          <a:lstStyle/>
          <a:p>
            <a:pPr>
              <a:spcAft>
                <a:spcPts val="100"/>
              </a:spcAft>
            </a:pPr>
            <a:r>
              <a:rPr sz="1100">
                <a:solidFill>
                  <a:srgbClr val="94A3B8"/>
                </a:solidFill>
                <a:latin typeface="Consolas"/>
              </a:rPr>
              <a:t>// candidate knowledge object (in coordinator's head)</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title:    "Run SDK tests before merging",</a:t>
            </a:r>
          </a:p>
          <a:p>
            <a:pPr>
              <a:spcAft>
                <a:spcPts val="100"/>
              </a:spcAft>
            </a:pPr>
            <a:r>
              <a:rPr sz="1100">
                <a:solidFill>
                  <a:srgbClr val="CBD5E1"/>
                </a:solidFill>
                <a:latin typeface="Consolas"/>
              </a:rPr>
              <a:t>  content:  "Always run the SDK tests before merging.",</a:t>
            </a:r>
          </a:p>
          <a:p>
            <a:pPr>
              <a:spcAft>
                <a:spcPts val="100"/>
              </a:spcAft>
            </a:pPr>
            <a:r>
              <a:rPr sz="1100">
                <a:solidFill>
                  <a:srgbClr val="CBD5E1"/>
                </a:solidFill>
                <a:latin typeface="Consolas"/>
              </a:rPr>
              <a:t>  author:   "squad-coordinator",</a:t>
            </a:r>
          </a:p>
          <a:p>
            <a:pPr>
              <a:spcAft>
                <a:spcPts val="100"/>
              </a:spcAft>
            </a:pPr>
            <a:r>
              <a:rPr sz="1100">
                <a:solidFill>
                  <a:srgbClr val="CBD5E1"/>
                </a:solidFill>
                <a:latin typeface="Consolas"/>
              </a:rPr>
              <a:t>  metadata: { source: "user-directive" }</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the coordinator has decided: this should be durable team memory.</a:t>
            </a:r>
          </a:p>
          <a:p>
            <a:pPr>
              <a:spcAft>
                <a:spcPts val="100"/>
              </a:spcAft>
            </a:pPr>
            <a:r>
              <a:rPr sz="1100">
                <a:solidFill>
                  <a:srgbClr val="94A3B8"/>
                </a:solidFill>
                <a:latin typeface="Consolas"/>
              </a:rPr>
              <a:t>// it has NOT yet decided WHERE it goes or HOW it loads.</a:t>
            </a:r>
          </a:p>
          <a:p>
            <a:pPr>
              <a:spcAft>
                <a:spcPts val="100"/>
              </a:spcAft>
            </a:pPr>
            <a:r>
              <a:rPr sz="1100">
                <a:solidFill>
                  <a:srgbClr val="94A3B8"/>
                </a:solidFill>
                <a:latin typeface="Consolas"/>
              </a:rPr>
              <a:t>// that's the next stage — a tool call to memory.classify().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56</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STAGE 4 — CLASSIFY + CALL TOOL</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classifier picks POLICY → loads ALWAYS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class is computed from real regex rules. Result becomes the routing key for storage.</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packages/squad-sdk/src/memory/index.ts:588-665 — classify() heuristics + FORBIDDEN scan</a:t>
            </a:r>
          </a:p>
        </p:txBody>
      </p:sp>
      <p:sp>
        <p:nvSpPr>
          <p:cNvPr id="9" name="Rounded Rectangle 8"/>
          <p:cNvSpPr/>
          <p:nvPr/>
        </p:nvSpPr>
        <p:spPr>
          <a:xfrm>
            <a:off x="548640"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1. User prompt</a:t>
            </a:r>
          </a:p>
        </p:txBody>
      </p:sp>
      <p:sp>
        <p:nvSpPr>
          <p:cNvPr id="11" name="TextBox 10"/>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2" name="Rounded Rectangle 11"/>
          <p:cNvSpPr/>
          <p:nvPr/>
        </p:nvSpPr>
        <p:spPr>
          <a:xfrm>
            <a:off x="2443429"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2. Coordinator + agents</a:t>
            </a:r>
          </a:p>
        </p:txBody>
      </p:sp>
      <p:sp>
        <p:nvSpPr>
          <p:cNvPr id="14" name="TextBox 13"/>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5" name="Rounded Rectangle 14"/>
          <p:cNvSpPr/>
          <p:nvPr/>
        </p:nvSpPr>
        <p:spPr>
          <a:xfrm>
            <a:off x="4338218"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3. Decision emerges</a:t>
            </a:r>
          </a:p>
        </p:txBody>
      </p:sp>
      <p:sp>
        <p:nvSpPr>
          <p:cNvPr id="17" name="TextBox 16"/>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34D399"/>
                </a:solidFill>
                <a:latin typeface="Segoe UI"/>
              </a:rPr>
              <a:t>→</a:t>
            </a:r>
          </a:p>
        </p:txBody>
      </p:sp>
      <p:sp>
        <p:nvSpPr>
          <p:cNvPr id="18" name="Rounded Rectangle 17"/>
          <p:cNvSpPr/>
          <p:nvPr/>
        </p:nvSpPr>
        <p:spPr>
          <a:xfrm>
            <a:off x="6233007" y="1828799"/>
            <a:ext cx="1620469" cy="777240"/>
          </a:xfrm>
          <a:prstGeom prst="roundRect">
            <a:avLst/>
          </a:prstGeom>
          <a:solidFill>
            <a:srgbClr val="0F2338"/>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1828799"/>
            <a:ext cx="1620469" cy="54864"/>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F8FAFC"/>
                </a:solidFill>
                <a:latin typeface="Segoe UI Semibold"/>
              </a:rPr>
              <a:t>4. Classify + call tool</a:t>
            </a:r>
          </a:p>
        </p:txBody>
      </p:sp>
      <p:sp>
        <p:nvSpPr>
          <p:cNvPr id="21" name="TextBox 20"/>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34D399"/>
                </a:solidFill>
                <a:latin typeface="Segoe UI"/>
              </a:rPr>
              <a:t>→</a:t>
            </a:r>
          </a:p>
        </p:txBody>
      </p:sp>
      <p:sp>
        <p:nvSpPr>
          <p:cNvPr id="22" name="Rounded Rectangle 21"/>
          <p:cNvSpPr/>
          <p:nvPr/>
        </p:nvSpPr>
        <p:spPr>
          <a:xfrm>
            <a:off x="812779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5. Write to state</a:t>
            </a:r>
          </a:p>
        </p:txBody>
      </p:sp>
      <p:sp>
        <p:nvSpPr>
          <p:cNvPr id="24" name="TextBox 23"/>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5" name="Rounded Rectangle 24"/>
          <p:cNvSpPr/>
          <p:nvPr/>
        </p:nvSpPr>
        <p:spPr>
          <a:xfrm>
            <a:off x="1002258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6. Verify</a:t>
            </a:r>
          </a:p>
        </p:txBody>
      </p:sp>
      <p:sp>
        <p:nvSpPr>
          <p:cNvPr id="27" name="Rounded Rectangle 26"/>
          <p:cNvSpPr/>
          <p:nvPr/>
        </p:nvSpPr>
        <p:spPr>
          <a:xfrm>
            <a:off x="548640" y="2834639"/>
            <a:ext cx="6400800"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834639"/>
            <a:ext cx="64008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80359"/>
            <a:ext cx="6126480" cy="228600"/>
          </a:xfrm>
          <a:prstGeom prst="rect">
            <a:avLst/>
          </a:prstGeom>
          <a:noFill/>
        </p:spPr>
        <p:txBody>
          <a:bodyPr wrap="square" lIns="36576" rIns="36576" tIns="18288" bIns="18288">
            <a:spAutoFit/>
          </a:bodyPr>
          <a:lstStyle/>
          <a:p>
            <a:r>
              <a:rPr sz="1000" b="1">
                <a:solidFill>
                  <a:srgbClr val="34D399"/>
                </a:solidFill>
                <a:latin typeface="Segoe UI Semibold"/>
              </a:rPr>
              <a:t>real classifier code — with the honest overlap noted</a:t>
            </a:r>
          </a:p>
        </p:txBody>
      </p:sp>
      <p:sp>
        <p:nvSpPr>
          <p:cNvPr id="30" name="TextBox 29"/>
          <p:cNvSpPr txBox="1"/>
          <p:nvPr/>
        </p:nvSpPr>
        <p:spPr>
          <a:xfrm>
            <a:off x="713232" y="3127247"/>
            <a:ext cx="6126480" cy="2761488"/>
          </a:xfrm>
          <a:prstGeom prst="rect">
            <a:avLst/>
          </a:prstGeom>
          <a:noFill/>
        </p:spPr>
        <p:txBody>
          <a:bodyPr wrap="square" lIns="36576" rIns="36576">
            <a:spAutoFit/>
          </a:bodyPr>
          <a:lstStyle/>
          <a:p>
            <a:pPr>
              <a:spcAft>
                <a:spcPts val="100"/>
              </a:spcAft>
            </a:pPr>
            <a:r>
              <a:rPr sz="1100">
                <a:solidFill>
                  <a:srgbClr val="94A3B8"/>
                </a:solidFill>
                <a:latin typeface="Consolas"/>
              </a:rPr>
              <a:t>// memory/index.ts:594-605 — FORBIDDEN scan first (incl. CI/PR/build)</a:t>
            </a:r>
          </a:p>
          <a:p>
            <a:pPr>
              <a:spcAft>
                <a:spcPts val="100"/>
              </a:spcAft>
            </a:pPr>
            <a:r>
              <a:rPr sz="1100">
                <a:solidFill>
                  <a:srgbClr val="CBD5E1"/>
                </a:solidFill>
                <a:latin typeface="Consolas"/>
              </a:rPr>
              <a:t>for ({ pattern, reason } of FORBIDDEN_PATTERNS) {</a:t>
            </a:r>
          </a:p>
          <a:p>
            <a:pPr>
              <a:spcAft>
                <a:spcPts val="100"/>
              </a:spcAft>
            </a:pPr>
            <a:r>
              <a:rPr sz="1100">
                <a:solidFill>
                  <a:srgbClr val="CBD5E1"/>
                </a:solidFill>
                <a:latin typeface="Consolas"/>
              </a:rPr>
              <a:t>  if (pattern.test(content)) return FORBIDDEN;</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memory/index.ts:610-619 — heuristics (TRANSIENT branch is</a:t>
            </a:r>
          </a:p>
          <a:p>
            <a:pPr>
              <a:spcAft>
                <a:spcPts val="100"/>
              </a:spcAft>
            </a:pPr>
            <a:r>
              <a:rPr sz="1100">
                <a:solidFill>
                  <a:srgbClr val="94A3B8"/>
                </a:solidFill>
                <a:latin typeface="Consolas"/>
              </a:rPr>
              <a:t>// unreachable today — same regex sits in FORBIDDEN_PATTERNS)</a:t>
            </a:r>
          </a:p>
          <a:p>
            <a:pPr>
              <a:spcAft>
                <a:spcPts val="100"/>
              </a:spcAft>
            </a:pPr>
            <a:r>
              <a:rPr sz="1100">
                <a:solidFill>
                  <a:srgbClr val="CBD5E1"/>
                </a:solidFill>
                <a:latin typeface="Consolas"/>
              </a:rPr>
              <a:t>if (/\b(CI|PR|build) (status|failed|...)\b/i.test(content))</a:t>
            </a:r>
          </a:p>
          <a:p>
            <a:pPr>
              <a:spcAft>
                <a:spcPts val="100"/>
              </a:spcAft>
            </a:pPr>
            <a:r>
              <a:rPr sz="1100">
                <a:solidFill>
                  <a:srgbClr val="CBD5E1"/>
                </a:solidFill>
                <a:latin typeface="Consolas"/>
              </a:rPr>
              <a:t>  memoryClass = 'TRANSIENT';   // dead code via FORBIDDEN overlap</a:t>
            </a:r>
          </a:p>
          <a:p>
            <a:pPr>
              <a:spcAft>
                <a:spcPts val="100"/>
              </a:spcAft>
            </a:pPr>
            <a:r>
              <a:rPr sz="1100">
                <a:solidFill>
                  <a:srgbClr val="CBD5E1"/>
                </a:solidFill>
                <a:latin typeface="Consolas"/>
              </a:rPr>
              <a:t>else if (/^\s*(always|never|must|do not)\b/i.test(content))</a:t>
            </a:r>
          </a:p>
          <a:p>
            <a:pPr>
              <a:spcAft>
                <a:spcPts val="100"/>
              </a:spcAft>
            </a:pPr>
            <a:r>
              <a:rPr sz="1100">
                <a:solidFill>
                  <a:srgbClr val="CBD5E1"/>
                </a:solidFill>
                <a:latin typeface="Consolas"/>
              </a:rPr>
              <a:t>  memoryClass = 'POLICY';      //  ← our case fires here</a:t>
            </a:r>
          </a:p>
          <a:p>
            <a:pPr>
              <a:spcAft>
                <a:spcPts val="100"/>
              </a:spcAft>
            </a:pPr>
            <a:r>
              <a:rPr sz="1100">
                <a:solidFill>
                  <a:srgbClr val="CBD5E1"/>
                </a:solidFill>
                <a:latin typeface="Consolas"/>
              </a:rPr>
              <a:t>else if (/\b(decision|decided|...)\b/i.test(content))</a:t>
            </a:r>
          </a:p>
          <a:p>
            <a:pPr>
              <a:spcAft>
                <a:spcPts val="100"/>
              </a:spcAft>
            </a:pPr>
            <a:r>
              <a:rPr sz="1100">
                <a:solidFill>
                  <a:srgbClr val="CBD5E1"/>
                </a:solidFill>
                <a:latin typeface="Consolas"/>
              </a:rPr>
              <a:t>  memoryClass = 'DECISION';</a:t>
            </a:r>
          </a:p>
          <a:p>
            <a:pPr>
              <a:spcAft>
                <a:spcPts val="100"/>
              </a:spcAft>
            </a:pPr>
            <a:r>
              <a:rPr sz="1100">
                <a:solidFill>
                  <a:srgbClr val="CBD5E1"/>
                </a:solidFill>
                <a:latin typeface="Consolas"/>
              </a:rPr>
              <a:t>else memoryClass = 'LOCAL';     // fallthrough</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memory/index.ts:640 — load guidance from class</a:t>
            </a:r>
          </a:p>
          <a:p>
            <a:pPr>
              <a:spcAft>
                <a:spcPts val="100"/>
              </a:spcAft>
            </a:pPr>
            <a:r>
              <a:rPr sz="1100">
                <a:solidFill>
                  <a:srgbClr val="CBD5E1"/>
                </a:solidFill>
                <a:latin typeface="Consolas"/>
              </a:rPr>
              <a:t>loadGuidance = loadGuidanceFor('POLICY');  //  → ALWAYS</a:t>
            </a:r>
          </a:p>
        </p:txBody>
      </p:sp>
      <p:sp>
        <p:nvSpPr>
          <p:cNvPr id="31" name="Rounded Rectangle 30"/>
          <p:cNvSpPr/>
          <p:nvPr/>
        </p:nvSpPr>
        <p:spPr>
          <a:xfrm>
            <a:off x="7132320" y="2834639"/>
            <a:ext cx="4480560"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0" y="2834639"/>
            <a:ext cx="448056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96912" y="2880359"/>
            <a:ext cx="4206240" cy="228600"/>
          </a:xfrm>
          <a:prstGeom prst="rect">
            <a:avLst/>
          </a:prstGeom>
          <a:noFill/>
        </p:spPr>
        <p:txBody>
          <a:bodyPr wrap="square" lIns="36576" rIns="36576" tIns="18288" bIns="18288">
            <a:spAutoFit/>
          </a:bodyPr>
          <a:lstStyle/>
          <a:p>
            <a:r>
              <a:rPr sz="1000" b="1">
                <a:solidFill>
                  <a:srgbClr val="38BDF8"/>
                </a:solidFill>
                <a:latin typeface="Segoe UI Semibold"/>
              </a:rPr>
              <a:t>actual CLI output</a:t>
            </a:r>
          </a:p>
        </p:txBody>
      </p:sp>
      <p:sp>
        <p:nvSpPr>
          <p:cNvPr id="34" name="TextBox 33"/>
          <p:cNvSpPr txBox="1"/>
          <p:nvPr/>
        </p:nvSpPr>
        <p:spPr>
          <a:xfrm>
            <a:off x="7296912" y="3127247"/>
            <a:ext cx="4206240" cy="2761488"/>
          </a:xfrm>
          <a:prstGeom prst="rect">
            <a:avLst/>
          </a:prstGeom>
          <a:noFill/>
        </p:spPr>
        <p:txBody>
          <a:bodyPr wrap="square" lIns="36576" rIns="36576">
            <a:spAutoFit/>
          </a:bodyPr>
          <a:lstStyle/>
          <a:p>
            <a:pPr>
              <a:spcAft>
                <a:spcPts val="100"/>
              </a:spcAft>
            </a:pPr>
            <a:r>
              <a:rPr sz="1100">
                <a:solidFill>
                  <a:srgbClr val="F8FAFC"/>
                </a:solidFill>
                <a:latin typeface="Consolas"/>
              </a:rPr>
              <a:t>$ squad memory classify \</a:t>
            </a:r>
          </a:p>
          <a:p>
            <a:pPr>
              <a:spcAft>
                <a:spcPts val="100"/>
              </a:spcAft>
            </a:pPr>
            <a:r>
              <a:rPr sz="1100">
                <a:solidFill>
                  <a:srgbClr val="CBD5E1"/>
                </a:solidFill>
                <a:latin typeface="Consolas"/>
              </a:rPr>
              <a:t>    "Always run the SDK tests \</a:t>
            </a:r>
          </a:p>
          <a:p>
            <a:pPr>
              <a:spcAft>
                <a:spcPts val="100"/>
              </a:spcAft>
            </a:pPr>
            <a:r>
              <a:rPr sz="1100">
                <a:solidFill>
                  <a:srgbClr val="CBD5E1"/>
                </a:solidFill>
                <a:latin typeface="Consolas"/>
              </a:rPr>
              <a:t>     before merging."</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a:p>
            <a:pPr>
              <a:spcAft>
                <a:spcPts val="100"/>
              </a:spcAft>
            </a:pPr>
            <a:r>
              <a:rPr sz="1100">
                <a:solidFill>
                  <a:srgbClr val="CBD5E1"/>
                </a:solidFill>
                <a:latin typeface="Consolas"/>
              </a:rPr>
              <a:t>  "class":         "POLICY",</a:t>
            </a:r>
          </a:p>
          <a:p>
            <a:pPr>
              <a:spcAft>
                <a:spcPts val="100"/>
              </a:spcAft>
            </a:pPr>
            <a:r>
              <a:rPr sz="1100">
                <a:solidFill>
                  <a:srgbClr val="CBD5E1"/>
                </a:solidFill>
                <a:latin typeface="Consolas"/>
              </a:rPr>
              <a:t>  "allowed":       true,</a:t>
            </a:r>
          </a:p>
          <a:p>
            <a:pPr>
              <a:spcAft>
                <a:spcPts val="100"/>
              </a:spcAft>
            </a:pPr>
            <a:r>
              <a:rPr sz="1100">
                <a:solidFill>
                  <a:srgbClr val="CBD5E1"/>
                </a:solidFill>
                <a:latin typeface="Consolas"/>
              </a:rPr>
              <a:t>  "destination":   "decisions/inbox",</a:t>
            </a:r>
          </a:p>
          <a:p>
            <a:pPr>
              <a:spcAft>
                <a:spcPts val="100"/>
              </a:spcAft>
            </a:pPr>
            <a:r>
              <a:rPr sz="1100">
                <a:solidFill>
                  <a:srgbClr val="CBD5E1"/>
                </a:solidFill>
                <a:latin typeface="Consolas"/>
              </a:rPr>
              <a:t>  "loadGuidance":  "ALWAYS",</a:t>
            </a:r>
          </a:p>
          <a:p>
            <a:pPr>
              <a:spcAft>
                <a:spcPts val="100"/>
              </a:spcAft>
            </a:pPr>
            <a:r>
              <a:rPr sz="1100">
                <a:solidFill>
                  <a:srgbClr val="CBD5E1"/>
                </a:solidFill>
                <a:latin typeface="Consolas"/>
              </a:rPr>
              <a:t>  "reason":        "Content is allowed",</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57</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A78BFA"/>
                </a:solidFill>
                <a:latin typeface="Segoe UI Semibold"/>
              </a:rPr>
              <a:t>STAGE 5 — WRITE TO STATE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tool stores it in the right place — actually</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One logical write fans out: orphan branch (durable), git note (commit-scoped), audit (forensics).</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memory/index.ts:667-823 • state-backend.ts:791-840 • TwoLayerBackend (composed)</a:t>
            </a:r>
          </a:p>
        </p:txBody>
      </p:sp>
      <p:sp>
        <p:nvSpPr>
          <p:cNvPr id="9" name="Rounded Rectangle 8"/>
          <p:cNvSpPr/>
          <p:nvPr/>
        </p:nvSpPr>
        <p:spPr>
          <a:xfrm>
            <a:off x="548640"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1. User prompt</a:t>
            </a:r>
          </a:p>
        </p:txBody>
      </p:sp>
      <p:sp>
        <p:nvSpPr>
          <p:cNvPr id="11" name="TextBox 10"/>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2" name="Rounded Rectangle 11"/>
          <p:cNvSpPr/>
          <p:nvPr/>
        </p:nvSpPr>
        <p:spPr>
          <a:xfrm>
            <a:off x="2443429"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2. Coordinator + agents</a:t>
            </a:r>
          </a:p>
        </p:txBody>
      </p:sp>
      <p:sp>
        <p:nvSpPr>
          <p:cNvPr id="14" name="TextBox 13"/>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5" name="Rounded Rectangle 14"/>
          <p:cNvSpPr/>
          <p:nvPr/>
        </p:nvSpPr>
        <p:spPr>
          <a:xfrm>
            <a:off x="4338218"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3. Decision emerges</a:t>
            </a:r>
          </a:p>
        </p:txBody>
      </p:sp>
      <p:sp>
        <p:nvSpPr>
          <p:cNvPr id="17" name="TextBox 16"/>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8" name="Rounded Rectangle 17"/>
          <p:cNvSpPr/>
          <p:nvPr/>
        </p:nvSpPr>
        <p:spPr>
          <a:xfrm>
            <a:off x="6233007"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4. Classify + call tool</a:t>
            </a:r>
          </a:p>
        </p:txBody>
      </p:sp>
      <p:sp>
        <p:nvSpPr>
          <p:cNvPr id="20" name="TextBox 19"/>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A78BFA"/>
                </a:solidFill>
                <a:latin typeface="Segoe UI"/>
              </a:rPr>
              <a:t>→</a:t>
            </a:r>
          </a:p>
        </p:txBody>
      </p:sp>
      <p:sp>
        <p:nvSpPr>
          <p:cNvPr id="21" name="Rounded Rectangle 20"/>
          <p:cNvSpPr/>
          <p:nvPr/>
        </p:nvSpPr>
        <p:spPr>
          <a:xfrm>
            <a:off x="8127796" y="1828799"/>
            <a:ext cx="1620469" cy="777240"/>
          </a:xfrm>
          <a:prstGeom prst="roundRect">
            <a:avLst/>
          </a:prstGeom>
          <a:solidFill>
            <a:srgbClr val="0F2338"/>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7796" y="1828799"/>
            <a:ext cx="1620469" cy="54864"/>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F8FAFC"/>
                </a:solidFill>
                <a:latin typeface="Segoe UI Semibold"/>
              </a:rPr>
              <a:t>5. Write to state</a:t>
            </a:r>
          </a:p>
        </p:txBody>
      </p:sp>
      <p:sp>
        <p:nvSpPr>
          <p:cNvPr id="24" name="TextBox 23"/>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A78BFA"/>
                </a:solidFill>
                <a:latin typeface="Segoe UI"/>
              </a:rPr>
              <a:t>→</a:t>
            </a:r>
          </a:p>
        </p:txBody>
      </p:sp>
      <p:sp>
        <p:nvSpPr>
          <p:cNvPr id="25" name="Rounded Rectangle 24"/>
          <p:cNvSpPr/>
          <p:nvPr/>
        </p:nvSpPr>
        <p:spPr>
          <a:xfrm>
            <a:off x="1002258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6. Verify</a:t>
            </a:r>
          </a:p>
        </p:txBody>
      </p:sp>
      <p:sp>
        <p:nvSpPr>
          <p:cNvPr id="27" name="Rounded Rectangle 26"/>
          <p:cNvSpPr/>
          <p:nvPr/>
        </p:nvSpPr>
        <p:spPr>
          <a:xfrm>
            <a:off x="548640" y="2834639"/>
            <a:ext cx="5852160"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834639"/>
            <a:ext cx="5852160" cy="45720"/>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80359"/>
            <a:ext cx="5577840" cy="228600"/>
          </a:xfrm>
          <a:prstGeom prst="rect">
            <a:avLst/>
          </a:prstGeom>
          <a:noFill/>
        </p:spPr>
        <p:txBody>
          <a:bodyPr wrap="square" lIns="36576" rIns="36576" tIns="18288" bIns="18288">
            <a:spAutoFit/>
          </a:bodyPr>
          <a:lstStyle/>
          <a:p>
            <a:r>
              <a:rPr sz="1000" b="1">
                <a:solidFill>
                  <a:srgbClr val="A78BFA"/>
                </a:solidFill>
                <a:latin typeface="Segoe UI Semibold"/>
              </a:rPr>
              <a:t>memory store → storage adapter</a:t>
            </a:r>
          </a:p>
        </p:txBody>
      </p:sp>
      <p:sp>
        <p:nvSpPr>
          <p:cNvPr id="30" name="TextBox 29"/>
          <p:cNvSpPr txBox="1"/>
          <p:nvPr/>
        </p:nvSpPr>
        <p:spPr>
          <a:xfrm>
            <a:off x="713232" y="3127247"/>
            <a:ext cx="5577840" cy="2761488"/>
          </a:xfrm>
          <a:prstGeom prst="rect">
            <a:avLst/>
          </a:prstGeom>
          <a:noFill/>
        </p:spPr>
        <p:txBody>
          <a:bodyPr wrap="square" lIns="36576" rIns="36576">
            <a:spAutoFit/>
          </a:bodyPr>
          <a:lstStyle/>
          <a:p>
            <a:pPr>
              <a:spcAft>
                <a:spcPts val="100"/>
              </a:spcAft>
            </a:pPr>
            <a:r>
              <a:rPr sz="1100">
                <a:solidFill>
                  <a:srgbClr val="94A3B8"/>
                </a:solidFill>
                <a:latin typeface="Consolas"/>
              </a:rPr>
              <a:t>// SDK call chain (verbatim from memory/index.ts)</a:t>
            </a:r>
          </a:p>
          <a:p>
            <a:pPr>
              <a:spcAft>
                <a:spcPts val="100"/>
              </a:spcAft>
            </a:pPr>
            <a:r>
              <a:rPr sz="1100">
                <a:solidFill>
                  <a:srgbClr val="CBD5E1"/>
                </a:solidFill>
                <a:latin typeface="Consolas"/>
              </a:rPr>
              <a:t>store.write(request)</a:t>
            </a:r>
          </a:p>
          <a:p>
            <a:pPr>
              <a:spcAft>
                <a:spcPts val="100"/>
              </a:spcAft>
            </a:pPr>
            <a:r>
              <a:rPr sz="1100">
                <a:solidFill>
                  <a:srgbClr val="CBD5E1"/>
                </a:solidFill>
                <a:latin typeface="Consolas"/>
              </a:rPr>
              <a:t>  → classification = await this.classify(request)</a:t>
            </a:r>
          </a:p>
          <a:p>
            <a:pPr>
              <a:spcAft>
                <a:spcPts val="100"/>
              </a:spcAft>
            </a:pPr>
            <a:r>
              <a:rPr sz="1100">
                <a:solidFill>
                  <a:srgbClr val="CBD5E1"/>
                </a:solidFill>
                <a:latin typeface="Consolas"/>
              </a:rPr>
              <a:t>  → id = randomUUID()</a:t>
            </a:r>
          </a:p>
          <a:p>
            <a:pPr>
              <a:spcAft>
                <a:spcPts val="100"/>
              </a:spcAft>
            </a:pPr>
            <a:r>
              <a:rPr sz="1100">
                <a:solidFill>
                  <a:srgbClr val="CBD5E1"/>
                </a:solidFill>
                <a:latin typeface="Consolas"/>
              </a:rPr>
              <a:t>  → relPath = destinationPath('POLICY', id, title, author)</a:t>
            </a:r>
          </a:p>
          <a:p>
            <a:pPr>
              <a:spcAft>
                <a:spcPts val="100"/>
              </a:spcAft>
            </a:pPr>
            <a:r>
              <a:rPr sz="1100">
                <a:solidFill>
                  <a:srgbClr val="CBD5E1"/>
                </a:solidFill>
                <a:latin typeface="Consolas"/>
              </a:rPr>
              <a:t>  → content = renderMemoryFile(id, 'POLICY', title, request)</a:t>
            </a:r>
          </a:p>
          <a:p>
            <a:pPr>
              <a:spcAft>
                <a:spcPts val="100"/>
              </a:spcAft>
            </a:pPr>
            <a:r>
              <a:rPr sz="1100">
                <a:solidFill>
                  <a:srgbClr val="CBD5E1"/>
                </a:solidFill>
                <a:latin typeface="Consolas"/>
              </a:rPr>
              <a:t>  → storage.write(fullPath, content)            //  ← (A)</a:t>
            </a:r>
          </a:p>
          <a:p>
            <a:pPr>
              <a:spcAft>
                <a:spcPts val="100"/>
              </a:spcAft>
            </a:pPr>
            <a:r>
              <a:rPr sz="1100">
                <a:solidFill>
                  <a:srgbClr val="CBD5E1"/>
                </a:solidFill>
                <a:latin typeface="Consolas"/>
              </a:rPr>
              <a:t>  → index.push(entry); writeIndex(index)        //  ← (B)</a:t>
            </a:r>
          </a:p>
          <a:p>
            <a:pPr>
              <a:spcAft>
                <a:spcPts val="100"/>
              </a:spcAft>
            </a:pPr>
            <a:r>
              <a:rPr sz="1100">
                <a:solidFill>
                  <a:srgbClr val="CBD5E1"/>
                </a:solidFill>
                <a:latin typeface="Consolas"/>
              </a:rPr>
              <a:t>  → audit({ action: 'write', class: 'POLICY' }) //  ← (C)</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(A) the storage interface is the seam:</a:t>
            </a:r>
          </a:p>
          <a:p>
            <a:pPr>
              <a:spcAft>
                <a:spcPts val="100"/>
              </a:spcAft>
            </a:pPr>
            <a:r>
              <a:rPr sz="1100">
                <a:solidFill>
                  <a:srgbClr val="94A3B8"/>
                </a:solidFill>
                <a:latin typeface="Consolas"/>
              </a:rPr>
              <a:t>//     storage = new StateBackendStorageAdapter(twoLayerBackend, dir)</a:t>
            </a:r>
          </a:p>
          <a:p>
            <a:pPr>
              <a:spcAft>
                <a:spcPts val="100"/>
              </a:spcAft>
            </a:pPr>
            <a:r>
              <a:rPr sz="1100">
                <a:solidFill>
                  <a:srgbClr val="94A3B8"/>
                </a:solidFill>
                <a:latin typeface="Consolas"/>
              </a:rPr>
              <a:t>//     state-backend.ts:798-800 — routes write → backend.write()</a:t>
            </a:r>
          </a:p>
        </p:txBody>
      </p:sp>
      <p:sp>
        <p:nvSpPr>
          <p:cNvPr id="31" name="Rounded Rectangle 30"/>
          <p:cNvSpPr/>
          <p:nvPr/>
        </p:nvSpPr>
        <p:spPr>
          <a:xfrm>
            <a:off x="6583679" y="2834639"/>
            <a:ext cx="5029200" cy="310896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79" y="2834639"/>
            <a:ext cx="50292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48271" y="2880359"/>
            <a:ext cx="4754880" cy="228600"/>
          </a:xfrm>
          <a:prstGeom prst="rect">
            <a:avLst/>
          </a:prstGeom>
          <a:noFill/>
        </p:spPr>
        <p:txBody>
          <a:bodyPr wrap="square" lIns="36576" rIns="36576" tIns="18288" bIns="18288">
            <a:spAutoFit/>
          </a:bodyPr>
          <a:lstStyle/>
          <a:p>
            <a:r>
              <a:rPr sz="1000" b="1">
                <a:solidFill>
                  <a:srgbClr val="34D399"/>
                </a:solidFill>
                <a:latin typeface="Segoe UI Semibold"/>
              </a:rPr>
              <a:t>two layers, one logical write</a:t>
            </a:r>
          </a:p>
        </p:txBody>
      </p:sp>
      <p:sp>
        <p:nvSpPr>
          <p:cNvPr id="34" name="TextBox 33"/>
          <p:cNvSpPr txBox="1"/>
          <p:nvPr/>
        </p:nvSpPr>
        <p:spPr>
          <a:xfrm>
            <a:off x="6748271" y="3127247"/>
            <a:ext cx="4754880" cy="2761488"/>
          </a:xfrm>
          <a:prstGeom prst="rect">
            <a:avLst/>
          </a:prstGeom>
          <a:noFill/>
        </p:spPr>
        <p:txBody>
          <a:bodyPr wrap="square" lIns="36576" rIns="36576">
            <a:spAutoFit/>
          </a:bodyPr>
          <a:lstStyle/>
          <a:p>
            <a:pPr>
              <a:spcAft>
                <a:spcPts val="100"/>
              </a:spcAft>
            </a:pPr>
            <a:r>
              <a:rPr sz="1100">
                <a:solidFill>
                  <a:srgbClr val="94A3B8"/>
                </a:solidFill>
                <a:latin typeface="Consolas"/>
              </a:rPr>
              <a:t>// TwoLayerBackend.write(relPath, content)</a:t>
            </a:r>
          </a:p>
          <a:p>
            <a:pPr>
              <a:spcAft>
                <a:spcPts val="100"/>
              </a:spcAft>
            </a:pPr>
            <a:r>
              <a:rPr sz="1100">
                <a:solidFill>
                  <a:srgbClr val="94A3B8"/>
                </a:solidFill>
                <a:latin typeface="Consolas"/>
              </a:rPr>
              <a:t>//   ← state-backend.ts (composed)</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(1) orphan branch  — durable</a:t>
            </a:r>
          </a:p>
          <a:p>
            <a:pPr>
              <a:spcAft>
                <a:spcPts val="100"/>
              </a:spcAft>
            </a:pPr>
            <a:r>
              <a:rPr sz="1100">
                <a:solidFill>
                  <a:srgbClr val="CBD5E1"/>
                </a:solidFill>
                <a:latin typeface="Consolas"/>
              </a:rPr>
              <a:t>git update-index --add  squad-state</a:t>
            </a:r>
          </a:p>
          <a:p>
            <a:pPr>
              <a:spcAft>
                <a:spcPts val="100"/>
              </a:spcAft>
            </a:pPr>
            <a:r>
              <a:rPr sz="1100">
                <a:solidFill>
                  <a:srgbClr val="CBD5E1"/>
                </a:solidFill>
                <a:latin typeface="Consolas"/>
              </a:rPr>
              <a:t>git commit-tree         squad-state</a:t>
            </a:r>
          </a:p>
          <a:p>
            <a:pPr>
              <a:spcAft>
                <a:spcPts val="100"/>
              </a:spcAft>
            </a:pPr>
            <a:r>
              <a:rPr sz="1100">
                <a:solidFill>
                  <a:srgbClr val="CBD5E1"/>
                </a:solidFill>
                <a:latin typeface="Consolas"/>
              </a:rPr>
              <a:t>git update-ref refs/heads/squad-state</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(2) git note       — best-effort, commit-scoped</a:t>
            </a:r>
          </a:p>
          <a:p>
            <a:pPr>
              <a:spcAft>
                <a:spcPts val="100"/>
              </a:spcAft>
            </a:pPr>
            <a:r>
              <a:rPr sz="1100">
                <a:solidFill>
                  <a:srgbClr val="CBD5E1"/>
                </a:solidFill>
                <a:latin typeface="Consolas"/>
              </a:rPr>
              <a:t>git notes --ref=refs/notes/squad add \</a:t>
            </a:r>
          </a:p>
          <a:p>
            <a:pPr>
              <a:spcAft>
                <a:spcPts val="100"/>
              </a:spcAft>
            </a:pPr>
            <a:r>
              <a:rPr sz="1100">
                <a:solidFill>
                  <a:srgbClr val="CBD5E1"/>
                </a:solidFill>
                <a:latin typeface="Consolas"/>
              </a:rPr>
              <a:t>  -F &lt;classification-json&gt;</a:t>
            </a:r>
          </a:p>
          <a:p>
            <a:pPr>
              <a:spcAft>
                <a:spcPts val="100"/>
              </a:spcAft>
            </a:pPr>
            <a:r>
              <a:rPr sz="1100">
                <a:solidFill>
                  <a:srgbClr val="CBD5E1"/>
                </a:solidFill>
                <a:latin typeface="Consolas"/>
              </a:rPr>
              <a:t> </a:t>
            </a:r>
          </a:p>
          <a:p>
            <a:pPr>
              <a:spcAft>
                <a:spcPts val="100"/>
              </a:spcAft>
            </a:pPr>
            <a:r>
              <a:rPr sz="1100">
                <a:solidFill>
                  <a:srgbClr val="94A3B8"/>
                </a:solidFill>
                <a:latin typeface="Consolas"/>
              </a:rPr>
              <a:t>// (3) audit log</a:t>
            </a:r>
          </a:p>
          <a:p>
            <a:pPr>
              <a:spcAft>
                <a:spcPts val="100"/>
              </a:spcAft>
            </a:pPr>
            <a:r>
              <a:rPr sz="1100">
                <a:solidFill>
                  <a:srgbClr val="CBD5E1"/>
                </a:solidFill>
                <a:latin typeface="Consolas"/>
              </a:rPr>
              <a:t>.squad/memory/audit.jsonl  ← redacted entry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58</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4D399"/>
                </a:solidFill>
                <a:latin typeface="Segoe UI Semibold"/>
              </a:rPr>
              <a:t>STAGE 6 — VERIFY</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Four commands prove the write actually landed</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Working tree, orphan branch, git note, audit log — each tells a different part of the truth.</a:t>
            </a:r>
          </a:p>
        </p:txBody>
      </p:sp>
      <p:sp>
        <p:nvSpPr>
          <p:cNvPr id="8" name="TextBox 7"/>
          <p:cNvSpPr txBox="1"/>
          <p:nvPr/>
        </p:nvSpPr>
        <p:spPr>
          <a:xfrm>
            <a:off x="548640" y="6492240"/>
            <a:ext cx="11094415" cy="274320"/>
          </a:xfrm>
          <a:prstGeom prst="rect">
            <a:avLst/>
          </a:prstGeom>
          <a:noFill/>
        </p:spPr>
        <p:txBody>
          <a:bodyPr wrap="square" lIns="36576" rIns="36576" tIns="18288" bIns="18288">
            <a:spAutoFit/>
          </a:bodyPr>
          <a:lstStyle/>
          <a:p>
            <a:r>
              <a:rPr sz="1000" b="0">
                <a:solidFill>
                  <a:srgbClr val="94A3B8"/>
                </a:solidFill>
                <a:latin typeface="Consolas"/>
              </a:rPr>
              <a:t>Source: git status • git show squad-state • git notes refs/notes/squad • squad memory audit</a:t>
            </a:r>
          </a:p>
        </p:txBody>
      </p:sp>
      <p:sp>
        <p:nvSpPr>
          <p:cNvPr id="9" name="Rounded Rectangle 8"/>
          <p:cNvSpPr/>
          <p:nvPr/>
        </p:nvSpPr>
        <p:spPr>
          <a:xfrm>
            <a:off x="548640"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1. User prompt</a:t>
            </a:r>
          </a:p>
        </p:txBody>
      </p:sp>
      <p:sp>
        <p:nvSpPr>
          <p:cNvPr id="11" name="TextBox 10"/>
          <p:cNvSpPr txBox="1"/>
          <p:nvPr/>
        </p:nvSpPr>
        <p:spPr>
          <a:xfrm>
            <a:off x="2169109"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2" name="Rounded Rectangle 11"/>
          <p:cNvSpPr/>
          <p:nvPr/>
        </p:nvSpPr>
        <p:spPr>
          <a:xfrm>
            <a:off x="2443429"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89149"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2. Coordinator + agents</a:t>
            </a:r>
          </a:p>
        </p:txBody>
      </p:sp>
      <p:sp>
        <p:nvSpPr>
          <p:cNvPr id="14" name="TextBox 13"/>
          <p:cNvSpPr txBox="1"/>
          <p:nvPr/>
        </p:nvSpPr>
        <p:spPr>
          <a:xfrm>
            <a:off x="4063898"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5" name="Rounded Rectangle 14"/>
          <p:cNvSpPr/>
          <p:nvPr/>
        </p:nvSpPr>
        <p:spPr>
          <a:xfrm>
            <a:off x="4338218"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938"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3. Decision emerges</a:t>
            </a:r>
          </a:p>
        </p:txBody>
      </p:sp>
      <p:sp>
        <p:nvSpPr>
          <p:cNvPr id="17" name="TextBox 16"/>
          <p:cNvSpPr txBox="1"/>
          <p:nvPr/>
        </p:nvSpPr>
        <p:spPr>
          <a:xfrm>
            <a:off x="5958687"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18" name="Rounded Rectangle 17"/>
          <p:cNvSpPr/>
          <p:nvPr/>
        </p:nvSpPr>
        <p:spPr>
          <a:xfrm>
            <a:off x="6233007"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8727"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4. Classify + call tool</a:t>
            </a:r>
          </a:p>
        </p:txBody>
      </p:sp>
      <p:sp>
        <p:nvSpPr>
          <p:cNvPr id="20" name="TextBox 19"/>
          <p:cNvSpPr txBox="1"/>
          <p:nvPr/>
        </p:nvSpPr>
        <p:spPr>
          <a:xfrm>
            <a:off x="7853476" y="1828799"/>
            <a:ext cx="274320" cy="777240"/>
          </a:xfrm>
          <a:prstGeom prst="rect">
            <a:avLst/>
          </a:prstGeom>
          <a:noFill/>
        </p:spPr>
        <p:txBody>
          <a:bodyPr wrap="square" lIns="36576" rIns="36576" tIns="18288" bIns="18288" anchor="ctr">
            <a:spAutoFit/>
          </a:bodyPr>
          <a:lstStyle/>
          <a:p>
            <a:pPr algn="ctr"/>
            <a:r>
              <a:rPr sz="2200" b="1">
                <a:solidFill>
                  <a:srgbClr val="94A3B8"/>
                </a:solidFill>
                <a:latin typeface="Segoe UI"/>
              </a:rPr>
              <a:t>→</a:t>
            </a:r>
          </a:p>
        </p:txBody>
      </p:sp>
      <p:sp>
        <p:nvSpPr>
          <p:cNvPr id="21" name="Rounded Rectangle 20"/>
          <p:cNvSpPr/>
          <p:nvPr/>
        </p:nvSpPr>
        <p:spPr>
          <a:xfrm>
            <a:off x="8127796" y="1828799"/>
            <a:ext cx="1620469" cy="777240"/>
          </a:xfrm>
          <a:prstGeom prst="roundRect">
            <a:avLst/>
          </a:prstGeom>
          <a:solidFill>
            <a:srgbClr val="0A182A"/>
          </a:solidFill>
          <a:ln w="9525">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3516" y="1901951"/>
            <a:ext cx="1529029" cy="704088"/>
          </a:xfrm>
          <a:prstGeom prst="rect">
            <a:avLst/>
          </a:prstGeom>
          <a:noFill/>
        </p:spPr>
        <p:txBody>
          <a:bodyPr wrap="square" lIns="36576" rIns="36576" tIns="18288" bIns="18288" anchor="ctr">
            <a:spAutoFit/>
          </a:bodyPr>
          <a:lstStyle/>
          <a:p>
            <a:pPr algn="ctr"/>
            <a:r>
              <a:rPr sz="1100" b="1">
                <a:solidFill>
                  <a:srgbClr val="94A3B8"/>
                </a:solidFill>
                <a:latin typeface="Segoe UI Semibold"/>
              </a:rPr>
              <a:t>5. Write to state</a:t>
            </a:r>
          </a:p>
        </p:txBody>
      </p:sp>
      <p:sp>
        <p:nvSpPr>
          <p:cNvPr id="23" name="TextBox 22"/>
          <p:cNvSpPr txBox="1"/>
          <p:nvPr/>
        </p:nvSpPr>
        <p:spPr>
          <a:xfrm>
            <a:off x="9748266" y="1828799"/>
            <a:ext cx="274320" cy="777240"/>
          </a:xfrm>
          <a:prstGeom prst="rect">
            <a:avLst/>
          </a:prstGeom>
          <a:noFill/>
        </p:spPr>
        <p:txBody>
          <a:bodyPr wrap="square" lIns="36576" rIns="36576" tIns="18288" bIns="18288" anchor="ctr">
            <a:spAutoFit/>
          </a:bodyPr>
          <a:lstStyle/>
          <a:p>
            <a:pPr algn="ctr"/>
            <a:r>
              <a:rPr sz="2200" b="1">
                <a:solidFill>
                  <a:srgbClr val="34D399"/>
                </a:solidFill>
                <a:latin typeface="Segoe UI"/>
              </a:rPr>
              <a:t>→</a:t>
            </a:r>
          </a:p>
        </p:txBody>
      </p:sp>
      <p:sp>
        <p:nvSpPr>
          <p:cNvPr id="24" name="Rounded Rectangle 23"/>
          <p:cNvSpPr/>
          <p:nvPr/>
        </p:nvSpPr>
        <p:spPr>
          <a:xfrm>
            <a:off x="10022586" y="1828799"/>
            <a:ext cx="1620469" cy="777240"/>
          </a:xfrm>
          <a:prstGeom prst="roundRect">
            <a:avLst/>
          </a:prstGeom>
          <a:solidFill>
            <a:srgbClr val="0F2338"/>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022586" y="1828799"/>
            <a:ext cx="1620469" cy="54864"/>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68306" y="1901951"/>
            <a:ext cx="1529029" cy="704088"/>
          </a:xfrm>
          <a:prstGeom prst="rect">
            <a:avLst/>
          </a:prstGeom>
          <a:noFill/>
        </p:spPr>
        <p:txBody>
          <a:bodyPr wrap="square" lIns="36576" rIns="36576" tIns="18288" bIns="18288" anchor="ctr">
            <a:spAutoFit/>
          </a:bodyPr>
          <a:lstStyle/>
          <a:p>
            <a:pPr algn="ctr"/>
            <a:r>
              <a:rPr sz="1100" b="1">
                <a:solidFill>
                  <a:srgbClr val="F8FAFC"/>
                </a:solidFill>
                <a:latin typeface="Segoe UI Semibold"/>
              </a:rPr>
              <a:t>6. Verify</a:t>
            </a:r>
          </a:p>
        </p:txBody>
      </p:sp>
      <p:sp>
        <p:nvSpPr>
          <p:cNvPr id="27" name="Rounded Rectangle 26"/>
          <p:cNvSpPr/>
          <p:nvPr/>
        </p:nvSpPr>
        <p:spPr>
          <a:xfrm>
            <a:off x="548640" y="2834639"/>
            <a:ext cx="11094415" cy="338328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834639"/>
            <a:ext cx="11094415"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80359"/>
            <a:ext cx="10820095" cy="228600"/>
          </a:xfrm>
          <a:prstGeom prst="rect">
            <a:avLst/>
          </a:prstGeom>
          <a:noFill/>
        </p:spPr>
        <p:txBody>
          <a:bodyPr wrap="square" lIns="36576" rIns="36576" tIns="18288" bIns="18288">
            <a:spAutoFit/>
          </a:bodyPr>
          <a:lstStyle/>
          <a:p>
            <a:r>
              <a:rPr sz="1000" b="1">
                <a:solidFill>
                  <a:srgbClr val="34D399"/>
                </a:solidFill>
                <a:latin typeface="Segoe UI Semibold"/>
              </a:rPr>
              <a:t>four commands. four real artifacts.</a:t>
            </a:r>
          </a:p>
        </p:txBody>
      </p:sp>
      <p:sp>
        <p:nvSpPr>
          <p:cNvPr id="30" name="TextBox 29"/>
          <p:cNvSpPr txBox="1"/>
          <p:nvPr/>
        </p:nvSpPr>
        <p:spPr>
          <a:xfrm>
            <a:off x="713232" y="3127247"/>
            <a:ext cx="10820095" cy="3035808"/>
          </a:xfrm>
          <a:prstGeom prst="rect">
            <a:avLst/>
          </a:prstGeom>
          <a:noFill/>
        </p:spPr>
        <p:txBody>
          <a:bodyPr wrap="square" lIns="36576" rIns="36576">
            <a:spAutoFit/>
          </a:bodyPr>
          <a:lstStyle/>
          <a:p>
            <a:pPr>
              <a:spcAft>
                <a:spcPts val="100"/>
              </a:spcAft>
            </a:pPr>
            <a:r>
              <a:rPr sz="1100">
                <a:solidFill>
                  <a:srgbClr val="F8FAFC"/>
                </a:solidFill>
                <a:latin typeface="Consolas"/>
              </a:rPr>
              <a:t># (1) working tree is still clean — no decisions diff in your PR</a:t>
            </a:r>
          </a:p>
          <a:p>
            <a:pPr>
              <a:spcAft>
                <a:spcPts val="100"/>
              </a:spcAft>
            </a:pPr>
            <a:r>
              <a:rPr sz="1100">
                <a:solidFill>
                  <a:srgbClr val="F8FAFC"/>
                </a:solidFill>
                <a:latin typeface="Consolas"/>
              </a:rPr>
              <a:t>$ git status -s</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(2) durable store on the orphan branch carries the fact</a:t>
            </a:r>
          </a:p>
          <a:p>
            <a:pPr>
              <a:spcAft>
                <a:spcPts val="100"/>
              </a:spcAft>
            </a:pPr>
            <a:r>
              <a:rPr sz="1100">
                <a:solidFill>
                  <a:srgbClr val="F8FAFC"/>
                </a:solidFill>
                <a:latin typeface="Consolas"/>
              </a:rPr>
              <a:t>$ git show squad-state:decisions/inbox/coordinator-run-sdk-tests-*.md</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class: POLICY</a:t>
            </a:r>
          </a:p>
          <a:p>
            <a:pPr>
              <a:spcAft>
                <a:spcPts val="100"/>
              </a:spcAft>
            </a:pPr>
            <a:r>
              <a:rPr sz="1100">
                <a:solidFill>
                  <a:srgbClr val="CBD5E1"/>
                </a:solidFill>
                <a:latin typeface="Consolas"/>
              </a:rPr>
              <a:t>  loadGuidance: ALWAYS</a:t>
            </a:r>
          </a:p>
          <a:p>
            <a:pPr>
              <a:spcAft>
                <a:spcPts val="100"/>
              </a:spcAft>
            </a:pPr>
            <a:r>
              <a:rPr sz="1100">
                <a:solidFill>
                  <a:srgbClr val="CBD5E1"/>
                </a:solidFill>
                <a:latin typeface="Consolas"/>
              </a:rPr>
              <a:t>  ---</a:t>
            </a:r>
          </a:p>
          <a:p>
            <a:pPr>
              <a:spcAft>
                <a:spcPts val="100"/>
              </a:spcAft>
            </a:pPr>
            <a:r>
              <a:rPr sz="1100">
                <a:solidFill>
                  <a:srgbClr val="CBD5E1"/>
                </a:solidFill>
                <a:latin typeface="Consolas"/>
              </a:rPr>
              <a:t>  Always run the SDK tests before merging.</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(3) the commit you JUST made carries the classification as a note</a:t>
            </a:r>
          </a:p>
          <a:p>
            <a:pPr>
              <a:spcAft>
                <a:spcPts val="100"/>
              </a:spcAft>
            </a:pPr>
            <a:r>
              <a:rPr sz="1100">
                <a:solidFill>
                  <a:srgbClr val="F8FAFC"/>
                </a:solidFill>
                <a:latin typeface="Consolas"/>
              </a:rPr>
              <a:t>$ git notes --ref=refs/notes/squad show HEAD</a:t>
            </a:r>
          </a:p>
          <a:p>
            <a:pPr>
              <a:spcAft>
                <a:spcPts val="100"/>
              </a:spcAft>
            </a:pPr>
            <a:r>
              <a:rPr sz="1100">
                <a:solidFill>
                  <a:srgbClr val="CBD5E1"/>
                </a:solidFill>
                <a:latin typeface="Consolas"/>
              </a:rPr>
              <a:t>  { "class": "POLICY", "loadGuidance": "ALWAYS", "id": "e96f..." }</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(4) audit log records who wrote it and why</a:t>
            </a:r>
          </a:p>
          <a:p>
            <a:pPr>
              <a:spcAft>
                <a:spcPts val="100"/>
              </a:spcAft>
            </a:pPr>
            <a:r>
              <a:rPr sz="1100">
                <a:solidFill>
                  <a:srgbClr val="F8FAFC"/>
                </a:solidFill>
                <a:latin typeface="Consolas"/>
              </a:rPr>
              <a:t>$ squad memory audit | tail -1</a:t>
            </a:r>
          </a:p>
          <a:p>
            <a:pPr>
              <a:spcAft>
                <a:spcPts val="100"/>
              </a:spcAft>
            </a:pPr>
            <a:r>
              <a:rPr sz="1100">
                <a:solidFill>
                  <a:srgbClr val="CBD5E1"/>
                </a:solidFill>
                <a:latin typeface="Consolas"/>
              </a:rPr>
              <a:t>  { "action":"write", "class":"POLICY", "actor":"coordinator", ...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59</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RECAP</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Six stages, one durable sentence</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Memory becomes infrastructure when each stage is observable and replayable.</a:t>
            </a:r>
          </a:p>
        </p:txBody>
      </p:sp>
      <p:sp>
        <p:nvSpPr>
          <p:cNvPr id="8" name="Rounded Rectangle 7"/>
          <p:cNvSpPr/>
          <p:nvPr/>
        </p:nvSpPr>
        <p:spPr>
          <a:xfrm>
            <a:off x="548640" y="187451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74519"/>
            <a:ext cx="1529029" cy="7772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1. User prompt</a:t>
            </a:r>
          </a:p>
        </p:txBody>
      </p:sp>
      <p:sp>
        <p:nvSpPr>
          <p:cNvPr id="10" name="TextBox 9"/>
          <p:cNvSpPr txBox="1"/>
          <p:nvPr/>
        </p:nvSpPr>
        <p:spPr>
          <a:xfrm>
            <a:off x="2169109" y="187451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1" name="Rounded Rectangle 10"/>
          <p:cNvSpPr/>
          <p:nvPr/>
        </p:nvSpPr>
        <p:spPr>
          <a:xfrm>
            <a:off x="2443429" y="187451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89149" y="1874519"/>
            <a:ext cx="1529029" cy="7772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2. Coordinator + agents</a:t>
            </a:r>
          </a:p>
        </p:txBody>
      </p:sp>
      <p:sp>
        <p:nvSpPr>
          <p:cNvPr id="13" name="TextBox 12"/>
          <p:cNvSpPr txBox="1"/>
          <p:nvPr/>
        </p:nvSpPr>
        <p:spPr>
          <a:xfrm>
            <a:off x="4063898" y="187451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4" name="Rounded Rectangle 13"/>
          <p:cNvSpPr/>
          <p:nvPr/>
        </p:nvSpPr>
        <p:spPr>
          <a:xfrm>
            <a:off x="4338218" y="187451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3938" y="1874519"/>
            <a:ext cx="1529029" cy="7772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3. Decision emerges</a:t>
            </a:r>
          </a:p>
        </p:txBody>
      </p:sp>
      <p:sp>
        <p:nvSpPr>
          <p:cNvPr id="16" name="TextBox 15"/>
          <p:cNvSpPr txBox="1"/>
          <p:nvPr/>
        </p:nvSpPr>
        <p:spPr>
          <a:xfrm>
            <a:off x="5958687" y="187451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17" name="Rounded Rectangle 16"/>
          <p:cNvSpPr/>
          <p:nvPr/>
        </p:nvSpPr>
        <p:spPr>
          <a:xfrm>
            <a:off x="6233007" y="187451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8727" y="1874519"/>
            <a:ext cx="1529029" cy="7772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4. Classify + call tool</a:t>
            </a:r>
          </a:p>
        </p:txBody>
      </p:sp>
      <p:sp>
        <p:nvSpPr>
          <p:cNvPr id="19" name="TextBox 18"/>
          <p:cNvSpPr txBox="1"/>
          <p:nvPr/>
        </p:nvSpPr>
        <p:spPr>
          <a:xfrm>
            <a:off x="7853476" y="187451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20" name="Rounded Rectangle 19"/>
          <p:cNvSpPr/>
          <p:nvPr/>
        </p:nvSpPr>
        <p:spPr>
          <a:xfrm>
            <a:off x="8127796" y="187451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3516" y="1874519"/>
            <a:ext cx="1529029" cy="7772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5. Write to state</a:t>
            </a:r>
          </a:p>
        </p:txBody>
      </p:sp>
      <p:sp>
        <p:nvSpPr>
          <p:cNvPr id="22" name="TextBox 21"/>
          <p:cNvSpPr txBox="1"/>
          <p:nvPr/>
        </p:nvSpPr>
        <p:spPr>
          <a:xfrm>
            <a:off x="9748266" y="1874519"/>
            <a:ext cx="274320" cy="777240"/>
          </a:xfrm>
          <a:prstGeom prst="rect">
            <a:avLst/>
          </a:prstGeom>
          <a:noFill/>
        </p:spPr>
        <p:txBody>
          <a:bodyPr wrap="square" lIns="36576" rIns="36576" tIns="18288" bIns="18288" anchor="ctr">
            <a:spAutoFit/>
          </a:bodyPr>
          <a:lstStyle/>
          <a:p>
            <a:pPr algn="ctr"/>
            <a:r>
              <a:rPr sz="2200" b="1">
                <a:solidFill>
                  <a:srgbClr val="38BDF8"/>
                </a:solidFill>
                <a:latin typeface="Segoe UI"/>
              </a:rPr>
              <a:t>→</a:t>
            </a:r>
          </a:p>
        </p:txBody>
      </p:sp>
      <p:sp>
        <p:nvSpPr>
          <p:cNvPr id="23" name="Rounded Rectangle 22"/>
          <p:cNvSpPr/>
          <p:nvPr/>
        </p:nvSpPr>
        <p:spPr>
          <a:xfrm>
            <a:off x="10022586" y="1874519"/>
            <a:ext cx="1620469" cy="777240"/>
          </a:xfrm>
          <a:prstGeom prst="roundRect">
            <a:avLst/>
          </a:prstGeom>
          <a:solidFill>
            <a:srgbClr val="0F233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68306" y="1874519"/>
            <a:ext cx="1529029" cy="777240"/>
          </a:xfrm>
          <a:prstGeom prst="rect">
            <a:avLst/>
          </a:prstGeom>
          <a:noFill/>
        </p:spPr>
        <p:txBody>
          <a:bodyPr wrap="square" lIns="36576" rIns="36576" tIns="18288" bIns="18288" anchor="ctr">
            <a:spAutoFit/>
          </a:bodyPr>
          <a:lstStyle/>
          <a:p>
            <a:pPr algn="ctr"/>
            <a:r>
              <a:rPr sz="1200" b="1">
                <a:solidFill>
                  <a:srgbClr val="F8FAFC"/>
                </a:solidFill>
                <a:latin typeface="Segoe UI Semibold"/>
              </a:rPr>
              <a:t>6. Verify</a:t>
            </a:r>
          </a:p>
        </p:txBody>
      </p:sp>
      <p:sp>
        <p:nvSpPr>
          <p:cNvPr id="25" name="Rounded Rectangle 24"/>
          <p:cNvSpPr/>
          <p:nvPr/>
        </p:nvSpPr>
        <p:spPr>
          <a:xfrm>
            <a:off x="548640" y="2834639"/>
            <a:ext cx="1711909" cy="26517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2834639"/>
            <a:ext cx="17119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2999232"/>
            <a:ext cx="1529029" cy="457200"/>
          </a:xfrm>
          <a:prstGeom prst="rect">
            <a:avLst/>
          </a:prstGeom>
          <a:noFill/>
        </p:spPr>
        <p:txBody>
          <a:bodyPr wrap="square" lIns="36576" rIns="36576" tIns="18288" bIns="18288">
            <a:spAutoFit/>
          </a:bodyPr>
          <a:lstStyle/>
          <a:p>
            <a:pPr algn="ctr"/>
            <a:r>
              <a:rPr sz="2000" b="1">
                <a:solidFill>
                  <a:srgbClr val="38BDF8"/>
                </a:solidFill>
                <a:latin typeface="Segoe UI"/>
              </a:rPr>
              <a:t>✎</a:t>
            </a:r>
          </a:p>
        </p:txBody>
      </p:sp>
      <p:sp>
        <p:nvSpPr>
          <p:cNvPr id="28" name="TextBox 27"/>
          <p:cNvSpPr txBox="1"/>
          <p:nvPr/>
        </p:nvSpPr>
        <p:spPr>
          <a:xfrm>
            <a:off x="640080" y="3520439"/>
            <a:ext cx="1529029" cy="457200"/>
          </a:xfrm>
          <a:prstGeom prst="rect">
            <a:avLst/>
          </a:prstGeom>
          <a:noFill/>
        </p:spPr>
        <p:txBody>
          <a:bodyPr wrap="square" lIns="36576" rIns="36576" tIns="18288" bIns="18288">
            <a:spAutoFit/>
          </a:bodyPr>
          <a:lstStyle/>
          <a:p>
            <a:pPr algn="ctr"/>
            <a:r>
              <a:rPr sz="1500" b="1">
                <a:solidFill>
                  <a:srgbClr val="F8FAFC"/>
                </a:solidFill>
                <a:latin typeface="Segoe UI"/>
              </a:rPr>
              <a:t>Prompt</a:t>
            </a:r>
          </a:p>
        </p:txBody>
      </p:sp>
      <p:sp>
        <p:nvSpPr>
          <p:cNvPr id="29" name="TextBox 28"/>
          <p:cNvSpPr txBox="1"/>
          <p:nvPr/>
        </p:nvSpPr>
        <p:spPr>
          <a:xfrm>
            <a:off x="685800" y="4069079"/>
            <a:ext cx="1437589" cy="1280160"/>
          </a:xfrm>
          <a:prstGeom prst="rect">
            <a:avLst/>
          </a:prstGeom>
          <a:noFill/>
        </p:spPr>
        <p:txBody>
          <a:bodyPr wrap="square" lIns="36576" rIns="36576" tIns="18288" bIns="18288">
            <a:spAutoFit/>
          </a:bodyPr>
          <a:lstStyle/>
          <a:p>
            <a:pPr algn="ctr"/>
            <a:r>
              <a:rPr sz="1200" b="0">
                <a:solidFill>
                  <a:srgbClr val="CBD5E1"/>
                </a:solidFill>
                <a:latin typeface="Segoe UI"/>
              </a:rPr>
              <a:t>Plain natural language. The trigger.</a:t>
            </a:r>
          </a:p>
        </p:txBody>
      </p:sp>
      <p:sp>
        <p:nvSpPr>
          <p:cNvPr id="30" name="Rounded Rectangle 29"/>
          <p:cNvSpPr/>
          <p:nvPr/>
        </p:nvSpPr>
        <p:spPr>
          <a:xfrm>
            <a:off x="2425141" y="2834639"/>
            <a:ext cx="1711909" cy="26517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425141" y="2834639"/>
            <a:ext cx="17119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6581" y="2999232"/>
            <a:ext cx="1529029" cy="457200"/>
          </a:xfrm>
          <a:prstGeom prst="rect">
            <a:avLst/>
          </a:prstGeom>
          <a:noFill/>
        </p:spPr>
        <p:txBody>
          <a:bodyPr wrap="square" lIns="36576" rIns="36576" tIns="18288" bIns="18288">
            <a:spAutoFit/>
          </a:bodyPr>
          <a:lstStyle/>
          <a:p>
            <a:pPr algn="ctr"/>
            <a:r>
              <a:rPr sz="2000" b="1">
                <a:solidFill>
                  <a:srgbClr val="38BDF8"/>
                </a:solidFill>
                <a:latin typeface="Segoe UI"/>
              </a:rPr>
              <a:t>☸</a:t>
            </a:r>
          </a:p>
        </p:txBody>
      </p:sp>
      <p:sp>
        <p:nvSpPr>
          <p:cNvPr id="33" name="TextBox 32"/>
          <p:cNvSpPr txBox="1"/>
          <p:nvPr/>
        </p:nvSpPr>
        <p:spPr>
          <a:xfrm>
            <a:off x="2516581" y="3520439"/>
            <a:ext cx="1529029" cy="457200"/>
          </a:xfrm>
          <a:prstGeom prst="rect">
            <a:avLst/>
          </a:prstGeom>
          <a:noFill/>
        </p:spPr>
        <p:txBody>
          <a:bodyPr wrap="square" lIns="36576" rIns="36576" tIns="18288" bIns="18288">
            <a:spAutoFit/>
          </a:bodyPr>
          <a:lstStyle/>
          <a:p>
            <a:pPr algn="ctr"/>
            <a:r>
              <a:rPr sz="1500" b="1">
                <a:solidFill>
                  <a:srgbClr val="F8FAFC"/>
                </a:solidFill>
                <a:latin typeface="Segoe UI"/>
              </a:rPr>
              <a:t>Coordinator</a:t>
            </a:r>
          </a:p>
        </p:txBody>
      </p:sp>
      <p:sp>
        <p:nvSpPr>
          <p:cNvPr id="34" name="TextBox 33"/>
          <p:cNvSpPr txBox="1"/>
          <p:nvPr/>
        </p:nvSpPr>
        <p:spPr>
          <a:xfrm>
            <a:off x="2562301" y="4069079"/>
            <a:ext cx="1437589" cy="1280160"/>
          </a:xfrm>
          <a:prstGeom prst="rect">
            <a:avLst/>
          </a:prstGeom>
          <a:noFill/>
        </p:spPr>
        <p:txBody>
          <a:bodyPr wrap="square" lIns="36576" rIns="36576" tIns="18288" bIns="18288">
            <a:spAutoFit/>
          </a:bodyPr>
          <a:lstStyle/>
          <a:p>
            <a:pPr algn="ctr"/>
            <a:r>
              <a:rPr sz="1200" b="0">
                <a:solidFill>
                  <a:srgbClr val="CBD5E1"/>
                </a:solidFill>
                <a:latin typeface="Segoe UI"/>
              </a:rPr>
              <a:t>Directive signal → pre-routing hook.</a:t>
            </a:r>
          </a:p>
        </p:txBody>
      </p:sp>
      <p:sp>
        <p:nvSpPr>
          <p:cNvPr id="35" name="Rounded Rectangle 34"/>
          <p:cNvSpPr/>
          <p:nvPr/>
        </p:nvSpPr>
        <p:spPr>
          <a:xfrm>
            <a:off x="4301642" y="2834639"/>
            <a:ext cx="1711909" cy="26517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01642" y="2834639"/>
            <a:ext cx="1711909"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3082" y="2999232"/>
            <a:ext cx="1529029" cy="457200"/>
          </a:xfrm>
          <a:prstGeom prst="rect">
            <a:avLst/>
          </a:prstGeom>
          <a:noFill/>
        </p:spPr>
        <p:txBody>
          <a:bodyPr wrap="square" lIns="36576" rIns="36576" tIns="18288" bIns="18288">
            <a:spAutoFit/>
          </a:bodyPr>
          <a:lstStyle/>
          <a:p>
            <a:pPr algn="ctr"/>
            <a:r>
              <a:rPr sz="2000" b="1">
                <a:solidFill>
                  <a:srgbClr val="FBBF24"/>
                </a:solidFill>
                <a:latin typeface="Segoe UI"/>
              </a:rPr>
              <a:t>⚑</a:t>
            </a:r>
          </a:p>
        </p:txBody>
      </p:sp>
      <p:sp>
        <p:nvSpPr>
          <p:cNvPr id="38" name="TextBox 37"/>
          <p:cNvSpPr txBox="1"/>
          <p:nvPr/>
        </p:nvSpPr>
        <p:spPr>
          <a:xfrm>
            <a:off x="4393082" y="3520439"/>
            <a:ext cx="1529029" cy="457200"/>
          </a:xfrm>
          <a:prstGeom prst="rect">
            <a:avLst/>
          </a:prstGeom>
          <a:noFill/>
        </p:spPr>
        <p:txBody>
          <a:bodyPr wrap="square" lIns="36576" rIns="36576" tIns="18288" bIns="18288">
            <a:spAutoFit/>
          </a:bodyPr>
          <a:lstStyle/>
          <a:p>
            <a:pPr algn="ctr"/>
            <a:r>
              <a:rPr sz="1500" b="1">
                <a:solidFill>
                  <a:srgbClr val="F8FAFC"/>
                </a:solidFill>
                <a:latin typeface="Segoe UI"/>
              </a:rPr>
              <a:t>Decision</a:t>
            </a:r>
          </a:p>
        </p:txBody>
      </p:sp>
      <p:sp>
        <p:nvSpPr>
          <p:cNvPr id="39" name="TextBox 38"/>
          <p:cNvSpPr txBox="1"/>
          <p:nvPr/>
        </p:nvSpPr>
        <p:spPr>
          <a:xfrm>
            <a:off x="4438802" y="4069079"/>
            <a:ext cx="1437589" cy="1280160"/>
          </a:xfrm>
          <a:prstGeom prst="rect">
            <a:avLst/>
          </a:prstGeom>
          <a:noFill/>
        </p:spPr>
        <p:txBody>
          <a:bodyPr wrap="square" lIns="36576" rIns="36576" tIns="18288" bIns="18288">
            <a:spAutoFit/>
          </a:bodyPr>
          <a:lstStyle/>
          <a:p>
            <a:pPr algn="ctr"/>
            <a:r>
              <a:rPr sz="1200" b="0">
                <a:solidFill>
                  <a:srgbClr val="CBD5E1"/>
                </a:solidFill>
                <a:latin typeface="Segoe UI"/>
              </a:rPr>
              <a:t>Candidate fact — not yet a memory.</a:t>
            </a:r>
          </a:p>
        </p:txBody>
      </p:sp>
      <p:sp>
        <p:nvSpPr>
          <p:cNvPr id="40" name="Rounded Rectangle 39"/>
          <p:cNvSpPr/>
          <p:nvPr/>
        </p:nvSpPr>
        <p:spPr>
          <a:xfrm>
            <a:off x="6178143" y="2834639"/>
            <a:ext cx="1711909" cy="26517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78143" y="2834639"/>
            <a:ext cx="171190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9583" y="2999232"/>
            <a:ext cx="1529029" cy="457200"/>
          </a:xfrm>
          <a:prstGeom prst="rect">
            <a:avLst/>
          </a:prstGeom>
          <a:noFill/>
        </p:spPr>
        <p:txBody>
          <a:bodyPr wrap="square" lIns="36576" rIns="36576" tIns="18288" bIns="18288">
            <a:spAutoFit/>
          </a:bodyPr>
          <a:lstStyle/>
          <a:p>
            <a:pPr algn="ctr"/>
            <a:r>
              <a:rPr sz="2000" b="1">
                <a:solidFill>
                  <a:srgbClr val="34D399"/>
                </a:solidFill>
                <a:latin typeface="Segoe UI"/>
              </a:rPr>
              <a:t>⚡</a:t>
            </a:r>
          </a:p>
        </p:txBody>
      </p:sp>
      <p:sp>
        <p:nvSpPr>
          <p:cNvPr id="43" name="TextBox 42"/>
          <p:cNvSpPr txBox="1"/>
          <p:nvPr/>
        </p:nvSpPr>
        <p:spPr>
          <a:xfrm>
            <a:off x="6269583" y="3520439"/>
            <a:ext cx="1529029" cy="457200"/>
          </a:xfrm>
          <a:prstGeom prst="rect">
            <a:avLst/>
          </a:prstGeom>
          <a:noFill/>
        </p:spPr>
        <p:txBody>
          <a:bodyPr wrap="square" lIns="36576" rIns="36576" tIns="18288" bIns="18288">
            <a:spAutoFit/>
          </a:bodyPr>
          <a:lstStyle/>
          <a:p>
            <a:pPr algn="ctr"/>
            <a:r>
              <a:rPr sz="1500" b="1">
                <a:solidFill>
                  <a:srgbClr val="F8FAFC"/>
                </a:solidFill>
                <a:latin typeface="Segoe UI"/>
              </a:rPr>
              <a:t>Classify</a:t>
            </a:r>
          </a:p>
        </p:txBody>
      </p:sp>
      <p:sp>
        <p:nvSpPr>
          <p:cNvPr id="44" name="TextBox 43"/>
          <p:cNvSpPr txBox="1"/>
          <p:nvPr/>
        </p:nvSpPr>
        <p:spPr>
          <a:xfrm>
            <a:off x="6315303" y="4069079"/>
            <a:ext cx="1437589" cy="1280160"/>
          </a:xfrm>
          <a:prstGeom prst="rect">
            <a:avLst/>
          </a:prstGeom>
          <a:noFill/>
        </p:spPr>
        <p:txBody>
          <a:bodyPr wrap="square" lIns="36576" rIns="36576" tIns="18288" bIns="18288">
            <a:spAutoFit/>
          </a:bodyPr>
          <a:lstStyle/>
          <a:p>
            <a:pPr algn="ctr"/>
            <a:r>
              <a:rPr sz="1200" b="0">
                <a:solidFill>
                  <a:srgbClr val="CBD5E1"/>
                </a:solidFill>
                <a:latin typeface="Segoe UI"/>
              </a:rPr>
              <a:t>Real regex → POLICY → ALWAYS.</a:t>
            </a:r>
          </a:p>
        </p:txBody>
      </p:sp>
      <p:sp>
        <p:nvSpPr>
          <p:cNvPr id="45" name="Rounded Rectangle 44"/>
          <p:cNvSpPr/>
          <p:nvPr/>
        </p:nvSpPr>
        <p:spPr>
          <a:xfrm>
            <a:off x="8054644" y="2834639"/>
            <a:ext cx="1711909" cy="26517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54644" y="2834639"/>
            <a:ext cx="171190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46084" y="2999232"/>
            <a:ext cx="1529029" cy="457200"/>
          </a:xfrm>
          <a:prstGeom prst="rect">
            <a:avLst/>
          </a:prstGeom>
          <a:noFill/>
        </p:spPr>
        <p:txBody>
          <a:bodyPr wrap="square" lIns="36576" rIns="36576" tIns="18288" bIns="18288">
            <a:spAutoFit/>
          </a:bodyPr>
          <a:lstStyle/>
          <a:p>
            <a:pPr algn="ctr"/>
            <a:r>
              <a:rPr sz="2000" b="1">
                <a:solidFill>
                  <a:srgbClr val="A78BFA"/>
                </a:solidFill>
                <a:latin typeface="Segoe UI"/>
              </a:rPr>
              <a:t>⚘</a:t>
            </a:r>
          </a:p>
        </p:txBody>
      </p:sp>
      <p:sp>
        <p:nvSpPr>
          <p:cNvPr id="48" name="TextBox 47"/>
          <p:cNvSpPr txBox="1"/>
          <p:nvPr/>
        </p:nvSpPr>
        <p:spPr>
          <a:xfrm>
            <a:off x="8146084" y="3520439"/>
            <a:ext cx="1529029" cy="457200"/>
          </a:xfrm>
          <a:prstGeom prst="rect">
            <a:avLst/>
          </a:prstGeom>
          <a:noFill/>
        </p:spPr>
        <p:txBody>
          <a:bodyPr wrap="square" lIns="36576" rIns="36576" tIns="18288" bIns="18288">
            <a:spAutoFit/>
          </a:bodyPr>
          <a:lstStyle/>
          <a:p>
            <a:pPr algn="ctr"/>
            <a:r>
              <a:rPr sz="1500" b="1">
                <a:solidFill>
                  <a:srgbClr val="F8FAFC"/>
                </a:solidFill>
                <a:latin typeface="Segoe UI"/>
              </a:rPr>
              <a:t>Write</a:t>
            </a:r>
          </a:p>
        </p:txBody>
      </p:sp>
      <p:sp>
        <p:nvSpPr>
          <p:cNvPr id="49" name="TextBox 48"/>
          <p:cNvSpPr txBox="1"/>
          <p:nvPr/>
        </p:nvSpPr>
        <p:spPr>
          <a:xfrm>
            <a:off x="8191804" y="4069079"/>
            <a:ext cx="1437589" cy="1280160"/>
          </a:xfrm>
          <a:prstGeom prst="rect">
            <a:avLst/>
          </a:prstGeom>
          <a:noFill/>
        </p:spPr>
        <p:txBody>
          <a:bodyPr wrap="square" lIns="36576" rIns="36576" tIns="18288" bIns="18288">
            <a:spAutoFit/>
          </a:bodyPr>
          <a:lstStyle/>
          <a:p>
            <a:pPr algn="ctr"/>
            <a:r>
              <a:rPr sz="1200" b="0">
                <a:solidFill>
                  <a:srgbClr val="CBD5E1"/>
                </a:solidFill>
                <a:latin typeface="Segoe UI"/>
              </a:rPr>
              <a:t>Orphan branch + note + audit.</a:t>
            </a:r>
          </a:p>
        </p:txBody>
      </p:sp>
      <p:sp>
        <p:nvSpPr>
          <p:cNvPr id="50" name="Rounded Rectangle 49"/>
          <p:cNvSpPr/>
          <p:nvPr/>
        </p:nvSpPr>
        <p:spPr>
          <a:xfrm>
            <a:off x="9931146" y="2834639"/>
            <a:ext cx="1711909" cy="26517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931146" y="2834639"/>
            <a:ext cx="171190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22586" y="2999232"/>
            <a:ext cx="1529029" cy="457200"/>
          </a:xfrm>
          <a:prstGeom prst="rect">
            <a:avLst/>
          </a:prstGeom>
          <a:noFill/>
        </p:spPr>
        <p:txBody>
          <a:bodyPr wrap="square" lIns="36576" rIns="36576" tIns="18288" bIns="18288">
            <a:spAutoFit/>
          </a:bodyPr>
          <a:lstStyle/>
          <a:p>
            <a:pPr algn="ctr"/>
            <a:r>
              <a:rPr sz="2000" b="1">
                <a:solidFill>
                  <a:srgbClr val="34D399"/>
                </a:solidFill>
                <a:latin typeface="Segoe UI"/>
              </a:rPr>
              <a:t>✅</a:t>
            </a:r>
          </a:p>
        </p:txBody>
      </p:sp>
      <p:sp>
        <p:nvSpPr>
          <p:cNvPr id="53" name="TextBox 52"/>
          <p:cNvSpPr txBox="1"/>
          <p:nvPr/>
        </p:nvSpPr>
        <p:spPr>
          <a:xfrm>
            <a:off x="10022586" y="3520439"/>
            <a:ext cx="1529029" cy="457200"/>
          </a:xfrm>
          <a:prstGeom prst="rect">
            <a:avLst/>
          </a:prstGeom>
          <a:noFill/>
        </p:spPr>
        <p:txBody>
          <a:bodyPr wrap="square" lIns="36576" rIns="36576" tIns="18288" bIns="18288">
            <a:spAutoFit/>
          </a:bodyPr>
          <a:lstStyle/>
          <a:p>
            <a:pPr algn="ctr"/>
            <a:r>
              <a:rPr sz="1500" b="1">
                <a:solidFill>
                  <a:srgbClr val="F8FAFC"/>
                </a:solidFill>
                <a:latin typeface="Segoe UI"/>
              </a:rPr>
              <a:t>Verify</a:t>
            </a:r>
          </a:p>
        </p:txBody>
      </p:sp>
      <p:sp>
        <p:nvSpPr>
          <p:cNvPr id="54" name="TextBox 53"/>
          <p:cNvSpPr txBox="1"/>
          <p:nvPr/>
        </p:nvSpPr>
        <p:spPr>
          <a:xfrm>
            <a:off x="10068306" y="4069079"/>
            <a:ext cx="1437589" cy="1280160"/>
          </a:xfrm>
          <a:prstGeom prst="rect">
            <a:avLst/>
          </a:prstGeom>
          <a:noFill/>
        </p:spPr>
        <p:txBody>
          <a:bodyPr wrap="square" lIns="36576" rIns="36576" tIns="18288" bIns="18288">
            <a:spAutoFit/>
          </a:bodyPr>
          <a:lstStyle/>
          <a:p>
            <a:pPr algn="ctr"/>
            <a:r>
              <a:rPr sz="1200" b="0">
                <a:solidFill>
                  <a:srgbClr val="CBD5E1"/>
                </a:solidFill>
                <a:latin typeface="Segoe UI"/>
              </a:rPr>
              <a:t>Four commands. Four real artifacts.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60</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MATURITY LADDER</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Advanced operating model</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Don't turn everything on at once. Add patterns when the pain appears.</a:t>
            </a:r>
          </a:p>
        </p:txBody>
      </p:sp>
      <p:sp>
        <p:nvSpPr>
          <p:cNvPr id="8" name="Rounded Rectangle 7"/>
          <p:cNvSpPr/>
          <p:nvPr/>
        </p:nvSpPr>
        <p:spPr>
          <a:xfrm>
            <a:off x="548640"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03120"/>
            <a:ext cx="1904329" cy="457200"/>
          </a:xfrm>
          <a:prstGeom prst="rect">
            <a:avLst/>
          </a:prstGeom>
          <a:noFill/>
        </p:spPr>
        <p:txBody>
          <a:bodyPr wrap="square" lIns="36576" rIns="36576" tIns="18288" bIns="18288">
            <a:spAutoFit/>
          </a:bodyPr>
          <a:lstStyle/>
          <a:p>
            <a:pPr algn="ctr"/>
            <a:r>
              <a:rPr sz="1800" b="1">
                <a:solidFill>
                  <a:srgbClr val="38BDF8"/>
                </a:solidFill>
                <a:latin typeface="Consolas"/>
              </a:rPr>
              <a:t>L1</a:t>
            </a:r>
          </a:p>
        </p:txBody>
      </p:sp>
      <p:sp>
        <p:nvSpPr>
          <p:cNvPr id="11" name="TextBox 10"/>
          <p:cNvSpPr txBox="1"/>
          <p:nvPr/>
        </p:nvSpPr>
        <p:spPr>
          <a:xfrm>
            <a:off x="640080" y="2651760"/>
            <a:ext cx="1904329" cy="548640"/>
          </a:xfrm>
          <a:prstGeom prst="rect">
            <a:avLst/>
          </a:prstGeom>
          <a:noFill/>
        </p:spPr>
        <p:txBody>
          <a:bodyPr wrap="square" lIns="36576" rIns="36576" tIns="18288" bIns="18288">
            <a:spAutoFit/>
          </a:bodyPr>
          <a:lstStyle/>
          <a:p>
            <a:pPr algn="ctr"/>
            <a:r>
              <a:rPr sz="1500" b="1">
                <a:solidFill>
                  <a:srgbClr val="F8FAFC"/>
                </a:solidFill>
                <a:latin typeface="Segoe UI"/>
              </a:rPr>
              <a:t>One Squad</a:t>
            </a:r>
          </a:p>
        </p:txBody>
      </p:sp>
      <p:sp>
        <p:nvSpPr>
          <p:cNvPr id="12" name="TextBox 11"/>
          <p:cNvSpPr txBox="1"/>
          <p:nvPr/>
        </p:nvSpPr>
        <p:spPr>
          <a:xfrm>
            <a:off x="685800" y="3291839"/>
            <a:ext cx="1812889" cy="1645920"/>
          </a:xfrm>
          <a:prstGeom prst="rect">
            <a:avLst/>
          </a:prstGeom>
          <a:noFill/>
        </p:spPr>
        <p:txBody>
          <a:bodyPr wrap="square" lIns="36576" rIns="36576" tIns="18288" bIns="18288">
            <a:spAutoFit/>
          </a:bodyPr>
          <a:lstStyle/>
          <a:p>
            <a:pPr algn="ctr"/>
            <a:r>
              <a:rPr sz="1200" b="0">
                <a:solidFill>
                  <a:srgbClr val="CBD5E1"/>
                </a:solidFill>
                <a:latin typeface="Segoe UI"/>
              </a:rPr>
              <a:t>Use memory + decisions</a:t>
            </a:r>
          </a:p>
        </p:txBody>
      </p:sp>
      <p:sp>
        <p:nvSpPr>
          <p:cNvPr id="13" name="Rounded Rectangle 12"/>
          <p:cNvSpPr/>
          <p:nvPr/>
        </p:nvSpPr>
        <p:spPr>
          <a:xfrm>
            <a:off x="2800441"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0441"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1881" y="2103120"/>
            <a:ext cx="1904329" cy="457200"/>
          </a:xfrm>
          <a:prstGeom prst="rect">
            <a:avLst/>
          </a:prstGeom>
          <a:noFill/>
        </p:spPr>
        <p:txBody>
          <a:bodyPr wrap="square" lIns="36576" rIns="36576" tIns="18288" bIns="18288">
            <a:spAutoFit/>
          </a:bodyPr>
          <a:lstStyle/>
          <a:p>
            <a:pPr algn="ctr"/>
            <a:r>
              <a:rPr sz="1800" b="1">
                <a:solidFill>
                  <a:srgbClr val="38BDF8"/>
                </a:solidFill>
                <a:latin typeface="Consolas"/>
              </a:rPr>
              <a:t>L2</a:t>
            </a:r>
          </a:p>
        </p:txBody>
      </p:sp>
      <p:sp>
        <p:nvSpPr>
          <p:cNvPr id="16" name="TextBox 15"/>
          <p:cNvSpPr txBox="1"/>
          <p:nvPr/>
        </p:nvSpPr>
        <p:spPr>
          <a:xfrm>
            <a:off x="2891881" y="2651760"/>
            <a:ext cx="1904329" cy="548640"/>
          </a:xfrm>
          <a:prstGeom prst="rect">
            <a:avLst/>
          </a:prstGeom>
          <a:noFill/>
        </p:spPr>
        <p:txBody>
          <a:bodyPr wrap="square" lIns="36576" rIns="36576" tIns="18288" bIns="18288">
            <a:spAutoFit/>
          </a:bodyPr>
          <a:lstStyle/>
          <a:p>
            <a:pPr algn="ctr"/>
            <a:r>
              <a:rPr sz="1500" b="1">
                <a:solidFill>
                  <a:srgbClr val="F8FAFC"/>
                </a:solidFill>
                <a:latin typeface="Segoe UI"/>
              </a:rPr>
              <a:t>Reusable team shapes</a:t>
            </a:r>
          </a:p>
        </p:txBody>
      </p:sp>
      <p:sp>
        <p:nvSpPr>
          <p:cNvPr id="17" name="TextBox 16"/>
          <p:cNvSpPr txBox="1"/>
          <p:nvPr/>
        </p:nvSpPr>
        <p:spPr>
          <a:xfrm>
            <a:off x="2937601" y="3291839"/>
            <a:ext cx="1812889" cy="1645920"/>
          </a:xfrm>
          <a:prstGeom prst="rect">
            <a:avLst/>
          </a:prstGeom>
          <a:noFill/>
        </p:spPr>
        <p:txBody>
          <a:bodyPr wrap="square" lIns="36576" rIns="36576" tIns="18288" bIns="18288">
            <a:spAutoFit/>
          </a:bodyPr>
          <a:lstStyle/>
          <a:p>
            <a:pPr algn="ctr"/>
            <a:r>
              <a:rPr sz="1200" b="0">
                <a:solidFill>
                  <a:srgbClr val="CBD5E1"/>
                </a:solidFill>
                <a:latin typeface="Segoe UI"/>
              </a:rPr>
              <a:t>Add presets</a:t>
            </a:r>
          </a:p>
        </p:txBody>
      </p:sp>
      <p:sp>
        <p:nvSpPr>
          <p:cNvPr id="18" name="Rounded Rectangle 17"/>
          <p:cNvSpPr/>
          <p:nvPr/>
        </p:nvSpPr>
        <p:spPr>
          <a:xfrm>
            <a:off x="5052242"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2242"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43682" y="2103120"/>
            <a:ext cx="1904329" cy="457200"/>
          </a:xfrm>
          <a:prstGeom prst="rect">
            <a:avLst/>
          </a:prstGeom>
          <a:noFill/>
        </p:spPr>
        <p:txBody>
          <a:bodyPr wrap="square" lIns="36576" rIns="36576" tIns="18288" bIns="18288">
            <a:spAutoFit/>
          </a:bodyPr>
          <a:lstStyle/>
          <a:p>
            <a:pPr algn="ctr"/>
            <a:r>
              <a:rPr sz="1800" b="1">
                <a:solidFill>
                  <a:srgbClr val="38BDF8"/>
                </a:solidFill>
                <a:latin typeface="Consolas"/>
              </a:rPr>
              <a:t>L3</a:t>
            </a:r>
          </a:p>
        </p:txBody>
      </p:sp>
      <p:sp>
        <p:nvSpPr>
          <p:cNvPr id="21" name="TextBox 20"/>
          <p:cNvSpPr txBox="1"/>
          <p:nvPr/>
        </p:nvSpPr>
        <p:spPr>
          <a:xfrm>
            <a:off x="5143682" y="2651760"/>
            <a:ext cx="1904329" cy="548640"/>
          </a:xfrm>
          <a:prstGeom prst="rect">
            <a:avLst/>
          </a:prstGeom>
          <a:noFill/>
        </p:spPr>
        <p:txBody>
          <a:bodyPr wrap="square" lIns="36576" rIns="36576" tIns="18288" bIns="18288">
            <a:spAutoFit/>
          </a:bodyPr>
          <a:lstStyle/>
          <a:p>
            <a:pPr algn="ctr"/>
            <a:r>
              <a:rPr sz="1500" b="1">
                <a:solidFill>
                  <a:srgbClr val="F8FAFC"/>
                </a:solidFill>
                <a:latin typeface="Segoe UI"/>
              </a:rPr>
              <a:t>Parallel missions</a:t>
            </a:r>
          </a:p>
        </p:txBody>
      </p:sp>
      <p:sp>
        <p:nvSpPr>
          <p:cNvPr id="22" name="TextBox 21"/>
          <p:cNvSpPr txBox="1"/>
          <p:nvPr/>
        </p:nvSpPr>
        <p:spPr>
          <a:xfrm>
            <a:off x="5189402" y="3291839"/>
            <a:ext cx="1812889" cy="1645920"/>
          </a:xfrm>
          <a:prstGeom prst="rect">
            <a:avLst/>
          </a:prstGeom>
          <a:noFill/>
        </p:spPr>
        <p:txBody>
          <a:bodyPr wrap="square" lIns="36576" rIns="36576" tIns="18288" bIns="18288">
            <a:spAutoFit/>
          </a:bodyPr>
          <a:lstStyle/>
          <a:p>
            <a:pPr algn="ctr"/>
            <a:r>
              <a:rPr sz="1200" b="0">
                <a:solidFill>
                  <a:srgbClr val="CBD5E1"/>
                </a:solidFill>
                <a:latin typeface="Segoe UI"/>
              </a:rPr>
              <a:t>Worktrees + SubSquads</a:t>
            </a:r>
          </a:p>
        </p:txBody>
      </p:sp>
      <p:sp>
        <p:nvSpPr>
          <p:cNvPr id="23" name="Rounded Rectangle 22"/>
          <p:cNvSpPr/>
          <p:nvPr/>
        </p:nvSpPr>
        <p:spPr>
          <a:xfrm>
            <a:off x="7304044"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04044"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5484" y="2103120"/>
            <a:ext cx="1904329" cy="457200"/>
          </a:xfrm>
          <a:prstGeom prst="rect">
            <a:avLst/>
          </a:prstGeom>
          <a:noFill/>
        </p:spPr>
        <p:txBody>
          <a:bodyPr wrap="square" lIns="36576" rIns="36576" tIns="18288" bIns="18288">
            <a:spAutoFit/>
          </a:bodyPr>
          <a:lstStyle/>
          <a:p>
            <a:pPr algn="ctr"/>
            <a:r>
              <a:rPr sz="1800" b="1">
                <a:solidFill>
                  <a:srgbClr val="38BDF8"/>
                </a:solidFill>
                <a:latin typeface="Consolas"/>
              </a:rPr>
              <a:t>L4</a:t>
            </a:r>
          </a:p>
        </p:txBody>
      </p:sp>
      <p:sp>
        <p:nvSpPr>
          <p:cNvPr id="26" name="TextBox 25"/>
          <p:cNvSpPr txBox="1"/>
          <p:nvPr/>
        </p:nvSpPr>
        <p:spPr>
          <a:xfrm>
            <a:off x="7395484" y="2651760"/>
            <a:ext cx="1904329" cy="548640"/>
          </a:xfrm>
          <a:prstGeom prst="rect">
            <a:avLst/>
          </a:prstGeom>
          <a:noFill/>
        </p:spPr>
        <p:txBody>
          <a:bodyPr wrap="square" lIns="36576" rIns="36576" tIns="18288" bIns="18288">
            <a:spAutoFit/>
          </a:bodyPr>
          <a:lstStyle/>
          <a:p>
            <a:pPr algn="ctr"/>
            <a:r>
              <a:rPr sz="1500" b="1">
                <a:solidFill>
                  <a:srgbClr val="F8FAFC"/>
                </a:solidFill>
                <a:latin typeface="Segoe UI"/>
              </a:rPr>
              <a:t>Many squads</a:t>
            </a:r>
          </a:p>
        </p:txBody>
      </p:sp>
      <p:sp>
        <p:nvSpPr>
          <p:cNvPr id="27" name="TextBox 26"/>
          <p:cNvSpPr txBox="1"/>
          <p:nvPr/>
        </p:nvSpPr>
        <p:spPr>
          <a:xfrm>
            <a:off x="7441204" y="3291839"/>
            <a:ext cx="1812889" cy="1645920"/>
          </a:xfrm>
          <a:prstGeom prst="rect">
            <a:avLst/>
          </a:prstGeom>
          <a:noFill/>
        </p:spPr>
        <p:txBody>
          <a:bodyPr wrap="square" lIns="36576" rIns="36576" tIns="18288" bIns="18288">
            <a:spAutoFit/>
          </a:bodyPr>
          <a:lstStyle/>
          <a:p>
            <a:pPr algn="ctr"/>
            <a:r>
              <a:rPr sz="1200" b="0">
                <a:solidFill>
                  <a:srgbClr val="CBD5E1"/>
                </a:solidFill>
                <a:latin typeface="Segoe UI"/>
              </a:rPr>
              <a:t>Manifest discovery + delegation</a:t>
            </a:r>
          </a:p>
        </p:txBody>
      </p:sp>
      <p:sp>
        <p:nvSpPr>
          <p:cNvPr id="28" name="Rounded Rectangle 27"/>
          <p:cNvSpPr/>
          <p:nvPr/>
        </p:nvSpPr>
        <p:spPr>
          <a:xfrm>
            <a:off x="9555845" y="1874519"/>
            <a:ext cx="2087209" cy="320040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55845"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47285" y="2103120"/>
            <a:ext cx="1904329" cy="457200"/>
          </a:xfrm>
          <a:prstGeom prst="rect">
            <a:avLst/>
          </a:prstGeom>
          <a:noFill/>
        </p:spPr>
        <p:txBody>
          <a:bodyPr wrap="square" lIns="36576" rIns="36576" tIns="18288" bIns="18288">
            <a:spAutoFit/>
          </a:bodyPr>
          <a:lstStyle/>
          <a:p>
            <a:pPr algn="ctr"/>
            <a:r>
              <a:rPr sz="1800" b="1">
                <a:solidFill>
                  <a:srgbClr val="38BDF8"/>
                </a:solidFill>
                <a:latin typeface="Consolas"/>
              </a:rPr>
              <a:t>L5</a:t>
            </a:r>
          </a:p>
        </p:txBody>
      </p:sp>
      <p:sp>
        <p:nvSpPr>
          <p:cNvPr id="31" name="TextBox 30"/>
          <p:cNvSpPr txBox="1"/>
          <p:nvPr/>
        </p:nvSpPr>
        <p:spPr>
          <a:xfrm>
            <a:off x="9647285" y="2651760"/>
            <a:ext cx="1904329" cy="548640"/>
          </a:xfrm>
          <a:prstGeom prst="rect">
            <a:avLst/>
          </a:prstGeom>
          <a:noFill/>
        </p:spPr>
        <p:txBody>
          <a:bodyPr wrap="square" lIns="36576" rIns="36576" tIns="18288" bIns="18288">
            <a:spAutoFit/>
          </a:bodyPr>
          <a:lstStyle/>
          <a:p>
            <a:pPr algn="ctr"/>
            <a:r>
              <a:rPr sz="1500" b="1">
                <a:solidFill>
                  <a:srgbClr val="F8FAFC"/>
                </a:solidFill>
                <a:latin typeface="Segoe UI"/>
              </a:rPr>
              <a:t>Distributed org</a:t>
            </a:r>
          </a:p>
        </p:txBody>
      </p:sp>
      <p:sp>
        <p:nvSpPr>
          <p:cNvPr id="32" name="TextBox 31"/>
          <p:cNvSpPr txBox="1"/>
          <p:nvPr/>
        </p:nvSpPr>
        <p:spPr>
          <a:xfrm>
            <a:off x="9693005" y="3291839"/>
            <a:ext cx="1812889" cy="1645920"/>
          </a:xfrm>
          <a:prstGeom prst="rect">
            <a:avLst/>
          </a:prstGeom>
          <a:noFill/>
        </p:spPr>
        <p:txBody>
          <a:bodyPr wrap="square" lIns="36576" rIns="36576" tIns="18288" bIns="18288">
            <a:spAutoFit/>
          </a:bodyPr>
          <a:lstStyle/>
          <a:p>
            <a:pPr algn="ctr"/>
            <a:r>
              <a:rPr sz="1200" b="0">
                <a:solidFill>
                  <a:srgbClr val="CBD5E1"/>
                </a:solidFill>
                <a:latin typeface="Segoe UI"/>
              </a:rPr>
              <a:t>Mesh + upstream + policy cascade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61</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THE PAYOFF</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three questions, answered in human terms</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talk opened with three questions. Here’s what changes for your team when all five patterns are running.</a:t>
            </a:r>
          </a:p>
        </p:txBody>
      </p:sp>
      <p:sp>
        <p:nvSpPr>
          <p:cNvPr id="8" name="Rounded Rectangle 7"/>
          <p:cNvSpPr/>
          <p:nvPr/>
        </p:nvSpPr>
        <p:spPr>
          <a:xfrm>
            <a:off x="548640" y="1874519"/>
            <a:ext cx="3576218"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3576218"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1" name="TextBox 10"/>
          <p:cNvSpPr txBox="1"/>
          <p:nvPr/>
        </p:nvSpPr>
        <p:spPr>
          <a:xfrm>
            <a:off x="1234440" y="203911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How does it remember?</a:t>
            </a:r>
          </a:p>
        </p:txBody>
      </p:sp>
      <p:sp>
        <p:nvSpPr>
          <p:cNvPr id="12" name="TextBox 11"/>
          <p:cNvSpPr txBox="1"/>
          <p:nvPr/>
        </p:nvSpPr>
        <p:spPr>
          <a:xfrm>
            <a:off x="713232" y="2560320"/>
            <a:ext cx="3301898" cy="260604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Agents stop asking what they</a:t>
            </a:r>
          </a:p>
          <a:p>
            <a:pPr>
              <a:spcAft>
                <a:spcPts val="300"/>
              </a:spcAft>
            </a:pPr>
            <a:r>
              <a:rPr sz="1200" b="1">
                <a:solidFill>
                  <a:srgbClr val="38BDF8"/>
                </a:solidFill>
                <a:latin typeface="Segoe UI"/>
              </a:rPr>
              <a:t>•  </a:t>
            </a:r>
            <a:r>
              <a:rPr sz="1200">
                <a:solidFill>
                  <a:srgbClr val="CBD5E1"/>
                </a:solidFill>
                <a:latin typeface="Segoe UI"/>
              </a:rPr>
              <a:t>already answered.</a:t>
            </a:r>
          </a:p>
          <a:p>
            <a:pPr>
              <a:spcAft>
                <a:spcPts val="300"/>
              </a:spcAft>
            </a:pPr>
            <a:r>
              <a:rPr sz="1200" b="1">
                <a:solidFill>
                  <a:srgbClr val="38BDF8"/>
                </a:solidFill>
                <a:latin typeface="Segoe UI"/>
              </a:rPr>
              <a:t>•  </a:t>
            </a:r>
            <a:r>
              <a:rPr sz="1200">
                <a:solidFill>
                  <a:srgbClr val="CBD5E1"/>
                </a:solidFill>
                <a:latin typeface="Segoe UI"/>
              </a:rPr>
              <a:t/>
            </a:r>
          </a:p>
          <a:p>
            <a:pPr>
              <a:spcAft>
                <a:spcPts val="300"/>
              </a:spcAft>
            </a:pPr>
            <a:r>
              <a:rPr sz="1200" b="1">
                <a:solidFill>
                  <a:srgbClr val="38BDF8"/>
                </a:solidFill>
                <a:latin typeface="Segoe UI"/>
              </a:rPr>
              <a:t>•  </a:t>
            </a:r>
            <a:r>
              <a:rPr sz="1200">
                <a:solidFill>
                  <a:srgbClr val="CBD5E1"/>
                </a:solidFill>
                <a:latin typeface="Segoe UI"/>
              </a:rPr>
              <a:t>“We decided to use Postgres” —</a:t>
            </a:r>
          </a:p>
          <a:p>
            <a:pPr>
              <a:spcAft>
                <a:spcPts val="300"/>
              </a:spcAft>
            </a:pPr>
            <a:r>
              <a:rPr sz="1200" b="1">
                <a:solidFill>
                  <a:srgbClr val="38BDF8"/>
                </a:solidFill>
                <a:latin typeface="Segoe UI"/>
              </a:rPr>
              <a:t>•  </a:t>
            </a:r>
            <a:r>
              <a:rPr sz="1200">
                <a:solidFill>
                  <a:srgbClr val="CBD5E1"/>
                </a:solidFill>
                <a:latin typeface="Segoe UI"/>
              </a:rPr>
              <a:t>the team’s shared brain reloads it</a:t>
            </a:r>
          </a:p>
          <a:p>
            <a:pPr>
              <a:spcAft>
                <a:spcPts val="300"/>
              </a:spcAft>
            </a:pPr>
            <a:r>
              <a:rPr sz="1200" b="1">
                <a:solidFill>
                  <a:srgbClr val="38BDF8"/>
                </a:solidFill>
                <a:latin typeface="Segoe UI"/>
              </a:rPr>
              <a:t>•  </a:t>
            </a:r>
            <a:r>
              <a:rPr sz="1200">
                <a:solidFill>
                  <a:srgbClr val="CBD5E1"/>
                </a:solidFill>
                <a:latin typeface="Segoe UI"/>
              </a:rPr>
              <a:t>into every future spawn,</a:t>
            </a:r>
          </a:p>
          <a:p>
            <a:pPr>
              <a:spcAft>
                <a:spcPts val="300"/>
              </a:spcAft>
            </a:pPr>
            <a:r>
              <a:rPr sz="1200" b="1">
                <a:solidFill>
                  <a:srgbClr val="38BDF8"/>
                </a:solidFill>
                <a:latin typeface="Segoe UI"/>
              </a:rPr>
              <a:t>•  </a:t>
            </a:r>
            <a:r>
              <a:rPr sz="1200">
                <a:solidFill>
                  <a:srgbClr val="CBD5E1"/>
                </a:solidFill>
                <a:latin typeface="Segoe UI"/>
              </a:rPr>
              <a:t>no matter who wrote it.</a:t>
            </a:r>
          </a:p>
        </p:txBody>
      </p:sp>
      <p:sp>
        <p:nvSpPr>
          <p:cNvPr id="13" name="Rounded Rectangle 12"/>
          <p:cNvSpPr/>
          <p:nvPr/>
        </p:nvSpPr>
        <p:spPr>
          <a:xfrm>
            <a:off x="4307738" y="1874519"/>
            <a:ext cx="3576218"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874519"/>
            <a:ext cx="3576218"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2330"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16" name="TextBox 15"/>
          <p:cNvSpPr txBox="1"/>
          <p:nvPr/>
        </p:nvSpPr>
        <p:spPr>
          <a:xfrm>
            <a:off x="4993538" y="203911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How do we change team shape?</a:t>
            </a:r>
          </a:p>
        </p:txBody>
      </p:sp>
      <p:sp>
        <p:nvSpPr>
          <p:cNvPr id="17" name="TextBox 16"/>
          <p:cNvSpPr txBox="1"/>
          <p:nvPr/>
        </p:nvSpPr>
        <p:spPr>
          <a:xfrm>
            <a:off x="4472330" y="2560320"/>
            <a:ext cx="3301898" cy="260604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A mission becomes a workspace,</a:t>
            </a:r>
          </a:p>
          <a:p>
            <a:pPr>
              <a:spcAft>
                <a:spcPts val="300"/>
              </a:spcAft>
            </a:pPr>
            <a:r>
              <a:rPr sz="1200" b="1">
                <a:solidFill>
                  <a:srgbClr val="34D399"/>
                </a:solidFill>
                <a:latin typeface="Segoe UI"/>
              </a:rPr>
              <a:t>•  </a:t>
            </a:r>
            <a:r>
              <a:rPr sz="1200">
                <a:solidFill>
                  <a:srgbClr val="CBD5E1"/>
                </a:solidFill>
                <a:latin typeface="Segoe UI"/>
              </a:rPr>
              <a:t>not a chat thread.</a:t>
            </a:r>
          </a:p>
          <a:p>
            <a:pPr>
              <a:spcAft>
                <a:spcPts val="300"/>
              </a:spcAft>
            </a:pPr>
            <a:r>
              <a:rPr sz="1200" b="1">
                <a:solidFill>
                  <a:srgbClr val="34D399"/>
                </a:solidFill>
                <a:latin typeface="Segoe UI"/>
              </a:rPr>
              <a:t>•  </a:t>
            </a:r>
            <a:r>
              <a:rPr sz="1200">
                <a:solidFill>
                  <a:srgbClr val="CBD5E1"/>
                </a:solidFill>
                <a:latin typeface="Segoe UI"/>
              </a:rPr>
              <a:t/>
            </a:r>
          </a:p>
          <a:p>
            <a:pPr>
              <a:spcAft>
                <a:spcPts val="300"/>
              </a:spcAft>
            </a:pPr>
            <a:r>
              <a:rPr sz="1200" b="1">
                <a:solidFill>
                  <a:srgbClr val="34D399"/>
                </a:solidFill>
                <a:latin typeface="Segoe UI"/>
              </a:rPr>
              <a:t>•  </a:t>
            </a:r>
            <a:r>
              <a:rPr sz="1200">
                <a:solidFill>
                  <a:srgbClr val="CBD5E1"/>
                </a:solidFill>
                <a:latin typeface="Segoe UI"/>
              </a:rPr>
              <a:t>Spawn a child squad with a brief,</a:t>
            </a:r>
          </a:p>
          <a:p>
            <a:pPr>
              <a:spcAft>
                <a:spcPts val="300"/>
              </a:spcAft>
            </a:pPr>
            <a:r>
              <a:rPr sz="1200" b="1">
                <a:solidFill>
                  <a:srgbClr val="34D399"/>
                </a:solidFill>
                <a:latin typeface="Segoe UI"/>
              </a:rPr>
              <a:t>•  </a:t>
            </a:r>
            <a:r>
              <a:rPr sz="1200">
                <a:solidFill>
                  <a:srgbClr val="CBD5E1"/>
                </a:solidFill>
                <a:latin typeface="Segoe UI"/>
              </a:rPr>
              <a:t>let it work in its own worktree,</a:t>
            </a:r>
          </a:p>
          <a:p>
            <a:pPr>
              <a:spcAft>
                <a:spcPts val="300"/>
              </a:spcAft>
            </a:pPr>
            <a:r>
              <a:rPr sz="1200" b="1">
                <a:solidFill>
                  <a:srgbClr val="34D399"/>
                </a:solidFill>
                <a:latin typeface="Segoe UI"/>
              </a:rPr>
              <a:t>•  </a:t>
            </a:r>
            <a:r>
              <a:rPr sz="1200">
                <a:solidFill>
                  <a:srgbClr val="CBD5E1"/>
                </a:solidFill>
                <a:latin typeface="Segoe UI"/>
              </a:rPr>
              <a:t>collect a clean PR back —</a:t>
            </a:r>
          </a:p>
          <a:p>
            <a:pPr>
              <a:spcAft>
                <a:spcPts val="300"/>
              </a:spcAft>
            </a:pPr>
            <a:r>
              <a:rPr sz="1200" b="1">
                <a:solidFill>
                  <a:srgbClr val="34D399"/>
                </a:solidFill>
                <a:latin typeface="Segoe UI"/>
              </a:rPr>
              <a:t>•  </a:t>
            </a:r>
            <a:r>
              <a:rPr sz="1200">
                <a:solidFill>
                  <a:srgbClr val="CBD5E1"/>
                </a:solidFill>
                <a:latin typeface="Segoe UI"/>
              </a:rPr>
              <a:t>without disrupting HQ.</a:t>
            </a:r>
          </a:p>
        </p:txBody>
      </p:sp>
      <p:sp>
        <p:nvSpPr>
          <p:cNvPr id="18" name="Rounded Rectangle 17"/>
          <p:cNvSpPr/>
          <p:nvPr/>
        </p:nvSpPr>
        <p:spPr>
          <a:xfrm>
            <a:off x="8066836" y="1874519"/>
            <a:ext cx="3576218" cy="338328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6836" y="1874519"/>
            <a:ext cx="3576218"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1428"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1" name="TextBox 20"/>
          <p:cNvSpPr txBox="1"/>
          <p:nvPr/>
        </p:nvSpPr>
        <p:spPr>
          <a:xfrm>
            <a:off x="8752636" y="2039112"/>
            <a:ext cx="2798978" cy="411480"/>
          </a:xfrm>
          <a:prstGeom prst="rect">
            <a:avLst/>
          </a:prstGeom>
          <a:noFill/>
        </p:spPr>
        <p:txBody>
          <a:bodyPr wrap="square" lIns="36576" rIns="36576" tIns="18288" bIns="18288" anchor="ctr">
            <a:spAutoFit/>
          </a:bodyPr>
          <a:lstStyle/>
          <a:p>
            <a:r>
              <a:rPr sz="1700" b="1">
                <a:solidFill>
                  <a:srgbClr val="F8FAFC"/>
                </a:solidFill>
                <a:latin typeface="Segoe UI"/>
              </a:rPr>
              <a:t>How do squads talk?</a:t>
            </a:r>
          </a:p>
        </p:txBody>
      </p:sp>
      <p:sp>
        <p:nvSpPr>
          <p:cNvPr id="22" name="TextBox 21"/>
          <p:cNvSpPr txBox="1"/>
          <p:nvPr/>
        </p:nvSpPr>
        <p:spPr>
          <a:xfrm>
            <a:off x="8231428" y="2560320"/>
            <a:ext cx="3301898" cy="260604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A manifest, an issue, a verdict.</a:t>
            </a:r>
          </a:p>
          <a:p>
            <a:pPr>
              <a:spcAft>
                <a:spcPts val="300"/>
              </a:spcAft>
            </a:pPr>
            <a:r>
              <a:rPr sz="1200" b="1">
                <a:solidFill>
                  <a:srgbClr val="FBBF24"/>
                </a:solidFill>
                <a:latin typeface="Segoe UI"/>
              </a:rPr>
              <a:t>•  </a:t>
            </a:r>
            <a:r>
              <a:rPr sz="1200">
                <a:solidFill>
                  <a:srgbClr val="CBD5E1"/>
                </a:solidFill>
                <a:latin typeface="Segoe UI"/>
              </a:rPr>
              <a:t/>
            </a:r>
          </a:p>
          <a:p>
            <a:pPr>
              <a:spcAft>
                <a:spcPts val="300"/>
              </a:spcAft>
            </a:pPr>
            <a:r>
              <a:rPr sz="1200" b="1">
                <a:solidFill>
                  <a:srgbClr val="FBBF24"/>
                </a:solidFill>
                <a:latin typeface="Segoe UI"/>
              </a:rPr>
              <a:t>•  </a:t>
            </a:r>
            <a:r>
              <a:rPr sz="1200">
                <a:solidFill>
                  <a:srgbClr val="CBD5E1"/>
                </a:solidFill>
                <a:latin typeface="Segoe UI"/>
              </a:rPr>
              <a:t>No agent of yours ever pokes</a:t>
            </a:r>
          </a:p>
          <a:p>
            <a:pPr>
              <a:spcAft>
                <a:spcPts val="300"/>
              </a:spcAft>
            </a:pPr>
            <a:r>
              <a:rPr sz="1200" b="1">
                <a:solidFill>
                  <a:srgbClr val="FBBF24"/>
                </a:solidFill>
                <a:latin typeface="Segoe UI"/>
              </a:rPr>
              <a:t>•  </a:t>
            </a:r>
            <a:r>
              <a:rPr sz="1200">
                <a:solidFill>
                  <a:srgbClr val="CBD5E1"/>
                </a:solidFill>
                <a:latin typeface="Segoe UI"/>
              </a:rPr>
              <a:t>another team’s .squad/ directly.</a:t>
            </a:r>
          </a:p>
          <a:p>
            <a:pPr>
              <a:spcAft>
                <a:spcPts val="300"/>
              </a:spcAft>
            </a:pPr>
            <a:r>
              <a:rPr sz="1200" b="1">
                <a:solidFill>
                  <a:srgbClr val="FBBF24"/>
                </a:solidFill>
                <a:latin typeface="Segoe UI"/>
              </a:rPr>
              <a:t>•  </a:t>
            </a:r>
            <a:r>
              <a:rPr sz="1200">
                <a:solidFill>
                  <a:srgbClr val="CBD5E1"/>
                </a:solidFill>
                <a:latin typeface="Segoe UI"/>
              </a:rPr>
              <a:t>Public contract in, structured</a:t>
            </a:r>
          </a:p>
          <a:p>
            <a:pPr>
              <a:spcAft>
                <a:spcPts val="300"/>
              </a:spcAft>
            </a:pPr>
            <a:r>
              <a:rPr sz="1200" b="1">
                <a:solidFill>
                  <a:srgbClr val="FBBF24"/>
                </a:solidFill>
                <a:latin typeface="Segoe UI"/>
              </a:rPr>
              <a:t>•  </a:t>
            </a:r>
            <a:r>
              <a:rPr sz="1200">
                <a:solidFill>
                  <a:srgbClr val="CBD5E1"/>
                </a:solidFill>
                <a:latin typeface="Segoe UI"/>
              </a:rPr>
              <a:t>result out. Just like a service.</a:t>
            </a:r>
          </a:p>
        </p:txBody>
      </p:sp>
      <p:sp>
        <p:nvSpPr>
          <p:cNvPr id="23" name="Rounded Rectangle 22"/>
          <p:cNvSpPr/>
          <p:nvPr/>
        </p:nvSpPr>
        <p:spPr>
          <a:xfrm>
            <a:off x="548640" y="5486400"/>
            <a:ext cx="11094415" cy="777240"/>
          </a:xfrm>
          <a:prstGeom prst="roundRect">
            <a:avLst/>
          </a:prstGeom>
          <a:solidFill>
            <a:srgbClr val="0A182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5577840"/>
            <a:ext cx="10545775" cy="274320"/>
          </a:xfrm>
          <a:prstGeom prst="rect">
            <a:avLst/>
          </a:prstGeom>
          <a:noFill/>
        </p:spPr>
        <p:txBody>
          <a:bodyPr wrap="square" lIns="36576" rIns="36576" tIns="18288" bIns="18288">
            <a:spAutoFit/>
          </a:bodyPr>
          <a:lstStyle/>
          <a:p>
            <a:r>
              <a:rPr sz="1200" b="1">
                <a:solidFill>
                  <a:srgbClr val="A78BFA"/>
                </a:solidFill>
                <a:latin typeface="Segoe UI Semibold"/>
              </a:rPr>
              <a:t>What changes six months in</a:t>
            </a:r>
          </a:p>
        </p:txBody>
      </p:sp>
      <p:sp>
        <p:nvSpPr>
          <p:cNvPr id="25" name="TextBox 24"/>
          <p:cNvSpPr txBox="1"/>
          <p:nvPr/>
        </p:nvSpPr>
        <p:spPr>
          <a:xfrm>
            <a:off x="822959" y="5870448"/>
            <a:ext cx="10545775" cy="365760"/>
          </a:xfrm>
          <a:prstGeom prst="rect">
            <a:avLst/>
          </a:prstGeom>
          <a:noFill/>
        </p:spPr>
        <p:txBody>
          <a:bodyPr wrap="square" lIns="36576" rIns="36576" tIns="18288" bIns="18288">
            <a:spAutoFit/>
          </a:bodyPr>
          <a:lstStyle/>
          <a:p>
            <a:pPr algn="ctr"/>
            <a:r>
              <a:rPr sz="1400" b="0">
                <a:solidFill>
                  <a:srgbClr val="F8FAFC"/>
                </a:solidFill>
                <a:latin typeface="Segoe UI"/>
              </a:rPr>
              <a:t>git log stays clean. PRs are reviewable. Decisions you made on day 12 are still alive on day 180. Your team doesn’t lose context to keep the repo clean — it gets both.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62</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LEAVE-BEHIND</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Command cheat sheet</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The commands you're most likely to use after this session.</a:t>
            </a:r>
          </a:p>
        </p:txBody>
      </p:sp>
      <p:sp>
        <p:nvSpPr>
          <p:cNvPr id="8" name="Rounded Rectangle 7"/>
          <p:cNvSpPr/>
          <p:nvPr/>
        </p:nvSpPr>
        <p:spPr>
          <a:xfrm>
            <a:off x="548640" y="1874519"/>
            <a:ext cx="5486400" cy="36576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5486400" cy="45720"/>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920239"/>
            <a:ext cx="5212080" cy="228600"/>
          </a:xfrm>
          <a:prstGeom prst="rect">
            <a:avLst/>
          </a:prstGeom>
          <a:noFill/>
        </p:spPr>
        <p:txBody>
          <a:bodyPr wrap="square" lIns="36576" rIns="36576" tIns="18288" bIns="18288">
            <a:spAutoFit/>
          </a:bodyPr>
          <a:lstStyle/>
          <a:p>
            <a:r>
              <a:rPr sz="1000" b="1">
                <a:solidFill>
                  <a:srgbClr val="38BDF8"/>
                </a:solidFill>
                <a:latin typeface="Segoe UI Semibold"/>
              </a:rPr>
              <a:t>local team</a:t>
            </a:r>
          </a:p>
        </p:txBody>
      </p:sp>
      <p:sp>
        <p:nvSpPr>
          <p:cNvPr id="11" name="TextBox 10"/>
          <p:cNvSpPr txBox="1"/>
          <p:nvPr/>
        </p:nvSpPr>
        <p:spPr>
          <a:xfrm>
            <a:off x="713232" y="2167127"/>
            <a:ext cx="5212080" cy="3310128"/>
          </a:xfrm>
          <a:prstGeom prst="rect">
            <a:avLst/>
          </a:prstGeom>
          <a:noFill/>
        </p:spPr>
        <p:txBody>
          <a:bodyPr wrap="square" lIns="36576" rIns="36576">
            <a:spAutoFit/>
          </a:bodyPr>
          <a:lstStyle/>
          <a:p>
            <a:pPr>
              <a:spcAft>
                <a:spcPts val="100"/>
              </a:spcAft>
            </a:pPr>
            <a:r>
              <a:rPr sz="1100">
                <a:solidFill>
                  <a:srgbClr val="F8FAFC"/>
                </a:solidFill>
                <a:latin typeface="Consolas"/>
              </a:rPr>
              <a:t># memory</a:t>
            </a:r>
          </a:p>
          <a:p>
            <a:pPr>
              <a:spcAft>
                <a:spcPts val="100"/>
              </a:spcAft>
            </a:pPr>
            <a:r>
              <a:rPr sz="1100">
                <a:solidFill>
                  <a:srgbClr val="CBD5E1"/>
                </a:solidFill>
                <a:latin typeface="Consolas"/>
              </a:rPr>
              <a:t>squad memory classify "Always..."</a:t>
            </a:r>
          </a:p>
          <a:p>
            <a:pPr>
              <a:spcAft>
                <a:spcPts val="100"/>
              </a:spcAft>
            </a:pPr>
            <a:r>
              <a:rPr sz="1100">
                <a:solidFill>
                  <a:srgbClr val="CBD5E1"/>
                </a:solidFill>
                <a:latin typeface="Consolas"/>
              </a:rPr>
              <a:t>squad memory write --content "..." --class DECISION</a:t>
            </a:r>
          </a:p>
          <a:p>
            <a:pPr>
              <a:spcAft>
                <a:spcPts val="100"/>
              </a:spcAft>
            </a:pPr>
            <a:r>
              <a:rPr sz="1100">
                <a:solidFill>
                  <a:srgbClr val="CBD5E1"/>
                </a:solidFill>
                <a:latin typeface="Consolas"/>
              </a:rPr>
              <a:t>squad memory search --query "..."</a:t>
            </a:r>
          </a:p>
          <a:p>
            <a:pPr>
              <a:spcAft>
                <a:spcPts val="100"/>
              </a:spcAft>
            </a:pPr>
            <a:r>
              <a:rPr sz="1100">
                <a:solidFill>
                  <a:srgbClr val="CBD5E1"/>
                </a:solidFill>
                <a:latin typeface="Consolas"/>
              </a:rPr>
              <a:t>squad memory audit</a:t>
            </a:r>
          </a:p>
          <a:p>
            <a:pPr>
              <a:spcAft>
                <a:spcPts val="100"/>
              </a:spcAft>
            </a:pPr>
            <a:r>
              <a:rPr sz="1100">
                <a:solidFill>
                  <a:srgbClr val="CBD5E1"/>
                </a:solidFill>
                <a:latin typeface="Consolas"/>
              </a:rPr>
              <a:t>squad memory provider             # check what's wired</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state backends</a:t>
            </a:r>
          </a:p>
          <a:p>
            <a:pPr>
              <a:spcAft>
                <a:spcPts val="100"/>
              </a:spcAft>
            </a:pPr>
            <a:r>
              <a:rPr sz="1100">
                <a:solidFill>
                  <a:srgbClr val="CBD5E1"/>
                </a:solidFill>
                <a:latin typeface="Consolas"/>
              </a:rPr>
              <a:t>squad init --state-backend two-layer</a:t>
            </a:r>
          </a:p>
          <a:p>
            <a:pPr>
              <a:spcAft>
                <a:spcPts val="100"/>
              </a:spcAft>
            </a:pPr>
            <a:r>
              <a:rPr sz="1100">
                <a:solidFill>
                  <a:srgbClr val="CBD5E1"/>
                </a:solidFill>
                <a:latin typeface="Consolas"/>
              </a:rPr>
              <a:t>squad upgrade --state-backend two-layer</a:t>
            </a:r>
          </a:p>
          <a:p>
            <a:pPr>
              <a:spcAft>
                <a:spcPts val="100"/>
              </a:spcAft>
            </a:pPr>
            <a:r>
              <a:rPr sz="1100">
                <a:solidFill>
                  <a:srgbClr val="CBD5E1"/>
                </a:solidFill>
                <a:latin typeface="Consolas"/>
              </a:rPr>
              <a:t>squad notes promote --ref squad/scribe</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verify your setup</a:t>
            </a:r>
          </a:p>
          <a:p>
            <a:pPr>
              <a:spcAft>
                <a:spcPts val="100"/>
              </a:spcAft>
            </a:pPr>
            <a:r>
              <a:rPr sz="1100">
                <a:solidFill>
                  <a:srgbClr val="CBD5E1"/>
                </a:solidFill>
                <a:latin typeface="Consolas"/>
              </a:rPr>
              <a:t>squad doctor                       # use FIRST when stuck</a:t>
            </a:r>
          </a:p>
        </p:txBody>
      </p:sp>
      <p:sp>
        <p:nvSpPr>
          <p:cNvPr id="12" name="Rounded Rectangle 11"/>
          <p:cNvSpPr/>
          <p:nvPr/>
        </p:nvSpPr>
        <p:spPr>
          <a:xfrm>
            <a:off x="6217920" y="1874519"/>
            <a:ext cx="5486400" cy="3657600"/>
          </a:xfrm>
          <a:prstGeom prst="roundRect">
            <a:avLst/>
          </a:prstGeom>
          <a:solidFill>
            <a:srgbClr val="0A18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874519"/>
            <a:ext cx="5486400" cy="45720"/>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920239"/>
            <a:ext cx="5212080" cy="228600"/>
          </a:xfrm>
          <a:prstGeom prst="rect">
            <a:avLst/>
          </a:prstGeom>
          <a:noFill/>
        </p:spPr>
        <p:txBody>
          <a:bodyPr wrap="square" lIns="36576" rIns="36576" tIns="18288" bIns="18288">
            <a:spAutoFit/>
          </a:bodyPr>
          <a:lstStyle/>
          <a:p>
            <a:r>
              <a:rPr sz="1000" b="1">
                <a:solidFill>
                  <a:srgbClr val="34D399"/>
                </a:solidFill>
                <a:latin typeface="Segoe UI Semibold"/>
              </a:rPr>
              <a:t>multi-team</a:t>
            </a:r>
          </a:p>
        </p:txBody>
      </p:sp>
      <p:sp>
        <p:nvSpPr>
          <p:cNvPr id="15" name="TextBox 14"/>
          <p:cNvSpPr txBox="1"/>
          <p:nvPr/>
        </p:nvSpPr>
        <p:spPr>
          <a:xfrm>
            <a:off x="6382512" y="2167127"/>
            <a:ext cx="5212080" cy="3310128"/>
          </a:xfrm>
          <a:prstGeom prst="rect">
            <a:avLst/>
          </a:prstGeom>
          <a:noFill/>
        </p:spPr>
        <p:txBody>
          <a:bodyPr wrap="square" lIns="36576" rIns="36576">
            <a:spAutoFit/>
          </a:bodyPr>
          <a:lstStyle/>
          <a:p>
            <a:pPr>
              <a:spcAft>
                <a:spcPts val="100"/>
              </a:spcAft>
            </a:pPr>
            <a:r>
              <a:rPr sz="1100">
                <a:solidFill>
                  <a:srgbClr val="F8FAFC"/>
                </a:solidFill>
                <a:latin typeface="Consolas"/>
              </a:rPr>
              <a:t># presets</a:t>
            </a:r>
          </a:p>
          <a:p>
            <a:pPr>
              <a:spcAft>
                <a:spcPts val="100"/>
              </a:spcAft>
            </a:pPr>
            <a:r>
              <a:rPr sz="1100">
                <a:solidFill>
                  <a:srgbClr val="CBD5E1"/>
                </a:solidFill>
                <a:latin typeface="Consolas"/>
              </a:rPr>
              <a:t>squad preset init [--remote]</a:t>
            </a:r>
          </a:p>
          <a:p>
            <a:pPr>
              <a:spcAft>
                <a:spcPts val="100"/>
              </a:spcAft>
            </a:pPr>
            <a:r>
              <a:rPr sz="1100">
                <a:solidFill>
                  <a:srgbClr val="CBD5E1"/>
                </a:solidFill>
                <a:latin typeface="Consolas"/>
              </a:rPr>
              <a:t>squad preset list / show / apply / save</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spawning / scale</a:t>
            </a:r>
          </a:p>
          <a:p>
            <a:pPr>
              <a:spcAft>
                <a:spcPts val="100"/>
              </a:spcAft>
            </a:pPr>
            <a:r>
              <a:rPr sz="1100">
                <a:solidFill>
                  <a:srgbClr val="CBD5E1"/>
                </a:solidFill>
                <a:latin typeface="Consolas"/>
              </a:rPr>
              <a:t>export SQUAD_TEAM=ui-team          # bash / zsh</a:t>
            </a:r>
          </a:p>
          <a:p>
            <a:pPr>
              <a:spcAft>
                <a:spcPts val="100"/>
              </a:spcAft>
            </a:pPr>
            <a:r>
              <a:rPr sz="1100">
                <a:solidFill>
                  <a:srgbClr val="F8FAFC"/>
                </a:solidFill>
                <a:latin typeface="Consolas"/>
              </a:rPr>
              <a:t>$env:SQUAD_TEAM = "ui-team"        # PowerShell</a:t>
            </a:r>
          </a:p>
          <a:p>
            <a:pPr>
              <a:spcAft>
                <a:spcPts val="100"/>
              </a:spcAft>
            </a:pPr>
            <a:r>
              <a:rPr sz="1100">
                <a:solidFill>
                  <a:srgbClr val="CBD5E1"/>
                </a:solidFill>
                <a:latin typeface="Consolas"/>
              </a:rPr>
              <a:t>squad subsquads list / activate ui-team</a:t>
            </a:r>
          </a:p>
          <a:p>
            <a:pPr>
              <a:spcAft>
                <a:spcPts val="100"/>
              </a:spcAft>
            </a:pPr>
            <a:r>
              <a:rPr sz="1100">
                <a:solidFill>
                  <a:srgbClr val="CBD5E1"/>
                </a:solidFill>
                <a:latin typeface="Consolas"/>
              </a:rPr>
              <a:t>git worktree add ../squad-42 -b squad/42-...</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cross-squad</a:t>
            </a:r>
          </a:p>
          <a:p>
            <a:pPr>
              <a:spcAft>
                <a:spcPts val="100"/>
              </a:spcAft>
            </a:pPr>
            <a:r>
              <a:rPr sz="1100">
                <a:solidFill>
                  <a:srgbClr val="CBD5E1"/>
                </a:solidFill>
                <a:latin typeface="Consolas"/>
              </a:rPr>
              <a:t>squad discover</a:t>
            </a:r>
          </a:p>
          <a:p>
            <a:pPr>
              <a:spcAft>
                <a:spcPts val="100"/>
              </a:spcAft>
            </a:pPr>
            <a:r>
              <a:rPr sz="1100">
                <a:solidFill>
                  <a:srgbClr val="CBD5E1"/>
                </a:solidFill>
                <a:latin typeface="Consolas"/>
              </a:rPr>
              <a:t>squad delegate &lt;target&gt; "..."</a:t>
            </a:r>
          </a:p>
          <a:p>
            <a:pPr>
              <a:spcAft>
                <a:spcPts val="100"/>
              </a:spcAft>
            </a:pPr>
            <a:r>
              <a:rPr sz="1100">
                <a:solidFill>
                  <a:srgbClr val="CBD5E1"/>
                </a:solidFill>
                <a:latin typeface="Consolas"/>
              </a:rPr>
              <a:t> </a:t>
            </a:r>
          </a:p>
          <a:p>
            <a:pPr>
              <a:spcAft>
                <a:spcPts val="100"/>
              </a:spcAft>
            </a:pPr>
            <a:r>
              <a:rPr sz="1100">
                <a:solidFill>
                  <a:srgbClr val="F8FAFC"/>
                </a:solidFill>
                <a:latin typeface="Consolas"/>
              </a:rPr>
              <a:t># monorepo (run from inside a package)</a:t>
            </a:r>
          </a:p>
          <a:p>
            <a:pPr>
              <a:spcAft>
                <a:spcPts val="100"/>
              </a:spcAft>
            </a:pPr>
            <a:r>
              <a:rPr sz="1100">
                <a:solidFill>
                  <a:srgbClr val="CBD5E1"/>
                </a:solidFill>
                <a:latin typeface="Consolas"/>
              </a:rPr>
              <a:t>cd packages/ui &amp;&amp; squad init   # auto-detects subfolder mode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63</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GROUNDING</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Source appendix</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Every product claim above is grounded in accessible repo files.</a:t>
            </a:r>
          </a:p>
        </p:txBody>
      </p:sp>
      <p:sp>
        <p:nvSpPr>
          <p:cNvPr id="8" name="TextBox 7"/>
          <p:cNvSpPr txBox="1"/>
          <p:nvPr/>
        </p:nvSpPr>
        <p:spPr>
          <a:xfrm>
            <a:off x="548640" y="1874519"/>
            <a:ext cx="11094415" cy="4114800"/>
          </a:xfrm>
          <a:prstGeom prst="rect">
            <a:avLst/>
          </a:prstGeom>
          <a:noFill/>
        </p:spPr>
        <p:txBody>
          <a:bodyPr wrap="square">
            <a:spAutoFit/>
          </a:bodyPr>
          <a:lstStyle/>
          <a:p>
            <a:pPr>
              <a:spcAft>
                <a:spcPts val="200"/>
              </a:spcAft>
            </a:pPr>
            <a:r>
              <a:rPr sz="1100">
                <a:solidFill>
                  <a:srgbClr val="CBD5E1"/>
                </a:solidFill>
                <a:latin typeface="Consolas"/>
              </a:rPr>
              <a:t>• package.json:3  •  CHANGELOG.md:7-66  —  Squad 0.10.0 scope</a:t>
            </a:r>
          </a:p>
          <a:p>
            <a:pPr>
              <a:spcAft>
                <a:spcPts val="200"/>
              </a:spcAft>
            </a:pPr>
            <a:r>
              <a:rPr sz="1100">
                <a:solidFill>
                  <a:srgbClr val="CBD5E1"/>
                </a:solidFill>
                <a:latin typeface="Consolas"/>
              </a:rPr>
              <a:t>• docs/.../features/memory.md:28-74, 113-166  —  memory layers, governed memory commands</a:t>
            </a:r>
          </a:p>
          <a:p>
            <a:pPr>
              <a:spcAft>
                <a:spcPts val="200"/>
              </a:spcAft>
            </a:pPr>
            <a:r>
              <a:rPr sz="1100">
                <a:solidFill>
                  <a:srgbClr val="CBD5E1"/>
                </a:solidFill>
                <a:latin typeface="Consolas"/>
              </a:rPr>
              <a:t>• docs/.../concepts/memory-and-knowledge.md:28-79  —  three-layer memory model</a:t>
            </a:r>
          </a:p>
          <a:p>
            <a:pPr>
              <a:spcAft>
                <a:spcPts val="200"/>
              </a:spcAft>
            </a:pPr>
            <a:r>
              <a:rPr sz="1100">
                <a:solidFill>
                  <a:srgbClr val="CBD5E1"/>
                </a:solidFill>
                <a:latin typeface="Consolas"/>
              </a:rPr>
              <a:t>• packages/squad-sdk/src/memory/index.ts:5-13, 428-440  —  MemoryClass + loadGuidanceFor</a:t>
            </a:r>
          </a:p>
          <a:p>
            <a:pPr>
              <a:spcAft>
                <a:spcPts val="200"/>
              </a:spcAft>
            </a:pPr>
            <a:r>
              <a:rPr sz="1100">
                <a:solidFill>
                  <a:srgbClr val="CBD5E1"/>
                </a:solidFill>
                <a:latin typeface="Consolas"/>
              </a:rPr>
              <a:t>• packages/squad-sdk/src/memory/index.ts:863-950  —  search() with class-aware filtering</a:t>
            </a:r>
          </a:p>
          <a:p>
            <a:pPr>
              <a:spcAft>
                <a:spcPts val="200"/>
              </a:spcAft>
            </a:pPr>
            <a:r>
              <a:rPr sz="1100">
                <a:solidFill>
                  <a:srgbClr val="CBD5E1"/>
                </a:solidFill>
                <a:latin typeface="Consolas"/>
              </a:rPr>
              <a:t>• docs/.../features/state-backends.md:21-156  —  local/orphan/two-layer comparison</a:t>
            </a:r>
          </a:p>
          <a:p>
            <a:pPr>
              <a:spcAft>
                <a:spcPts val="200"/>
              </a:spcAft>
            </a:pPr>
            <a:r>
              <a:rPr sz="1100">
                <a:solidFill>
                  <a:srgbClr val="CBD5E1"/>
                </a:solidFill>
                <a:latin typeface="Consolas"/>
              </a:rPr>
              <a:t>• packages/squad-sdk/src/state-backend.ts:910-1186  —  TwoLayerBackend + resolveStateBackend</a:t>
            </a:r>
          </a:p>
          <a:p>
            <a:pPr>
              <a:spcAft>
                <a:spcPts val="200"/>
              </a:spcAft>
            </a:pPr>
            <a:r>
              <a:rPr sz="1100">
                <a:solidFill>
                  <a:srgbClr val="CBD5E1"/>
                </a:solidFill>
                <a:latin typeface="Consolas"/>
              </a:rPr>
              <a:t>• packages/squad-cli/src/cli/commands/notes.ts  —  squad notes promote</a:t>
            </a:r>
          </a:p>
          <a:p>
            <a:pPr>
              <a:spcAft>
                <a:spcPts val="200"/>
              </a:spcAft>
            </a:pPr>
            <a:r>
              <a:rPr sz="1100">
                <a:solidFill>
                  <a:srgbClr val="CBD5E1"/>
                </a:solidFill>
                <a:latin typeface="Consolas"/>
              </a:rPr>
              <a:t>• docs/.../features/external-state.md:65-188  —  external state command path</a:t>
            </a:r>
          </a:p>
          <a:p>
            <a:pPr>
              <a:spcAft>
                <a:spcPts val="200"/>
              </a:spcAft>
            </a:pPr>
            <a:r>
              <a:rPr sz="1100">
                <a:solidFill>
                  <a:srgbClr val="CBD5E1"/>
                </a:solidFill>
                <a:latin typeface="Consolas"/>
              </a:rPr>
              <a:t>• packages/.../preset.ts:14-389  —  preset init/list/show/apply/save (incl --remote)</a:t>
            </a:r>
          </a:p>
          <a:p>
            <a:pPr>
              <a:spcAft>
                <a:spcPts val="200"/>
              </a:spcAft>
            </a:pPr>
            <a:r>
              <a:rPr sz="1100">
                <a:solidFill>
                  <a:srgbClr val="CBD5E1"/>
                </a:solidFill>
                <a:latin typeface="Consolas"/>
              </a:rPr>
              <a:t>• packages/.../streams/resolver.ts:124-181  —  SubSquads / workstream partitioning</a:t>
            </a:r>
          </a:p>
          <a:p>
            <a:pPr>
              <a:spcAft>
                <a:spcPts val="200"/>
              </a:spcAft>
            </a:pPr>
            <a:r>
              <a:rPr sz="1100">
                <a:solidFill>
                  <a:srgbClr val="CBD5E1"/>
                </a:solidFill>
                <a:latin typeface="Consolas"/>
              </a:rPr>
              <a:t>• docs/features/cross-squad-orchestration.md:31-132  —  discover / delegate / manifest</a:t>
            </a:r>
          </a:p>
          <a:p>
            <a:pPr>
              <a:spcAft>
                <a:spcPts val="200"/>
              </a:spcAft>
            </a:pPr>
            <a:r>
              <a:rPr sz="1100">
                <a:solidFill>
                  <a:srgbClr val="CBD5E1"/>
                </a:solidFill>
                <a:latin typeface="Consolas"/>
              </a:rPr>
              <a:t>• packages/squad-sdk/src/runtime/cross-squad.ts:31-282  —  manifest schema, discovery, delegation</a:t>
            </a:r>
          </a:p>
          <a:p>
            <a:pPr>
              <a:spcAft>
                <a:spcPts val="200"/>
              </a:spcAft>
            </a:pPr>
            <a:r>
              <a:rPr sz="1100">
                <a:solidFill>
                  <a:srgbClr val="CBD5E1"/>
                </a:solidFill>
                <a:latin typeface="Consolas"/>
              </a:rPr>
              <a:t>• docs/.../features/distributed-mesh.md:15-257  —  mesh zones, lifecycle, examples</a:t>
            </a:r>
          </a:p>
          <a:p>
            <a:pPr>
              <a:spcAft>
                <a:spcPts val="200"/>
              </a:spcAft>
            </a:pPr>
            <a:r>
              <a:rPr sz="1100">
                <a:solidFill>
                  <a:srgbClr val="CBD5E1"/>
                </a:solidFill>
                <a:latin typeface="Consolas"/>
              </a:rPr>
              <a:t>• packages/squad-sdk/src/config/init.ts:144-148, 1262, 1298-1305  —  monorepo subfolder support</a:t>
            </a:r>
          </a:p>
          <a:p>
            <a:pPr>
              <a:spcAft>
                <a:spcPts val="200"/>
              </a:spcAft>
            </a:pPr>
            <a:r>
              <a:rPr sz="1100">
                <a:solidFill>
                  <a:srgbClr val="CBD5E1"/>
                </a:solidFill>
                <a:latin typeface="Consolas"/>
              </a:rPr>
              <a:t>• packages/squad-cli/src/cli/core/init.ts:30-44  —  detectParentGitRepo (monorepo)</a:t>
            </a:r>
          </a:p>
          <a:p>
            <a:pPr>
              <a:spcAft>
                <a:spcPts val="200"/>
              </a:spcAft>
            </a:pPr>
            <a:r>
              <a:rPr sz="1100">
                <a:solidFill>
                  <a:srgbClr val="CBD5E1"/>
                </a:solidFill>
                <a:latin typeface="Consolas"/>
              </a:rPr>
              <a:t>• test/init-scaffolding.test.ts:246-275  —  monorepo invariants (no nested .git, agent at root)</a:t>
            </a:r>
          </a:p>
          <a:p>
            <a:pPr>
              <a:spcAft>
                <a:spcPts val="200"/>
              </a:spcAft>
            </a:pPr>
            <a:r>
              <a:rPr sz="1100">
                <a:solidFill>
                  <a:srgbClr val="CBD5E1"/>
                </a:solidFill>
                <a:latin typeface="Consolas"/>
              </a:rPr>
              <a:t>• PR #1004, #1035, #1145, #1022, #939, #1005; issues #1036, #1037  —  the work behind this session</a:t>
            </a:r>
          </a:p>
          <a:p>
            <a:pPr>
              <a:spcAft>
                <a:spcPts val="200"/>
              </a:spcAft>
            </a:pPr>
            <a:r>
              <a:rPr sz="1100">
                <a:solidFill>
                  <a:srgbClr val="CBD5E1"/>
                </a:solidFill>
                <a:latin typeface="Consolas"/>
              </a:rPr>
              <a:t>• tamirdresher.com Part 7, 7b, 11, 12, 13  —  the blog series this deck draws from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0040"/>
            <a:ext cx="365760"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274320"/>
            <a:ext cx="548640" cy="365760"/>
          </a:xfrm>
          <a:prstGeom prst="rect">
            <a:avLst/>
          </a:prstGeom>
          <a:noFill/>
        </p:spPr>
        <p:txBody>
          <a:bodyPr wrap="square" lIns="36576" rIns="36576" tIns="18288" bIns="18288">
            <a:spAutoFit/>
          </a:bodyPr>
          <a:lstStyle/>
          <a:p>
            <a:pPr algn="r"/>
            <a:r>
              <a:rPr sz="1400" b="1">
                <a:solidFill>
                  <a:srgbClr val="94A3B8"/>
                </a:solidFill>
                <a:latin typeface="Consolas"/>
              </a:rPr>
              <a:t>64</a:t>
            </a:r>
          </a:p>
        </p:txBody>
      </p:sp>
      <p:sp>
        <p:nvSpPr>
          <p:cNvPr id="5" name="TextBox 4"/>
          <p:cNvSpPr txBox="1"/>
          <p:nvPr/>
        </p:nvSpPr>
        <p:spPr>
          <a:xfrm>
            <a:off x="1005840" y="274320"/>
            <a:ext cx="9722815" cy="365760"/>
          </a:xfrm>
          <a:prstGeom prst="rect">
            <a:avLst/>
          </a:prstGeom>
          <a:noFill/>
        </p:spPr>
        <p:txBody>
          <a:bodyPr wrap="square" lIns="36576" rIns="36576" tIns="18288" bIns="18288">
            <a:spAutoFit/>
          </a:bodyPr>
          <a:lstStyle/>
          <a:p>
            <a:r>
              <a:rPr sz="1200" b="1">
                <a:solidFill>
                  <a:srgbClr val="38BDF8"/>
                </a:solidFill>
                <a:latin typeface="Segoe UI Semibold"/>
              </a:rPr>
              <a:t>CLOSE</a:t>
            </a:r>
          </a:p>
        </p:txBody>
      </p:sp>
      <p:sp>
        <p:nvSpPr>
          <p:cNvPr id="6" name="TextBox 5"/>
          <p:cNvSpPr txBox="1"/>
          <p:nvPr/>
        </p:nvSpPr>
        <p:spPr>
          <a:xfrm>
            <a:off x="548640" y="658368"/>
            <a:ext cx="11094415" cy="868680"/>
          </a:xfrm>
          <a:prstGeom prst="rect">
            <a:avLst/>
          </a:prstGeom>
          <a:noFill/>
        </p:spPr>
        <p:txBody>
          <a:bodyPr wrap="square" lIns="36576" rIns="36576" tIns="18288" bIns="18288">
            <a:spAutoFit/>
          </a:bodyPr>
          <a:lstStyle/>
          <a:p>
            <a:r>
              <a:rPr sz="3000" b="1">
                <a:solidFill>
                  <a:srgbClr val="F8FAFC"/>
                </a:solidFill>
                <a:latin typeface="Segoe UI"/>
              </a:rPr>
              <a:t>The mental model to remember</a:t>
            </a:r>
          </a:p>
        </p:txBody>
      </p:sp>
      <p:sp>
        <p:nvSpPr>
          <p:cNvPr id="7" name="TextBox 6"/>
          <p:cNvSpPr txBox="1"/>
          <p:nvPr/>
        </p:nvSpPr>
        <p:spPr>
          <a:xfrm>
            <a:off x="548640" y="1508760"/>
            <a:ext cx="11094415" cy="502920"/>
          </a:xfrm>
          <a:prstGeom prst="rect">
            <a:avLst/>
          </a:prstGeom>
          <a:noFill/>
        </p:spPr>
        <p:txBody>
          <a:bodyPr wrap="square" lIns="36576" rIns="36576" tIns="18288" bIns="18288">
            <a:spAutoFit/>
          </a:bodyPr>
          <a:lstStyle/>
          <a:p>
            <a:r>
              <a:rPr sz="1500" b="0">
                <a:solidFill>
                  <a:srgbClr val="CBD5E1"/>
                </a:solidFill>
                <a:latin typeface="Segoe UI"/>
              </a:rPr>
              <a:t>Advanced Squad is operational architecture for AI teams — not 'more agents.'</a:t>
            </a:r>
          </a:p>
        </p:txBody>
      </p:sp>
      <p:sp>
        <p:nvSpPr>
          <p:cNvPr id="8" name="Rounded Rectangle 7"/>
          <p:cNvSpPr/>
          <p:nvPr/>
        </p:nvSpPr>
        <p:spPr>
          <a:xfrm>
            <a:off x="548640" y="1874519"/>
            <a:ext cx="2087209"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2087209" cy="73152"/>
          </a:xfrm>
          <a:prstGeom prst="rect">
            <a:avLst/>
          </a:prstGeom>
          <a:solidFill>
            <a:srgbClr val="38BDF8"/>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39112"/>
            <a:ext cx="502920" cy="411480"/>
          </a:xfrm>
          <a:prstGeom prst="rect">
            <a:avLst/>
          </a:prstGeom>
          <a:noFill/>
        </p:spPr>
        <p:txBody>
          <a:bodyPr wrap="square" lIns="36576" rIns="36576" tIns="18288" bIns="18288" anchor="ctr">
            <a:spAutoFit/>
          </a:bodyPr>
          <a:lstStyle/>
          <a:p>
            <a:r>
              <a:rPr sz="2200" b="1">
                <a:solidFill>
                  <a:srgbClr val="38BDF8"/>
                </a:solidFill>
                <a:latin typeface="Segoe UI"/>
              </a:rPr>
              <a:t>⚘</a:t>
            </a:r>
          </a:p>
        </p:txBody>
      </p:sp>
      <p:sp>
        <p:nvSpPr>
          <p:cNvPr id="11" name="TextBox 10"/>
          <p:cNvSpPr txBox="1"/>
          <p:nvPr/>
        </p:nvSpPr>
        <p:spPr>
          <a:xfrm>
            <a:off x="1234440"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Memory</a:t>
            </a:r>
          </a:p>
        </p:txBody>
      </p:sp>
      <p:sp>
        <p:nvSpPr>
          <p:cNvPr id="12" name="TextBox 11"/>
          <p:cNvSpPr txBox="1"/>
          <p:nvPr/>
        </p:nvSpPr>
        <p:spPr>
          <a:xfrm>
            <a:off x="713232" y="2560320"/>
            <a:ext cx="1812889" cy="2331720"/>
          </a:xfrm>
          <a:prstGeom prst="rect">
            <a:avLst/>
          </a:prstGeom>
          <a:noFill/>
        </p:spPr>
        <p:txBody>
          <a:bodyPr wrap="square" lIns="45720" rIns="45720">
            <a:spAutoFit/>
          </a:bodyPr>
          <a:lstStyle/>
          <a:p>
            <a:pPr>
              <a:spcAft>
                <a:spcPts val="300"/>
              </a:spcAft>
            </a:pPr>
            <a:r>
              <a:rPr sz="1200" b="1">
                <a:solidFill>
                  <a:srgbClr val="38BDF8"/>
                </a:solidFill>
                <a:latin typeface="Segoe UI"/>
              </a:rPr>
              <a:t>•  </a:t>
            </a:r>
            <a:r>
              <a:rPr sz="1200">
                <a:solidFill>
                  <a:srgbClr val="CBD5E1"/>
                </a:solidFill>
                <a:latin typeface="Segoe UI"/>
              </a:rPr>
              <a:t>Put facts in the right layer</a:t>
            </a:r>
          </a:p>
          <a:p>
            <a:pPr>
              <a:spcAft>
                <a:spcPts val="300"/>
              </a:spcAft>
            </a:pPr>
            <a:r>
              <a:rPr sz="1200" b="1">
                <a:solidFill>
                  <a:srgbClr val="38BDF8"/>
                </a:solidFill>
                <a:latin typeface="Segoe UI"/>
              </a:rPr>
              <a:t>•  </a:t>
            </a:r>
            <a:r>
              <a:rPr sz="1200">
                <a:solidFill>
                  <a:srgbClr val="CBD5E1"/>
                </a:solidFill>
                <a:latin typeface="Segoe UI"/>
              </a:rPr>
              <a:t>Class on write → guidance on read</a:t>
            </a:r>
          </a:p>
        </p:txBody>
      </p:sp>
      <p:sp>
        <p:nvSpPr>
          <p:cNvPr id="13" name="Rounded Rectangle 12"/>
          <p:cNvSpPr/>
          <p:nvPr/>
        </p:nvSpPr>
        <p:spPr>
          <a:xfrm>
            <a:off x="2800441" y="1874519"/>
            <a:ext cx="2087209"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0441" y="1874519"/>
            <a:ext cx="208720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65033"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16" name="TextBox 15"/>
          <p:cNvSpPr txBox="1"/>
          <p:nvPr/>
        </p:nvSpPr>
        <p:spPr>
          <a:xfrm>
            <a:off x="3486241"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State</a:t>
            </a:r>
          </a:p>
        </p:txBody>
      </p:sp>
      <p:sp>
        <p:nvSpPr>
          <p:cNvPr id="17" name="TextBox 16"/>
          <p:cNvSpPr txBox="1"/>
          <p:nvPr/>
        </p:nvSpPr>
        <p:spPr>
          <a:xfrm>
            <a:off x="2965033" y="2560320"/>
            <a:ext cx="1812889" cy="233172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Two-layer keeps PRs clean</a:t>
            </a:r>
          </a:p>
          <a:p>
            <a:pPr>
              <a:spcAft>
                <a:spcPts val="300"/>
              </a:spcAft>
            </a:pPr>
            <a:r>
              <a:rPr sz="1200" b="1">
                <a:solidFill>
                  <a:srgbClr val="A78BFA"/>
                </a:solidFill>
                <a:latin typeface="Segoe UI"/>
              </a:rPr>
              <a:t>•  </a:t>
            </a:r>
            <a:r>
              <a:rPr sz="1200">
                <a:solidFill>
                  <a:srgbClr val="CBD5E1"/>
                </a:solidFill>
                <a:latin typeface="Segoe UI"/>
              </a:rPr>
              <a:t>Orphan branch + notes do the heavy lifting</a:t>
            </a:r>
          </a:p>
        </p:txBody>
      </p:sp>
      <p:sp>
        <p:nvSpPr>
          <p:cNvPr id="18" name="Rounded Rectangle 17"/>
          <p:cNvSpPr/>
          <p:nvPr/>
        </p:nvSpPr>
        <p:spPr>
          <a:xfrm>
            <a:off x="5052242" y="1874519"/>
            <a:ext cx="2087209"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52242" y="1874519"/>
            <a:ext cx="2087209" cy="73152"/>
          </a:xfrm>
          <a:prstGeom prst="rect">
            <a:avLst/>
          </a:prstGeom>
          <a:solidFill>
            <a:srgbClr val="FBBF24"/>
          </a:solidFill>
          <a:ln w="95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6834" y="2039112"/>
            <a:ext cx="502920" cy="411480"/>
          </a:xfrm>
          <a:prstGeom prst="rect">
            <a:avLst/>
          </a:prstGeom>
          <a:noFill/>
        </p:spPr>
        <p:txBody>
          <a:bodyPr wrap="square" lIns="36576" rIns="36576" tIns="18288" bIns="18288" anchor="ctr">
            <a:spAutoFit/>
          </a:bodyPr>
          <a:lstStyle/>
          <a:p>
            <a:r>
              <a:rPr sz="2200" b="1">
                <a:solidFill>
                  <a:srgbClr val="FBBF24"/>
                </a:solidFill>
                <a:latin typeface="Segoe UI"/>
              </a:rPr>
              <a:t>⚑</a:t>
            </a:r>
          </a:p>
        </p:txBody>
      </p:sp>
      <p:sp>
        <p:nvSpPr>
          <p:cNvPr id="21" name="TextBox 20"/>
          <p:cNvSpPr txBox="1"/>
          <p:nvPr/>
        </p:nvSpPr>
        <p:spPr>
          <a:xfrm>
            <a:off x="5738042"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Spawning</a:t>
            </a:r>
          </a:p>
        </p:txBody>
      </p:sp>
      <p:sp>
        <p:nvSpPr>
          <p:cNvPr id="22" name="TextBox 21"/>
          <p:cNvSpPr txBox="1"/>
          <p:nvPr/>
        </p:nvSpPr>
        <p:spPr>
          <a:xfrm>
            <a:off x="5216834" y="2560320"/>
            <a:ext cx="1812889" cy="2331720"/>
          </a:xfrm>
          <a:prstGeom prst="rect">
            <a:avLst/>
          </a:prstGeom>
          <a:noFill/>
        </p:spPr>
        <p:txBody>
          <a:bodyPr wrap="square" lIns="45720" rIns="45720">
            <a:spAutoFit/>
          </a:bodyPr>
          <a:lstStyle/>
          <a:p>
            <a:pPr>
              <a:spcAft>
                <a:spcPts val="300"/>
              </a:spcAft>
            </a:pPr>
            <a:r>
              <a:rPr sz="1200" b="1">
                <a:solidFill>
                  <a:srgbClr val="FBBF24"/>
                </a:solidFill>
                <a:latin typeface="Segoe UI"/>
              </a:rPr>
              <a:t>•  </a:t>
            </a:r>
            <a:r>
              <a:rPr sz="1200">
                <a:solidFill>
                  <a:srgbClr val="CBD5E1"/>
                </a:solidFill>
                <a:latin typeface="Segoe UI"/>
              </a:rPr>
              <a:t>Give missions their own workspace</a:t>
            </a:r>
          </a:p>
          <a:p>
            <a:pPr>
              <a:spcAft>
                <a:spcPts val="300"/>
              </a:spcAft>
            </a:pPr>
            <a:r>
              <a:rPr sz="1200" b="1">
                <a:solidFill>
                  <a:srgbClr val="FBBF24"/>
                </a:solidFill>
                <a:latin typeface="Segoe UI"/>
              </a:rPr>
              <a:t>•  </a:t>
            </a:r>
            <a:r>
              <a:rPr sz="1200">
                <a:solidFill>
                  <a:srgbClr val="CBD5E1"/>
                </a:solidFill>
                <a:latin typeface="Segoe UI"/>
              </a:rPr>
              <a:t>Worktrees + mission briefs</a:t>
            </a:r>
          </a:p>
        </p:txBody>
      </p:sp>
      <p:sp>
        <p:nvSpPr>
          <p:cNvPr id="23" name="Rounded Rectangle 22"/>
          <p:cNvSpPr/>
          <p:nvPr/>
        </p:nvSpPr>
        <p:spPr>
          <a:xfrm>
            <a:off x="7304044" y="1874519"/>
            <a:ext cx="2087209"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04044" y="1874519"/>
            <a:ext cx="2087209" cy="73152"/>
          </a:xfrm>
          <a:prstGeom prst="rect">
            <a:avLst/>
          </a:prstGeom>
          <a:solidFill>
            <a:srgbClr val="34D399"/>
          </a:solidFill>
          <a:ln w="952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68636" y="2039112"/>
            <a:ext cx="502920" cy="411480"/>
          </a:xfrm>
          <a:prstGeom prst="rect">
            <a:avLst/>
          </a:prstGeom>
          <a:noFill/>
        </p:spPr>
        <p:txBody>
          <a:bodyPr wrap="square" lIns="36576" rIns="36576" tIns="18288" bIns="18288" anchor="ctr">
            <a:spAutoFit/>
          </a:bodyPr>
          <a:lstStyle/>
          <a:p>
            <a:r>
              <a:rPr sz="2200" b="1">
                <a:solidFill>
                  <a:srgbClr val="34D399"/>
                </a:solidFill>
                <a:latin typeface="Segoe UI"/>
              </a:rPr>
              <a:t>⇄</a:t>
            </a:r>
          </a:p>
        </p:txBody>
      </p:sp>
      <p:sp>
        <p:nvSpPr>
          <p:cNvPr id="26" name="TextBox 25"/>
          <p:cNvSpPr txBox="1"/>
          <p:nvPr/>
        </p:nvSpPr>
        <p:spPr>
          <a:xfrm>
            <a:off x="7989844"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Cross-squad</a:t>
            </a:r>
          </a:p>
        </p:txBody>
      </p:sp>
      <p:sp>
        <p:nvSpPr>
          <p:cNvPr id="27" name="TextBox 26"/>
          <p:cNvSpPr txBox="1"/>
          <p:nvPr/>
        </p:nvSpPr>
        <p:spPr>
          <a:xfrm>
            <a:off x="7468636" y="2560320"/>
            <a:ext cx="1812889" cy="2331720"/>
          </a:xfrm>
          <a:prstGeom prst="rect">
            <a:avLst/>
          </a:prstGeom>
          <a:noFill/>
        </p:spPr>
        <p:txBody>
          <a:bodyPr wrap="square" lIns="45720" rIns="45720">
            <a:spAutoFit/>
          </a:bodyPr>
          <a:lstStyle/>
          <a:p>
            <a:pPr>
              <a:spcAft>
                <a:spcPts val="300"/>
              </a:spcAft>
            </a:pPr>
            <a:r>
              <a:rPr sz="1200" b="1">
                <a:solidFill>
                  <a:srgbClr val="34D399"/>
                </a:solidFill>
                <a:latin typeface="Segoe UI"/>
              </a:rPr>
              <a:t>•  </a:t>
            </a:r>
            <a:r>
              <a:rPr sz="1200">
                <a:solidFill>
                  <a:srgbClr val="CBD5E1"/>
                </a:solidFill>
                <a:latin typeface="Segoe UI"/>
              </a:rPr>
              <a:t>Use public contracts, not internals</a:t>
            </a:r>
          </a:p>
          <a:p>
            <a:pPr>
              <a:spcAft>
                <a:spcPts val="300"/>
              </a:spcAft>
            </a:pPr>
            <a:r>
              <a:rPr sz="1200" b="1">
                <a:solidFill>
                  <a:srgbClr val="34D399"/>
                </a:solidFill>
                <a:latin typeface="Segoe UI"/>
              </a:rPr>
              <a:t>•  </a:t>
            </a:r>
            <a:r>
              <a:rPr sz="1200">
                <a:solidFill>
                  <a:srgbClr val="CBD5E1"/>
                </a:solidFill>
                <a:latin typeface="Segoe UI"/>
              </a:rPr>
              <a:t>Manifest + issue handoff</a:t>
            </a:r>
          </a:p>
        </p:txBody>
      </p:sp>
      <p:sp>
        <p:nvSpPr>
          <p:cNvPr id="28" name="Rounded Rectangle 27"/>
          <p:cNvSpPr/>
          <p:nvPr/>
        </p:nvSpPr>
        <p:spPr>
          <a:xfrm>
            <a:off x="9555845" y="1874519"/>
            <a:ext cx="2087209" cy="3108960"/>
          </a:xfrm>
          <a:prstGeom prst="roundRect">
            <a:avLst/>
          </a:prstGeom>
          <a:solidFill>
            <a:srgbClr val="0F23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55845" y="1874519"/>
            <a:ext cx="2087209" cy="73152"/>
          </a:xfrm>
          <a:prstGeom prst="rect">
            <a:avLst/>
          </a:prstGeom>
          <a:solidFill>
            <a:srgbClr val="A78BFA"/>
          </a:solidFill>
          <a:ln w="95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0437" y="2039112"/>
            <a:ext cx="502920" cy="411480"/>
          </a:xfrm>
          <a:prstGeom prst="rect">
            <a:avLst/>
          </a:prstGeom>
          <a:noFill/>
        </p:spPr>
        <p:txBody>
          <a:bodyPr wrap="square" lIns="36576" rIns="36576" tIns="18288" bIns="18288" anchor="ctr">
            <a:spAutoFit/>
          </a:bodyPr>
          <a:lstStyle/>
          <a:p>
            <a:r>
              <a:rPr sz="2200" b="1">
                <a:solidFill>
                  <a:srgbClr val="A78BFA"/>
                </a:solidFill>
                <a:latin typeface="Segoe UI"/>
              </a:rPr>
              <a:t>⧉</a:t>
            </a:r>
          </a:p>
        </p:txBody>
      </p:sp>
      <p:sp>
        <p:nvSpPr>
          <p:cNvPr id="31" name="TextBox 30"/>
          <p:cNvSpPr txBox="1"/>
          <p:nvPr/>
        </p:nvSpPr>
        <p:spPr>
          <a:xfrm>
            <a:off x="10241645" y="2039112"/>
            <a:ext cx="1309969" cy="411480"/>
          </a:xfrm>
          <a:prstGeom prst="rect">
            <a:avLst/>
          </a:prstGeom>
          <a:noFill/>
        </p:spPr>
        <p:txBody>
          <a:bodyPr wrap="square" lIns="36576" rIns="36576" tIns="18288" bIns="18288" anchor="ctr">
            <a:spAutoFit/>
          </a:bodyPr>
          <a:lstStyle/>
          <a:p>
            <a:r>
              <a:rPr sz="1400" b="1">
                <a:solidFill>
                  <a:srgbClr val="F8FAFC"/>
                </a:solidFill>
                <a:latin typeface="Segoe UI"/>
              </a:rPr>
              <a:t>Monorepo</a:t>
            </a:r>
          </a:p>
        </p:txBody>
      </p:sp>
      <p:sp>
        <p:nvSpPr>
          <p:cNvPr id="32" name="TextBox 31"/>
          <p:cNvSpPr txBox="1"/>
          <p:nvPr/>
        </p:nvSpPr>
        <p:spPr>
          <a:xfrm>
            <a:off x="9720437" y="2560320"/>
            <a:ext cx="1812889" cy="2331720"/>
          </a:xfrm>
          <a:prstGeom prst="rect">
            <a:avLst/>
          </a:prstGeom>
          <a:noFill/>
        </p:spPr>
        <p:txBody>
          <a:bodyPr wrap="square" lIns="45720" rIns="45720">
            <a:spAutoFit/>
          </a:bodyPr>
          <a:lstStyle/>
          <a:p>
            <a:pPr>
              <a:spcAft>
                <a:spcPts val="300"/>
              </a:spcAft>
            </a:pPr>
            <a:r>
              <a:rPr sz="1200" b="1">
                <a:solidFill>
                  <a:srgbClr val="A78BFA"/>
                </a:solidFill>
                <a:latin typeface="Segoe UI"/>
              </a:rPr>
              <a:t>•  </a:t>
            </a:r>
            <a:r>
              <a:rPr sz="1200">
                <a:solidFill>
                  <a:srgbClr val="CBD5E1"/>
                </a:solidFill>
                <a:latin typeface="Segoe UI"/>
              </a:rPr>
              <a:t>agentFileRoot vs teamRoot</a:t>
            </a:r>
          </a:p>
          <a:p>
            <a:pPr>
              <a:spcAft>
                <a:spcPts val="300"/>
              </a:spcAft>
            </a:pPr>
            <a:r>
              <a:rPr sz="1200" b="1">
                <a:solidFill>
                  <a:srgbClr val="A78BFA"/>
                </a:solidFill>
                <a:latin typeface="Segoe UI"/>
              </a:rPr>
              <a:t>•  </a:t>
            </a:r>
            <a:r>
              <a:rPr sz="1200">
                <a:solidFill>
                  <a:srgbClr val="CBD5E1"/>
                </a:solidFill>
                <a:latin typeface="Segoe UI"/>
              </a:rPr>
              <a:t>One agent file, many squads</a:t>
            </a:r>
          </a:p>
        </p:txBody>
      </p:sp>
      <p:sp>
        <p:nvSpPr>
          <p:cNvPr id="33" name="TextBox 32"/>
          <p:cNvSpPr txBox="1"/>
          <p:nvPr/>
        </p:nvSpPr>
        <p:spPr>
          <a:xfrm>
            <a:off x="548640" y="5257800"/>
            <a:ext cx="11094415" cy="548640"/>
          </a:xfrm>
          <a:prstGeom prst="rect">
            <a:avLst/>
          </a:prstGeom>
          <a:noFill/>
        </p:spPr>
        <p:txBody>
          <a:bodyPr wrap="square" lIns="36576" rIns="36576" tIns="18288" bIns="18288">
            <a:spAutoFit/>
          </a:bodyPr>
          <a:lstStyle/>
          <a:p>
            <a:pPr algn="ctr"/>
            <a:r>
              <a:rPr sz="2600" b="1">
                <a:solidFill>
                  <a:srgbClr val="F8FAFC"/>
                </a:solidFill>
                <a:latin typeface="Segoe UI"/>
              </a:rPr>
              <a:t>Thank you — questions?</a:t>
            </a:r>
          </a:p>
        </p:txBody>
      </p:sp>
      <p:sp>
        <p:nvSpPr>
          <p:cNvPr id="34" name="TextBox 33"/>
          <p:cNvSpPr txBox="1"/>
          <p:nvPr/>
        </p:nvSpPr>
        <p:spPr>
          <a:xfrm>
            <a:off x="548640" y="5760720"/>
            <a:ext cx="11094415" cy="457200"/>
          </a:xfrm>
          <a:prstGeom prst="rect">
            <a:avLst/>
          </a:prstGeom>
          <a:noFill/>
        </p:spPr>
        <p:txBody>
          <a:bodyPr wrap="square" lIns="36576" rIns="36576" tIns="18288" bIns="18288">
            <a:spAutoFit/>
          </a:bodyPr>
          <a:lstStyle/>
          <a:p>
            <a:pPr algn="ctr"/>
            <a:r>
              <a:rPr sz="1500" b="0">
                <a:solidFill>
                  <a:srgbClr val="38BDF8"/>
                </a:solidFill>
                <a:latin typeface="Segoe UI"/>
              </a:rPr>
              <a:t>github.com/bradygaster/squad  •  tamirdresher.com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